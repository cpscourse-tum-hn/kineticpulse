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  <Relationship Id="rId2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
          </a:p>
        </p:txBody>
      </p:sp>
    </p:spTree>
  </p:cSld>
  <p:clrMap bg1="lt1" tx1="dk1" bg2="lt2" tx2="dk2" accent1="accent1" accent2="accent2" accent3="accent3" accent4="accent4" accent5="accent5" accent6="accent6" hlink="hlink" folHlink="folHlink"/>
  <p:hf/>
  <p:notesStyle>
    <a:lvl1pPr marL="0" algn="l">
      <a:defRPr sz="1200" lang="e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Presenter: Youngwon Cho · Target: 40–45 seconds</a:t>
            </a:r>
          </a:p>
          <a:p>
            <a:pPr/>
            <a:endParaRPr lang="en" dirty="0"/>
          </a:p>
          <a:p>
            <a:pPr/>
            <a:r>
              <a:rPr lang="en" dirty="0"/>
              <a:t>Good morning everyone. We are Team KineticPulse, and this is our final project for Embedded Systems, Cyber-Physical Systems and Robotics.</a:t>
            </a:r>
          </a:p>
          <a:p>
            <a:pPr/>
            <a:endParaRPr lang="en" dirty="0"/>
          </a:p>
          <a:p>
            <a:pPr/>
            <a:r>
              <a:rPr lang="en" dirty="0"/>
              <a:t>KineticPulse is a multimodal edge-AI prototype for fall detection and caregiver escalation. In one sentence: it watches, listens to the body, and connects a fall to the right caregiver response.</a:t>
            </a:r>
          </a:p>
          <a:p>
            <a:pPr/>
            <a:endParaRPr lang="en" dirty="0"/>
          </a:p>
          <a:p>
            <a:pPr/>
            <a:r>
              <a:rPr lang="en" dirty="0"/>
              <a:t>The whole talk follows one path — the wearable senses, the Jetson edge AI understands, and the caregiver responds. Let me start with why we built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Presenter: Youngwon Cho · Target: 50–55 seconds</a:t>
            </a:r>
          </a:p>
          <a:p>
            <a:pPr/>
            <a:endParaRPr lang="en" dirty="0"/>
          </a:p>
          <a:p>
            <a:pPr/>
            <a:r>
              <a:rPr lang="en" dirty="0"/>
              <a:t>Our starting point: a fall is not only a detection problem. The system must understand the situation and help someone respond.</a:t>
            </a:r>
          </a:p>
          <a:p>
            <a:pPr/>
            <a:endParaRPr lang="en" dirty="0"/>
          </a:p>
          <a:p>
            <a:pPr/>
            <a:r>
              <a:rPr lang="en" dirty="0"/>
              <a:t>A camera sees posture and movement and gives scene context — but it depends on viewpoint and visibility. A wearable moves with the user and gives motion and physiological events — evidence outside the camera image.</a:t>
            </a:r>
          </a:p>
          <a:p>
            <a:pPr/>
            <a:endParaRPr lang="en" dirty="0"/>
          </a:p>
          <a:p>
            <a:pPr/>
            <a:r>
              <a:rPr lang="en" dirty="0"/>
              <a:t>Each one alone is too easy to fool. Combined at the edge, they compare complementary signals, support an explainable decision, and connect detection to caregiver response.</a:t>
            </a:r>
          </a:p>
          <a:p>
            <a:pPr/>
            <a:endParaRPr lang="en" dirty="0"/>
          </a:p>
          <a:p>
            <a:pPr/>
            <a:r>
              <a:rPr lang="en" dirty="0"/>
              <a:t>That is the core idea: combine what the camera sees with what the wearable senses.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Presenter: Chang-Ting Zhong · Target: 55–60 seconds</a:t>
            </a:r>
          </a:p>
          <a:p>
            <a:pPr/>
            <a:endParaRPr lang="en" dirty="0"/>
          </a:p>
          <a:p>
            <a:pPr/>
            <a:r>
              <a:rPr lang="en" dirty="0"/>
              <a:t>The system follows one connected path from physical signals to caregiver action. Four stages.</a:t>
            </a:r>
          </a:p>
          <a:p>
            <a:pPr/>
            <a:endParaRPr lang="en" dirty="0"/>
          </a:p>
          <a:p>
            <a:pPr/>
            <a:r>
              <a:rPr lang="en" dirty="0"/>
              <a:t>Stage one, Sense: the camera plus the wristband capture raw signals. Stage two, Understand: detection, pose estimation, temporal analysis, and fusion run on the edge. Stage three, Verify: for ambiguous events the system asks "Are you okay?" by voice. Stage four, Respond: an incident session opens with dashboard, live video, and notification.</a:t>
            </a:r>
          </a:p>
          <a:p>
            <a:pPr/>
            <a:endParaRPr lang="en" dirty="0"/>
          </a:p>
          <a:p>
            <a:pPr/>
            <a:r>
              <a:rPr lang="en" dirty="0"/>
              <a:t>Keep these four words in mind — Sense, Understand, Verify, Respond. Every slide that follows sits on one of these stages.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Presenter: Chang-Ting Zhong · Target: 70–75 seconds</a:t>
            </a:r>
          </a:p>
          <a:p>
            <a:pPr/>
            <a:endParaRPr lang="en" dirty="0"/>
          </a:p>
          <a:p>
            <a:pPr/>
            <a:r>
              <a:rPr lang="en" dirty="0"/>
              <a:t>Here is the full topology. Every path runs through the Jetson — one connected, inspectable edge system.</a:t>
            </a:r>
          </a:p>
          <a:p>
            <a:pPr/>
            <a:endParaRPr lang="en" dirty="0"/>
          </a:p>
          <a:p>
            <a:pPr/>
            <a:r>
              <a:rPr lang="en" dirty="0"/>
              <a:t>On the input side, the ESP32-S3 wearable sends newline-delimited JSON over TCP port 5555 to the sensor receiver. The camera feeds YOLO detection, pose, and TSSTG into the fusion engine. Fusion outputs Tier 0, 1, or 2 — monitor, verify, or escalate.</a:t>
            </a:r>
          </a:p>
          <a:p>
            <a:pPr/>
            <a:endParaRPr lang="en" dirty="0"/>
          </a:p>
          <a:p>
            <a:pPr/>
            <a:r>
              <a:rPr lang="en" dirty="0"/>
              <a:t>On the output side, four paths leave the Jetson: monitoring JSON on port 8790 for the dashboard, signaling on port 8787 for caregiver clients, WebRTC video to the caregiver, and an HTTP webhook to the notification service. All of this runs inside a Tailscale laboratory network.</a:t>
            </a:r>
          </a:p>
          <a:p>
            <a:pPr/>
            <a:endParaRPr lang="en" dirty="0"/>
          </a:p>
          <a:p>
            <a:pPr/>
            <a:r>
              <a:rPr lang="en" dirty="0"/>
              <a:t>One clarification: signaling carries connection data; WebRTC carries the video.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Presenter: Hao-Yuan Weng · Target: 60–65 seconds</a:t>
            </a:r>
          </a:p>
          <a:p>
            <a:pPr/>
            <a:endParaRPr lang="en" dirty="0"/>
          </a:p>
          <a:p>
            <a:pPr/>
            <a:r>
              <a:rPr lang="en" dirty="0"/>
              <a:t>This is not a simulation — the prototype is real hardware and a real dashboard.</a:t>
            </a:r>
          </a:p>
          <a:p>
            <a:pPr/>
            <a:endParaRPr lang="en" dirty="0"/>
          </a:p>
          <a:p>
            <a:pPr/>
            <a:r>
              <a:rPr lang="en" dirty="0"/>
              <a:t>Top left, the assembled wearable enclosure with its belt clip. Next to it, the same enclosure opened, showing the prototype board inside. Bottom left, the core components on the breadboard: the XIAO ESP32-S3, the MPU-6050 IMU, the MAX30102 sensor, and a 3.7-volt 240 milliamp-hour LiPo battery. Bottom right, the Jetson Orin Nano in its 3D-printed case with active cooling.</a:t>
            </a:r>
          </a:p>
          <a:p>
            <a:pPr/>
            <a:endParaRPr lang="en" dirty="0"/>
          </a:p>
          <a:p>
            <a:pPr/>
            <a:r>
              <a:rPr lang="en" dirty="0"/>
              <a:t>On the right you see the real web monitoring dashboard, captured during development. Everything we describe next is running on exactly these parts.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Presenter: Hao-Yuan Weng · Target: 60–65 seconds</a:t>
            </a:r>
          </a:p>
          <a:p>
            <a:pPr/>
            <a:endParaRPr lang="en" dirty="0"/>
          </a:p>
          <a:p>
            <a:pPr/>
            <a:r>
              <a:rPr lang="en" dirty="0"/>
              <a:t>How does the wearable talk to the Jetson? With a simple typed contract — one event per line.</a:t>
            </a:r>
          </a:p>
          <a:p>
            <a:pPr/>
            <a:endParaRPr lang="en" dirty="0"/>
          </a:p>
          <a:p>
            <a:pPr/>
            <a:r>
              <a:rPr lang="en" dirty="0"/>
              <a:t>The Jetson listens on TCP port 5555, the ESP32 connects as the client, and Wi-Fi carries newline-delimited JSON. Five event types: hello announces device and capabilities; hr carries a heart-rate value; accel carries three-axis motion in g; ppg carries infrared and red sample arrays; and pulse_lost signals loss of contact.</a:t>
            </a:r>
          </a:p>
          <a:p>
            <a:pPr/>
            <a:endParaRPr lang="en" dirty="0"/>
          </a:p>
          <a:p>
            <a:pPr/>
            <a:r>
              <a:rPr lang="en" dirty="0"/>
              <a:t>You can see the format in the example — type, values, timestamp. A simple typed contract keeps the wearable and the Jetson independently testable.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Presenter: Yule Xu · Target: 85–90 seconds</a:t>
            </a:r>
          </a:p>
          <a:p>
            <a:pPr/>
            <a:endParaRPr lang="en" dirty="0"/>
          </a:p>
          <a:p>
            <a:pPr/>
            <a:r>
              <a:rPr lang="en" dirty="0"/>
              <a:t>Now the visual pipeline. A camera frame goes through four steps: YOLOv8 posture detection, seventeen pose keypoints, and TSSTG temporal classification.</a:t>
            </a:r>
          </a:p>
          <a:p>
            <a:pPr/>
            <a:endParaRPr lang="en" dirty="0"/>
          </a:p>
          <a:p>
            <a:pPr/>
            <a:r>
              <a:rPr lang="en" dirty="0"/>
              <a:t>We detect four posture classes: fallen, falling, stand, and sitting.</a:t>
            </a:r>
          </a:p>
          <a:p>
            <a:pPr/>
            <a:endParaRPr lang="en" dirty="0"/>
          </a:p>
          <a:p>
            <a:pPr/>
            <a:r>
              <a:rPr lang="en" dirty="0"/>
              <a:t>Why does temporal analysis matter? A single frame describes posture — a sequence describes movement. Smoothing reduces unstable label changes, and only the final action state goes to fusion.</a:t>
            </a:r>
          </a:p>
          <a:p>
            <a:pPr/>
            <a:endParaRPr lang="en" dirty="0"/>
          </a:p>
          <a:p>
            <a:pPr/>
            <a:r>
              <a:rPr lang="en" dirty="0"/>
              <a:t>Two validation numbers to remember: mAP50 is 0.885, and mAP50–95 is 0.556. The first says the detector finds postures reliably; the second is the stricter localization metric. A sequence, not a frame, is what makes these labels stable enough to act 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Presenter: Ren-Yi Huang · Target: 85–90 seconds</a:t>
            </a:r>
          </a:p>
          <a:p>
            <a:pPr/>
            <a:endParaRPr lang="en" dirty="0"/>
          </a:p>
          <a:p>
            <a:pPr/>
            <a:r>
              <a:rPr lang="en" dirty="0"/>
              <a:t>Fusion is where everything comes together — and the rules are explicit, so every escalation can be traced back to its evidence.</a:t>
            </a:r>
          </a:p>
          <a:p>
            <a:pPr/>
            <a:endParaRPr lang="en" dirty="0"/>
          </a:p>
          <a:p>
            <a:pPr/>
            <a:r>
              <a:rPr lang="en" dirty="0"/>
              <a:t>The input layer takes four things: vision evidence, motion evidence, heart-rate evidence, and sensor freshness. The decision layer is rule-based multimodal fusion — no black box.</a:t>
            </a:r>
          </a:p>
          <a:p>
            <a:pPr/>
            <a:endParaRPr lang="en" dirty="0"/>
          </a:p>
          <a:p>
            <a:pPr/>
            <a:r>
              <a:rPr lang="en" dirty="0"/>
              <a:t>Three possible actions. Tier 0, Monitor: keep observing. Tier 1, Verify: the system asks "Are you okay?" — a safe response returns to monitoring, but help, silence, an unclear answer, or continued hazard creates the incident. Tier 2, Escalate: create the incident immediately, no question asked.</a:t>
            </a:r>
          </a:p>
          <a:p>
            <a:pPr/>
            <a:endParaRPr lang="en" dirty="0"/>
          </a:p>
          <a:p>
            <a:pPr/>
            <a:r>
              <a:rPr lang="en" dirty="0"/>
              <a:t>That is the whole decision logic — transparent on purpose.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Presenter: Yuanhao Chen · Target: 80–85 seconds</a:t>
            </a:r>
          </a:p>
          <a:p>
            <a:pPr/>
            <a:endParaRPr lang="en" dirty="0"/>
          </a:p>
          <a:p>
            <a:pPr/>
            <a:r>
              <a:rPr lang="en" dirty="0"/>
              <a:t>What actually happens when fusion confirms an incident? Eight steps.</a:t>
            </a:r>
          </a:p>
          <a:p>
            <a:pPr/>
            <a:endParaRPr lang="en" dirty="0"/>
          </a:p>
          <a:p>
            <a:pPr/>
            <a:r>
              <a:rPr lang="en" dirty="0"/>
              <a:t>First, the Jetson generates a session ID. Then two things start in parallel: the webhook dispatch and the WebRTC startup. The signaling server registers the session, and the caregiver dashboard or mobile app discovers it. The caregiver joins, offer, answer, and ICE information are exchanged, and live video begins.</a:t>
            </a:r>
          </a:p>
          <a:p>
            <a:pPr/>
            <a:endParaRPr lang="en" dirty="0"/>
          </a:p>
          <a:p>
            <a:pPr/>
            <a:r>
              <a:rPr lang="en" dirty="0"/>
              <a:t>Three supporting facts: the signaling server runs on port 8787, the monitoring endpoint on port 8790, and WebRTC carries video separately from signaling. Web and mobile caregivers use the same incident-session concept.</a:t>
            </a:r>
          </a:p>
          <a:p>
            <a:pPr/>
            <a:endParaRPr lang="en" dirty="0"/>
          </a:p>
          <a:p>
            <a:pPr/>
            <a:r>
              <a:rPr lang="en" dirty="0"/>
              <a:t>The key point: an alert is not just a message — it opens a live incident session.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Presenter: Yiyuan Chen · Target: 80–85 seconds</a:t>
            </a:r>
          </a:p>
          <a:p>
            <a:pPr/>
            <a:endParaRPr lang="en" dirty="0"/>
          </a:p>
          <a:p>
            <a:pPr/>
            <a:r>
              <a:rPr lang="en" dirty="0"/>
              <a:t>The caregiver side is one dashboard built around decisions. One normalized MonitoringModel supports five areas: Overview, Vitals, Detection, Events, and Live Sessions — the real UI you saw on Slide 5.</a:t>
            </a:r>
          </a:p>
          <a:p>
            <a:pPr/>
            <a:endParaRPr lang="en" dirty="0"/>
          </a:p>
          <a:p>
            <a:pPr/>
            <a:r>
              <a:rPr lang="en" dirty="0"/>
              <a:t>What does the caregiver see? Edge and wearable connection status, heart rate and fall confidence, vision and wearable inputs, the current fusion decision, voice and alert status, and recent operational events.</a:t>
            </a:r>
          </a:p>
          <a:p>
            <a:pPr/>
            <a:endParaRPr lang="en" dirty="0"/>
          </a:p>
          <a:p>
            <a:pPr/>
            <a:r>
              <a:rPr lang="en" dirty="0"/>
              <a:t>Under the hood: GET monitoring on port 8790, browser refresh about every three seconds, SQLite event history through EventStore, and monitoring stays separate from WebRTC signaling.</a:t>
            </a:r>
          </a:p>
          <a:p>
            <a:pPr/>
            <a:endParaRPr lang="en" dirty="0"/>
          </a:p>
          <a:p>
            <a:pPr/>
            <a:r>
              <a:rPr lang="en" dirty="0"/>
              <a:t>The interface turns sensor outputs into a clear response workflow.</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Presenter: Yiyuan Chen · Target: 50–55 seconds</a:t>
            </a:r>
          </a:p>
          <a:p>
            <a:pPr/>
            <a:endParaRPr lang="en" dirty="0"/>
          </a:p>
          <a:p>
            <a:pPr/>
            <a:r>
              <a:rPr lang="en" dirty="0"/>
              <a:t>Now let's watch the system work end to end. [Demo video placeholder — insert KineticPulse_Demo.mp4 here before presenting.]</a:t>
            </a:r>
          </a:p>
          <a:p>
            <a:pPr/>
            <a:endParaRPr lang="en" dirty="0"/>
          </a:p>
          <a:p>
            <a:pPr/>
            <a:r>
              <a:rPr lang="en" dirty="0"/>
              <a:t>While it plays, five things to watch: the wearable and edge connection coming up, the live monitoring values, the fall interpretation, the fusion tier decision, and finally the caregiver incident with live video.</a:t>
            </a:r>
          </a:p>
          <a:p>
            <a:pPr/>
            <a:endParaRPr lang="en" dirty="0"/>
          </a:p>
          <a:p>
            <a:pPr/>
            <a:r>
              <a:rPr lang="en" dirty="0"/>
              <a:t>One incident, the full path — from wearable connection to caregiver live video.</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Presenter: Yong Zhe Sam · Target: 75–80 seconds</a:t>
            </a:r>
          </a:p>
          <a:p>
            <a:pPr/>
            <a:endParaRPr lang="en" dirty="0"/>
          </a:p>
          <a:p>
            <a:pPr/>
            <a:r>
              <a:rPr lang="en" dirty="0"/>
              <a:t>Before closing, the evidence. Every link in the chain has verifiable proof.</a:t>
            </a:r>
          </a:p>
          <a:p>
            <a:pPr/>
            <a:endParaRPr lang="en" dirty="0"/>
          </a:p>
          <a:p>
            <a:pPr/>
            <a:r>
              <a:rPr lang="en" dirty="0"/>
              <a:t>Perception: a four-class posture detector with pose and temporal processing, validated at mAP50 0.885 and mAP50–95 0.556. Wearable communication: the typed NDJSON contract with TCP framing and reconnection handling, covering motion, heart-rate, PPG, and contact events. Decision logic: fusion scenarios and escalation tiers with temporal stabilization and sensor-availability-aware decisions. Caregiver path: the monitoring publisher and dashboard, incident sessions and signaling, and the WebRTC and webhook control flow.</a:t>
            </a:r>
          </a:p>
          <a:p>
            <a:pPr/>
            <a:endParaRPr lang="en" dirty="0"/>
          </a:p>
          <a:p>
            <a:pPr/>
            <a:r>
              <a:rPr lang="en" dirty="0"/>
              <a:t>The result is an integrated path from sensing to response — not a collection of isolated modules.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Presenter: Yong Zhe Sam · Target: 55–60 seconds</a:t>
            </a:r>
          </a:p>
          <a:p>
            <a:pPr/>
            <a:endParaRPr lang="en" dirty="0"/>
          </a:p>
          <a:p>
            <a:pPr/>
            <a:r>
              <a:rPr lang="en" dirty="0"/>
              <a:t>To sum up, KineticPulse connects five things: multimodal sensing, local edge intelligence, explainable escalation, spoken verification, and caregiver monitoring with live video.</a:t>
            </a:r>
          </a:p>
          <a:p>
            <a:pPr/>
            <a:endParaRPr lang="en" dirty="0"/>
          </a:p>
          <a:p>
            <a:pPr/>
            <a:r>
              <a:rPr lang="en" dirty="0"/>
              <a:t>Our concluding sentence: we built one connected workflow that turns camera and wearable signals into an understandable caregiver response.</a:t>
            </a:r>
          </a:p>
          <a:p>
            <a:pPr/>
            <a:endParaRPr lang="en" dirty="0"/>
          </a:p>
          <a:p>
            <a:pPr/>
            <a:r>
              <a:rPr lang="en" dirty="0"/>
              <a:t>Sense. Understand. Verify. Respond.</a:t>
            </a:r>
          </a:p>
          <a:p>
            <a:pPr/>
            <a:endParaRPr lang="en" dirty="0"/>
          </a:p>
          <a:p>
            <a:pPr/>
            <a:r>
              <a:rPr lang="en" dirty="0"/>
              <a:t>Thank you — we are happy to take questions.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kineticpulse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kineticpulse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7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221bd992dd9d9c6.jpg"/>
  <Relationship Id="rId3" Type="http://schemas.openxmlformats.org/officeDocument/2006/relationships/image" Target="../media/image_fb8ed9fbbf8fd5af.jpg"/>
  <Relationship Id="rId4" Type="http://schemas.openxmlformats.org/officeDocument/2006/relationships/image" Target="../media/image_a8d2ee98ff644c8e.jpg"/>
  <Relationship Id="rId5" Type="http://schemas.openxmlformats.org/officeDocument/2006/relationships/image" Target="../media/image_761b46ec8d4eaaf1.jpg"/>
  <Relationship Id="rId6" Type="http://schemas.openxmlformats.org/officeDocument/2006/relationships/image" Target="../media/image_b32beaf8dedf26f7.png"/>
  <Relationship Id="rId7"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609600" y="590074"/>
            <a:ext cx="2964195" cy="190690"/>
            <a:chOff x="609600" y="590074"/>
            <a:chExt cx="2964195" cy="190690"/>
          </a:xfrm>
        </p:grpSpPr>
        <p:sp>
          <p:nvSpPr>
            <p:cNvPr id="2" name="Rectangle 2"/>
            <p:cNvSpPr/>
            <p:nvPr/>
          </p:nvSpPr>
          <p:spPr>
            <a:xfrm>
              <a:off x="609600" y="590550"/>
              <a:ext cx="266700" cy="28575"/>
            </a:xfrm>
            <a:prstGeom prst="rect">
              <a:avLst/>
            </a:prstGeom>
            <a:solidFill>
              <a:schemeClr val="accent2"/>
            </a:solidFill>
            <a:ln>
              <a:noFill/>
            </a:ln>
          </p:spPr>
        </p:sp>
        <p:sp>
          <p:nvSpPr>
            <p:cNvPr id="3" name="TextBox 3"/>
            <p:cNvSpPr txBox="1"/>
            <p:nvPr/>
          </p:nvSpPr>
          <p:spPr>
            <a:xfrm>
              <a:off x="985647" y="590074"/>
              <a:ext cx="2588148" cy="190690"/>
            </a:xfrm>
            <a:prstGeom prst="rect">
              <a:avLst/>
            </a:prstGeom>
            <a:noFill/>
            <a:ln>
              <a:noFill/>
            </a:ln>
          </p:spPr>
          <p:txBody>
            <a:bodyPr wrap="none" lIns="0" tIns="0" rIns="0" bIns="0" anchor="t" anchorCtr="0">
              <a:spAutoFit/>
            </a:bodyPr>
            <a:lstStyle/>
            <a:p>
              <a:pPr algn="l"/>
              <a:r>
                <a:rPr lang="en" sz="980" spc="188" dirty="0">
                  <a:solidFill>
                    <a:srgbClr val="A8B8C8"/>
                  </a:solidFill>
                  <a:latin typeface="+mn-lt"/>
                  <a:ea typeface="+mn-ea"/>
                  <a:cs typeface="+mn-cs"/>
                </a:rPr>
                <a:t>FINAL PROJECT PRESENTATION</a:t>
              </a:r>
            </a:p>
          </p:txBody>
        </p:sp>
      </p:grpSp>
      <p:grpSp>
        <p:nvGrpSpPr>
          <p:cNvPr id="7" name="Group 7"/>
          <p:cNvGrpSpPr/>
          <p:nvPr/>
        </p:nvGrpSpPr>
        <p:grpSpPr>
          <a:xfrm>
            <a:off x="590550" y="1684020"/>
            <a:ext cx="10396822" cy="1319403"/>
            <a:chOff x="590550" y="1684020"/>
            <a:chExt cx="10396822" cy="1319403"/>
          </a:xfrm>
        </p:grpSpPr>
        <p:sp>
          <p:nvSpPr>
            <p:cNvPr id="5" name="TextBox 5"/>
            <p:cNvSpPr txBox="1"/>
            <p:nvPr/>
          </p:nvSpPr>
          <p:spPr>
            <a:xfrm>
              <a:off x="590550" y="1684020"/>
              <a:ext cx="4691939" cy="1047750"/>
            </a:xfrm>
            <a:prstGeom prst="rect">
              <a:avLst/>
            </a:prstGeom>
            <a:noFill/>
            <a:ln>
              <a:noFill/>
            </a:ln>
          </p:spPr>
          <p:txBody>
            <a:bodyPr wrap="none" lIns="0" tIns="0" rIns="0" bIns="0" anchor="t" anchorCtr="0">
              <a:spAutoFit/>
            </a:bodyPr>
            <a:lstStyle/>
            <a:p>
              <a:pPr algn="l"/>
              <a:r>
                <a:rPr lang="en" sz="5400" dirty="0">
                  <a:solidFill>
                    <a:srgbClr val="FAF9F6"/>
                  </a:solidFill>
                  <a:latin typeface="+mj-lt"/>
                  <a:ea typeface="+mj-ea"/>
                  <a:cs typeface="+mj-cs"/>
                </a:rPr>
                <a:t>KineticPulse</a:t>
              </a:r>
            </a:p>
          </p:txBody>
        </p:sp>
        <p:sp>
          <p:nvSpPr>
            <p:cNvPr id="6" name="TextBox 6"/>
            <p:cNvSpPr txBox="1"/>
            <p:nvPr/>
          </p:nvSpPr>
          <p:spPr>
            <a:xfrm>
              <a:off x="598932" y="2592705"/>
              <a:ext cx="10388440" cy="410718"/>
            </a:xfrm>
            <a:prstGeom prst="rect">
              <a:avLst/>
            </a:prstGeom>
            <a:noFill/>
            <a:ln>
              <a:noFill/>
            </a:ln>
          </p:spPr>
          <p:txBody>
            <a:bodyPr wrap="none" lIns="0" tIns="0" rIns="0" bIns="0" anchor="t" anchorCtr="0">
              <a:spAutoFit/>
            </a:bodyPr>
            <a:lstStyle/>
            <a:p>
              <a:pPr algn="l"/>
              <a:r>
                <a:rPr lang="en" sz="2100" dirty="0">
                  <a:solidFill>
                    <a:srgbClr val="A8B8C8"/>
                  </a:solidFill>
                  <a:latin typeface="+mn-lt"/>
                  <a:ea typeface="+mn-ea"/>
                  <a:cs typeface="+mn-cs"/>
                </a:rPr>
                <a:t>A Multimodal Edge-AI Prototype for Fall Detection and Caregiver Escalation</a:t>
              </a:r>
            </a:p>
          </p:txBody>
        </p:sp>
      </p:grpSp>
      <p:grpSp>
        <p:nvGrpSpPr>
          <p:cNvPr id="25" name="Group 25"/>
          <p:cNvGrpSpPr/>
          <p:nvPr/>
        </p:nvGrpSpPr>
        <p:grpSpPr>
          <a:xfrm>
            <a:off x="2542552" y="3970734"/>
            <a:ext cx="7131546" cy="674227"/>
            <a:chOff x="2542552" y="3970734"/>
            <a:chExt cx="7131546" cy="674227"/>
          </a:xfrm>
        </p:grpSpPr>
        <p:sp>
          <p:nvSpPr>
            <p:cNvPr id="8" name="Line 8"/>
            <p:cNvSpPr/>
            <p:nvPr/>
          </p:nvSpPr>
          <p:spPr>
            <a:xfrm>
              <a:off x="3314700" y="4095750"/>
              <a:ext cx="2324100" cy="1"/>
            </a:xfrm>
            <a:prstGeom prst="line">
              <a:avLst/>
            </a:prstGeom>
            <a:noFill/>
            <a:ln w="14288">
              <a:solidFill>
                <a:srgbClr val="2E415A"/>
              </a:solidFill>
              <a:tailEnd type="triangle" w="lg" len="lg"/>
            </a:ln>
          </p:spPr>
        </p:sp>
        <p:sp>
          <p:nvSpPr>
            <p:cNvPr id="9" name="Line 9"/>
            <p:cNvSpPr/>
            <p:nvPr/>
          </p:nvSpPr>
          <p:spPr>
            <a:xfrm>
              <a:off x="6553200" y="4095750"/>
              <a:ext cx="2324100" cy="1"/>
            </a:xfrm>
            <a:prstGeom prst="line">
              <a:avLst/>
            </a:prstGeom>
            <a:noFill/>
            <a:ln w="14288">
              <a:solidFill>
                <a:srgbClr val="2E415A"/>
              </a:solidFill>
              <a:tailEnd type="triangle" w="lg" len="lg"/>
            </a:ln>
          </p:spPr>
        </p:sp>
        <p:grpSp>
          <p:nvGrpSpPr>
            <p:cNvPr id="14" name="Group 14"/>
            <p:cNvGrpSpPr/>
            <p:nvPr/>
          </p:nvGrpSpPr>
          <p:grpSpPr>
            <a:xfrm>
              <a:off x="2542552" y="3970734"/>
              <a:ext cx="629895" cy="674227"/>
              <a:chOff x="2542552" y="3970734"/>
              <a:chExt cx="629895" cy="674227"/>
            </a:xfrm>
          </p:grpSpPr>
          <p:grpSp>
            <p:nvGrpSpPr>
              <p:cNvPr id="12" name="Group 12"/>
              <p:cNvGrpSpPr/>
              <p:nvPr/>
            </p:nvGrpSpPr>
            <p:grpSpPr>
              <a:xfrm>
                <a:off x="2768201" y="3970734"/>
                <a:ext cx="178597" cy="250032"/>
                <a:chOff x="2768201" y="3970734"/>
                <a:chExt cx="178597" cy="250032"/>
              </a:xfrm>
            </p:grpSpPr>
            <p:sp>
              <p:nvSpPr>
                <p:cNvPr id="10" name="Freeform 10"/>
                <p:cNvSpPr/>
                <p:nvPr/>
              </p:nvSpPr>
              <p:spPr>
                <a:xfrm>
                  <a:off x="2777133" y="4015383"/>
                  <a:ext cx="160735" cy="160735"/>
                </a:xfrm>
                <a:custGeom>
                  <a:avLst/>
                  <a:gdLst/>
                  <a:ahLst/>
                  <a:cxnLst/>
                  <a:rect l="l" t="t" r="r" b="b"/>
                  <a:pathLst>
                    <a:path w="160735" h="160735">
                      <a:moveTo>
                        <a:pt x="160735" y="80368"/>
                      </a:moveTo>
                      <a:cubicBezTo>
                        <a:pt x="160735" y="124753"/>
                        <a:pt x="124753" y="160735"/>
                        <a:pt x="80368" y="160735"/>
                      </a:cubicBezTo>
                      <a:cubicBezTo>
                        <a:pt x="35982" y="160735"/>
                        <a:pt x="0" y="124753"/>
                        <a:pt x="0" y="80368"/>
                      </a:cubicBezTo>
                      <a:cubicBezTo>
                        <a:pt x="0" y="35982"/>
                        <a:pt x="35982" y="0"/>
                        <a:pt x="80368" y="0"/>
                      </a:cubicBezTo>
                      <a:cubicBezTo>
                        <a:pt x="124753" y="0"/>
                        <a:pt x="160735" y="35982"/>
                        <a:pt x="160735" y="80368"/>
                      </a:cubicBezTo>
                      <a:close/>
                    </a:path>
                  </a:pathLst>
                </a:custGeom>
                <a:solidFill>
                  <a:srgbClr val="FFFFFF">
                    <a:alpha val="20000"/>
                  </a:srgbClr>
                </a:solidFill>
                <a:ln>
                  <a:noFill/>
                </a:ln>
              </p:spPr>
            </p:sp>
            <p:sp>
              <p:nvSpPr>
                <p:cNvPr id="11" name="Freeform 11"/>
                <p:cNvSpPr/>
                <p:nvPr/>
              </p:nvSpPr>
              <p:spPr>
                <a:xfrm>
                  <a:off x="2768201" y="3970734"/>
                  <a:ext cx="178597" cy="250032"/>
                </a:xfrm>
                <a:custGeom>
                  <a:avLst/>
                  <a:gdLst/>
                  <a:ahLst/>
                  <a:cxnLst/>
                  <a:rect l="l" t="t" r="r" b="b"/>
                  <a:pathLst>
                    <a:path w="178597" h="250032">
                      <a:moveTo>
                        <a:pt x="178597" y="125016"/>
                      </a:moveTo>
                      <a:cubicBezTo>
                        <a:pt x="178590" y="96583"/>
                        <a:pt x="165034" y="69856"/>
                        <a:pt x="142097" y="53054"/>
                      </a:cubicBezTo>
                      <a:lnTo>
                        <a:pt x="135132" y="14678"/>
                      </a:lnTo>
                      <a:cubicBezTo>
                        <a:pt x="133594" y="6182"/>
                        <a:pt x="126197" y="2"/>
                        <a:pt x="117562" y="0"/>
                      </a:cubicBezTo>
                      <a:lnTo>
                        <a:pt x="61037" y="0"/>
                      </a:lnTo>
                      <a:cubicBezTo>
                        <a:pt x="52402" y="2"/>
                        <a:pt x="45006" y="6182"/>
                        <a:pt x="43468" y="14678"/>
                      </a:cubicBezTo>
                      <a:lnTo>
                        <a:pt x="36503" y="53054"/>
                      </a:lnTo>
                      <a:cubicBezTo>
                        <a:pt x="13559" y="69851"/>
                        <a:pt x="0" y="96581"/>
                        <a:pt x="0" y="125016"/>
                      </a:cubicBezTo>
                      <a:cubicBezTo>
                        <a:pt x="0" y="153451"/>
                        <a:pt x="13559" y="180182"/>
                        <a:pt x="36503" y="196979"/>
                      </a:cubicBezTo>
                      <a:lnTo>
                        <a:pt x="43468" y="235354"/>
                      </a:lnTo>
                      <a:cubicBezTo>
                        <a:pt x="45006" y="243851"/>
                        <a:pt x="52402" y="250030"/>
                        <a:pt x="61037" y="250032"/>
                      </a:cubicBezTo>
                      <a:lnTo>
                        <a:pt x="117562" y="250032"/>
                      </a:lnTo>
                      <a:cubicBezTo>
                        <a:pt x="126197" y="250030"/>
                        <a:pt x="133594" y="243851"/>
                        <a:pt x="135132" y="235354"/>
                      </a:cubicBezTo>
                      <a:lnTo>
                        <a:pt x="142097" y="196979"/>
                      </a:lnTo>
                      <a:cubicBezTo>
                        <a:pt x="165034" y="180176"/>
                        <a:pt x="178590" y="153449"/>
                        <a:pt x="178597" y="125016"/>
                      </a:cubicBezTo>
                      <a:close/>
                      <a:moveTo>
                        <a:pt x="61037" y="17859"/>
                      </a:moveTo>
                      <a:lnTo>
                        <a:pt x="117562" y="17859"/>
                      </a:lnTo>
                      <a:lnTo>
                        <a:pt x="121927" y="41914"/>
                      </a:lnTo>
                      <a:cubicBezTo>
                        <a:pt x="100960" y="33654"/>
                        <a:pt x="77640" y="33654"/>
                        <a:pt x="56673" y="41914"/>
                      </a:cubicBezTo>
                      <a:close/>
                      <a:moveTo>
                        <a:pt x="17862" y="125016"/>
                      </a:moveTo>
                      <a:cubicBezTo>
                        <a:pt x="17862" y="85562"/>
                        <a:pt x="49846" y="53578"/>
                        <a:pt x="89300" y="53578"/>
                      </a:cubicBezTo>
                      <a:cubicBezTo>
                        <a:pt x="128754" y="53578"/>
                        <a:pt x="160738" y="85562"/>
                        <a:pt x="160738" y="125016"/>
                      </a:cubicBezTo>
                      <a:cubicBezTo>
                        <a:pt x="160738" y="164470"/>
                        <a:pt x="128754" y="196454"/>
                        <a:pt x="89300" y="196454"/>
                      </a:cubicBezTo>
                      <a:cubicBezTo>
                        <a:pt x="49864" y="196411"/>
                        <a:pt x="17905" y="164452"/>
                        <a:pt x="17862" y="125016"/>
                      </a:cubicBezTo>
                      <a:close/>
                      <a:moveTo>
                        <a:pt x="117562" y="232173"/>
                      </a:moveTo>
                      <a:lnTo>
                        <a:pt x="61037" y="232173"/>
                      </a:lnTo>
                      <a:lnTo>
                        <a:pt x="56673" y="208118"/>
                      </a:lnTo>
                      <a:cubicBezTo>
                        <a:pt x="77640" y="216378"/>
                        <a:pt x="100960" y="216378"/>
                        <a:pt x="121927" y="208118"/>
                      </a:cubicBezTo>
                      <a:close/>
                      <a:moveTo>
                        <a:pt x="80370" y="125016"/>
                      </a:moveTo>
                      <a:lnTo>
                        <a:pt x="80370" y="80368"/>
                      </a:lnTo>
                      <a:cubicBezTo>
                        <a:pt x="80370" y="75436"/>
                        <a:pt x="84368" y="71438"/>
                        <a:pt x="89300" y="71438"/>
                      </a:cubicBezTo>
                      <a:cubicBezTo>
                        <a:pt x="94232" y="71438"/>
                        <a:pt x="98229" y="75436"/>
                        <a:pt x="98229" y="80368"/>
                      </a:cubicBezTo>
                      <a:lnTo>
                        <a:pt x="98229" y="116086"/>
                      </a:lnTo>
                      <a:lnTo>
                        <a:pt x="133948" y="116086"/>
                      </a:lnTo>
                      <a:cubicBezTo>
                        <a:pt x="138880" y="116086"/>
                        <a:pt x="142878" y="120084"/>
                        <a:pt x="142878" y="125016"/>
                      </a:cubicBezTo>
                      <a:cubicBezTo>
                        <a:pt x="142878" y="129948"/>
                        <a:pt x="138880" y="133946"/>
                        <a:pt x="133948" y="133946"/>
                      </a:cubicBezTo>
                      <a:lnTo>
                        <a:pt x="89300" y="133946"/>
                      </a:lnTo>
                      <a:cubicBezTo>
                        <a:pt x="84368" y="133946"/>
                        <a:pt x="80370" y="129948"/>
                        <a:pt x="80370" y="125016"/>
                      </a:cubicBezTo>
                      <a:close/>
                    </a:path>
                  </a:pathLst>
                </a:custGeom>
                <a:solidFill>
                  <a:srgbClr val="FFFFFF"/>
                </a:solidFill>
                <a:ln>
                  <a:noFill/>
                </a:ln>
              </p:spPr>
            </p:sp>
          </p:grpSp>
          <p:sp>
            <p:nvSpPr>
              <p:cNvPr id="13" name="TextBox 13"/>
              <p:cNvSpPr txBox="1"/>
              <p:nvPr/>
            </p:nvSpPr>
            <p:spPr>
              <a:xfrm>
                <a:off x="2542552" y="4439602"/>
                <a:ext cx="629895" cy="205359"/>
              </a:xfrm>
              <a:prstGeom prst="rect">
                <a:avLst/>
              </a:prstGeom>
              <a:noFill/>
              <a:ln>
                <a:noFill/>
              </a:ln>
            </p:spPr>
            <p:txBody>
              <a:bodyPr wrap="none" lIns="0" tIns="0" rIns="0" bIns="0" anchor="t" anchorCtr="0">
                <a:spAutoFit/>
              </a:bodyPr>
              <a:lstStyle/>
              <a:p>
                <a:pPr algn="ctr"/>
                <a:r>
                  <a:rPr lang="en" sz="1050" dirty="0">
                    <a:solidFill>
                      <a:srgbClr val="FFFFFF"/>
                    </a:solidFill>
                    <a:latin typeface="+mn-lt"/>
                    <a:ea typeface="+mn-ea"/>
                    <a:cs typeface="+mn-cs"/>
                  </a:rPr>
                  <a:t>Wearable</a:t>
                </a:r>
              </a:p>
            </p:txBody>
          </p:sp>
        </p:grpSp>
        <p:grpSp>
          <p:nvGrpSpPr>
            <p:cNvPr id="19" name="Group 19"/>
            <p:cNvGrpSpPr/>
            <p:nvPr/>
          </p:nvGrpSpPr>
          <p:grpSpPr>
            <a:xfrm>
              <a:off x="5847202" y="3970734"/>
              <a:ext cx="497596" cy="674227"/>
              <a:chOff x="5847202" y="3970734"/>
              <a:chExt cx="497596" cy="674227"/>
            </a:xfrm>
          </p:grpSpPr>
          <p:grpSp>
            <p:nvGrpSpPr>
              <p:cNvPr id="17" name="Group 17"/>
              <p:cNvGrpSpPr/>
              <p:nvPr/>
            </p:nvGrpSpPr>
            <p:grpSpPr>
              <a:xfrm>
                <a:off x="5970984" y="3970734"/>
                <a:ext cx="250032" cy="250032"/>
                <a:chOff x="5970984" y="3970734"/>
                <a:chExt cx="250032" cy="250032"/>
              </a:xfrm>
            </p:grpSpPr>
            <p:sp>
              <p:nvSpPr>
                <p:cNvPr id="15" name="Freeform 15"/>
                <p:cNvSpPr/>
                <p:nvPr/>
              </p:nvSpPr>
              <p:spPr>
                <a:xfrm>
                  <a:off x="6006703" y="4006453"/>
                  <a:ext cx="178595" cy="178595"/>
                </a:xfrm>
                <a:custGeom>
                  <a:avLst/>
                  <a:gdLst/>
                  <a:ahLst/>
                  <a:cxnLst/>
                  <a:rect l="l" t="t" r="r" b="b"/>
                  <a:pathLst>
                    <a:path w="178595" h="178595">
                      <a:moveTo>
                        <a:pt x="169665" y="0"/>
                      </a:moveTo>
                      <a:lnTo>
                        <a:pt x="8930" y="0"/>
                      </a:lnTo>
                      <a:cubicBezTo>
                        <a:pt x="3998" y="0"/>
                        <a:pt x="0" y="3998"/>
                        <a:pt x="0" y="8930"/>
                      </a:cubicBezTo>
                      <a:lnTo>
                        <a:pt x="0" y="169665"/>
                      </a:lnTo>
                      <a:cubicBezTo>
                        <a:pt x="0" y="174597"/>
                        <a:pt x="3998" y="178595"/>
                        <a:pt x="8930" y="178595"/>
                      </a:cubicBezTo>
                      <a:lnTo>
                        <a:pt x="169665" y="178595"/>
                      </a:lnTo>
                      <a:cubicBezTo>
                        <a:pt x="174597" y="178595"/>
                        <a:pt x="178595" y="174597"/>
                        <a:pt x="178595" y="169665"/>
                      </a:cubicBezTo>
                      <a:lnTo>
                        <a:pt x="178595" y="8930"/>
                      </a:lnTo>
                      <a:cubicBezTo>
                        <a:pt x="178595" y="3998"/>
                        <a:pt x="174597" y="0"/>
                        <a:pt x="169665" y="0"/>
                      </a:cubicBezTo>
                      <a:close/>
                      <a:moveTo>
                        <a:pt x="116086" y="116086"/>
                      </a:moveTo>
                      <a:lnTo>
                        <a:pt x="62508" y="116086"/>
                      </a:lnTo>
                      <a:lnTo>
                        <a:pt x="62508" y="62508"/>
                      </a:lnTo>
                      <a:lnTo>
                        <a:pt x="116086" y="62508"/>
                      </a:lnTo>
                      <a:close/>
                    </a:path>
                  </a:pathLst>
                </a:custGeom>
                <a:solidFill>
                  <a:srgbClr val="FFFFFF">
                    <a:alpha val="20000"/>
                  </a:srgbClr>
                </a:solidFill>
                <a:ln>
                  <a:noFill/>
                </a:ln>
              </p:spPr>
            </p:sp>
            <p:sp>
              <p:nvSpPr>
                <p:cNvPr id="16" name="Freeform 16"/>
                <p:cNvSpPr/>
                <p:nvPr/>
              </p:nvSpPr>
              <p:spPr>
                <a:xfrm>
                  <a:off x="5970984" y="3970734"/>
                  <a:ext cx="250032" cy="250032"/>
                </a:xfrm>
                <a:custGeom>
                  <a:avLst/>
                  <a:gdLst/>
                  <a:ahLst/>
                  <a:cxnLst/>
                  <a:rect l="l" t="t" r="r" b="b"/>
                  <a:pathLst>
                    <a:path w="250032" h="250032">
                      <a:moveTo>
                        <a:pt x="151805" y="89297"/>
                      </a:moveTo>
                      <a:lnTo>
                        <a:pt x="98227" y="89297"/>
                      </a:lnTo>
                      <a:cubicBezTo>
                        <a:pt x="93295" y="89297"/>
                        <a:pt x="89297" y="93295"/>
                        <a:pt x="89297" y="98227"/>
                      </a:cubicBezTo>
                      <a:lnTo>
                        <a:pt x="89297" y="151805"/>
                      </a:lnTo>
                      <a:cubicBezTo>
                        <a:pt x="89297" y="156737"/>
                        <a:pt x="93295" y="160735"/>
                        <a:pt x="98227" y="160735"/>
                      </a:cubicBezTo>
                      <a:lnTo>
                        <a:pt x="151805" y="160735"/>
                      </a:lnTo>
                      <a:cubicBezTo>
                        <a:pt x="156737" y="160735"/>
                        <a:pt x="160735" y="156737"/>
                        <a:pt x="160735" y="151805"/>
                      </a:cubicBezTo>
                      <a:lnTo>
                        <a:pt x="160735" y="98227"/>
                      </a:lnTo>
                      <a:cubicBezTo>
                        <a:pt x="160735" y="93295"/>
                        <a:pt x="156737" y="89297"/>
                        <a:pt x="151805" y="89297"/>
                      </a:cubicBezTo>
                      <a:close/>
                      <a:moveTo>
                        <a:pt x="142876" y="142876"/>
                      </a:moveTo>
                      <a:lnTo>
                        <a:pt x="107157" y="142876"/>
                      </a:lnTo>
                      <a:lnTo>
                        <a:pt x="107157" y="107157"/>
                      </a:lnTo>
                      <a:lnTo>
                        <a:pt x="142876" y="107157"/>
                      </a:lnTo>
                      <a:close/>
                      <a:moveTo>
                        <a:pt x="241103" y="142876"/>
                      </a:moveTo>
                      <a:lnTo>
                        <a:pt x="223243" y="142876"/>
                      </a:lnTo>
                      <a:lnTo>
                        <a:pt x="223243" y="107157"/>
                      </a:lnTo>
                      <a:lnTo>
                        <a:pt x="241103" y="107157"/>
                      </a:lnTo>
                      <a:cubicBezTo>
                        <a:pt x="246034" y="107157"/>
                        <a:pt x="250032" y="103159"/>
                        <a:pt x="250032" y="98227"/>
                      </a:cubicBezTo>
                      <a:cubicBezTo>
                        <a:pt x="250032" y="93295"/>
                        <a:pt x="246034" y="89297"/>
                        <a:pt x="241103" y="89297"/>
                      </a:cubicBezTo>
                      <a:lnTo>
                        <a:pt x="223243" y="89297"/>
                      </a:lnTo>
                      <a:lnTo>
                        <a:pt x="223243" y="44649"/>
                      </a:lnTo>
                      <a:cubicBezTo>
                        <a:pt x="223243" y="34785"/>
                        <a:pt x="215247" y="26789"/>
                        <a:pt x="205384" y="26789"/>
                      </a:cubicBezTo>
                      <a:lnTo>
                        <a:pt x="160735" y="26789"/>
                      </a:lnTo>
                      <a:lnTo>
                        <a:pt x="160735" y="8930"/>
                      </a:lnTo>
                      <a:cubicBezTo>
                        <a:pt x="160735" y="3998"/>
                        <a:pt x="156737" y="0"/>
                        <a:pt x="151805" y="0"/>
                      </a:cubicBezTo>
                      <a:cubicBezTo>
                        <a:pt x="146874" y="0"/>
                        <a:pt x="142876" y="3998"/>
                        <a:pt x="142876" y="8930"/>
                      </a:cubicBezTo>
                      <a:lnTo>
                        <a:pt x="142876" y="26789"/>
                      </a:lnTo>
                      <a:lnTo>
                        <a:pt x="107157" y="26789"/>
                      </a:lnTo>
                      <a:lnTo>
                        <a:pt x="107157" y="8930"/>
                      </a:lnTo>
                      <a:cubicBezTo>
                        <a:pt x="107157" y="3998"/>
                        <a:pt x="103159" y="0"/>
                        <a:pt x="98227" y="0"/>
                      </a:cubicBezTo>
                      <a:cubicBezTo>
                        <a:pt x="93295" y="0"/>
                        <a:pt x="89297" y="3998"/>
                        <a:pt x="89297" y="8930"/>
                      </a:cubicBezTo>
                      <a:lnTo>
                        <a:pt x="89297" y="26789"/>
                      </a:lnTo>
                      <a:lnTo>
                        <a:pt x="44649" y="26789"/>
                      </a:lnTo>
                      <a:cubicBezTo>
                        <a:pt x="34785" y="26789"/>
                        <a:pt x="26789" y="34785"/>
                        <a:pt x="26789" y="44649"/>
                      </a:cubicBezTo>
                      <a:lnTo>
                        <a:pt x="26789" y="89297"/>
                      </a:lnTo>
                      <a:lnTo>
                        <a:pt x="8930" y="89297"/>
                      </a:lnTo>
                      <a:cubicBezTo>
                        <a:pt x="3998" y="89297"/>
                        <a:pt x="0" y="93295"/>
                        <a:pt x="0" y="98227"/>
                      </a:cubicBezTo>
                      <a:cubicBezTo>
                        <a:pt x="0" y="103159"/>
                        <a:pt x="3998" y="107157"/>
                        <a:pt x="8930" y="107157"/>
                      </a:cubicBezTo>
                      <a:lnTo>
                        <a:pt x="26789" y="107157"/>
                      </a:lnTo>
                      <a:lnTo>
                        <a:pt x="26789" y="142876"/>
                      </a:lnTo>
                      <a:lnTo>
                        <a:pt x="8930" y="142876"/>
                      </a:lnTo>
                      <a:cubicBezTo>
                        <a:pt x="3998" y="142876"/>
                        <a:pt x="0" y="146874"/>
                        <a:pt x="0" y="151805"/>
                      </a:cubicBezTo>
                      <a:cubicBezTo>
                        <a:pt x="0" y="156737"/>
                        <a:pt x="3998" y="160735"/>
                        <a:pt x="8930" y="160735"/>
                      </a:cubicBezTo>
                      <a:lnTo>
                        <a:pt x="26789" y="160735"/>
                      </a:lnTo>
                      <a:lnTo>
                        <a:pt x="26789" y="205384"/>
                      </a:lnTo>
                      <a:cubicBezTo>
                        <a:pt x="26789" y="215247"/>
                        <a:pt x="34785" y="223243"/>
                        <a:pt x="44649" y="223243"/>
                      </a:cubicBezTo>
                      <a:lnTo>
                        <a:pt x="89297" y="223243"/>
                      </a:lnTo>
                      <a:lnTo>
                        <a:pt x="89297" y="241103"/>
                      </a:lnTo>
                      <a:cubicBezTo>
                        <a:pt x="89297" y="246034"/>
                        <a:pt x="93295" y="250032"/>
                        <a:pt x="98227" y="250032"/>
                      </a:cubicBezTo>
                      <a:cubicBezTo>
                        <a:pt x="103159" y="250032"/>
                        <a:pt x="107157" y="246034"/>
                        <a:pt x="107157" y="241103"/>
                      </a:cubicBezTo>
                      <a:lnTo>
                        <a:pt x="107157" y="223243"/>
                      </a:lnTo>
                      <a:lnTo>
                        <a:pt x="142876" y="223243"/>
                      </a:lnTo>
                      <a:lnTo>
                        <a:pt x="142876" y="241103"/>
                      </a:lnTo>
                      <a:cubicBezTo>
                        <a:pt x="142876" y="246034"/>
                        <a:pt x="146874" y="250032"/>
                        <a:pt x="151805" y="250032"/>
                      </a:cubicBezTo>
                      <a:cubicBezTo>
                        <a:pt x="156737" y="250032"/>
                        <a:pt x="160735" y="246034"/>
                        <a:pt x="160735" y="241103"/>
                      </a:cubicBezTo>
                      <a:lnTo>
                        <a:pt x="160735" y="223243"/>
                      </a:lnTo>
                      <a:lnTo>
                        <a:pt x="205384" y="223243"/>
                      </a:lnTo>
                      <a:cubicBezTo>
                        <a:pt x="215247" y="223243"/>
                        <a:pt x="223243" y="215247"/>
                        <a:pt x="223243" y="205384"/>
                      </a:cubicBezTo>
                      <a:lnTo>
                        <a:pt x="223243" y="160735"/>
                      </a:lnTo>
                      <a:lnTo>
                        <a:pt x="241103" y="160735"/>
                      </a:lnTo>
                      <a:cubicBezTo>
                        <a:pt x="246034" y="160735"/>
                        <a:pt x="250032" y="156737"/>
                        <a:pt x="250032" y="151805"/>
                      </a:cubicBezTo>
                      <a:cubicBezTo>
                        <a:pt x="250032" y="146874"/>
                        <a:pt x="246034" y="142876"/>
                        <a:pt x="241103" y="142876"/>
                      </a:cubicBezTo>
                      <a:close/>
                      <a:moveTo>
                        <a:pt x="205384" y="205384"/>
                      </a:moveTo>
                      <a:lnTo>
                        <a:pt x="44649" y="205384"/>
                      </a:lnTo>
                      <a:lnTo>
                        <a:pt x="44649" y="44649"/>
                      </a:lnTo>
                      <a:lnTo>
                        <a:pt x="205384" y="44649"/>
                      </a:lnTo>
                      <a:lnTo>
                        <a:pt x="205384" y="151660"/>
                      </a:lnTo>
                      <a:cubicBezTo>
                        <a:pt x="205384" y="151660"/>
                        <a:pt x="205384" y="151761"/>
                        <a:pt x="205384" y="151805"/>
                      </a:cubicBezTo>
                      <a:cubicBezTo>
                        <a:pt x="205384" y="151850"/>
                        <a:pt x="205384" y="151906"/>
                        <a:pt x="205384" y="151950"/>
                      </a:cubicBezTo>
                      <a:lnTo>
                        <a:pt x="205384" y="205384"/>
                      </a:lnTo>
                      <a:close/>
                    </a:path>
                  </a:pathLst>
                </a:custGeom>
                <a:solidFill>
                  <a:srgbClr val="FFFFFF"/>
                </a:solidFill>
                <a:ln>
                  <a:noFill/>
                </a:ln>
              </p:spPr>
            </p:sp>
          </p:grpSp>
          <p:sp>
            <p:nvSpPr>
              <p:cNvPr id="18" name="TextBox 18"/>
              <p:cNvSpPr txBox="1"/>
              <p:nvPr/>
            </p:nvSpPr>
            <p:spPr>
              <a:xfrm>
                <a:off x="5847202" y="4439602"/>
                <a:ext cx="497596" cy="205359"/>
              </a:xfrm>
              <a:prstGeom prst="rect">
                <a:avLst/>
              </a:prstGeom>
              <a:noFill/>
              <a:ln>
                <a:noFill/>
              </a:ln>
            </p:spPr>
            <p:txBody>
              <a:bodyPr wrap="none" lIns="0" tIns="0" rIns="0" bIns="0" anchor="t" anchorCtr="0">
                <a:spAutoFit/>
              </a:bodyPr>
              <a:lstStyle/>
              <a:p>
                <a:pPr algn="ctr"/>
                <a:r>
                  <a:rPr lang="en" sz="1050" dirty="0">
                    <a:solidFill>
                      <a:srgbClr val="FFFFFF"/>
                    </a:solidFill>
                    <a:latin typeface="+mn-lt"/>
                    <a:ea typeface="+mn-ea"/>
                    <a:cs typeface="+mn-cs"/>
                  </a:rPr>
                  <a:t>Edge AI</a:t>
                </a:r>
              </a:p>
            </p:txBody>
          </p:sp>
        </p:grpSp>
        <p:grpSp>
          <p:nvGrpSpPr>
            <p:cNvPr id="24" name="Group 24"/>
            <p:cNvGrpSpPr/>
            <p:nvPr/>
          </p:nvGrpSpPr>
          <p:grpSpPr>
            <a:xfrm>
              <a:off x="8994902" y="3997524"/>
              <a:ext cx="679196" cy="647437"/>
              <a:chOff x="8994902" y="3997524"/>
              <a:chExt cx="679196" cy="647437"/>
            </a:xfrm>
          </p:grpSpPr>
          <p:grpSp>
            <p:nvGrpSpPr>
              <p:cNvPr id="22" name="Group 22"/>
              <p:cNvGrpSpPr/>
              <p:nvPr/>
            </p:nvGrpSpPr>
            <p:grpSpPr>
              <a:xfrm>
                <a:off x="9218414" y="3997524"/>
                <a:ext cx="232173" cy="214313"/>
                <a:chOff x="9218414" y="3997524"/>
                <a:chExt cx="232173" cy="214313"/>
              </a:xfrm>
            </p:grpSpPr>
            <p:sp>
              <p:nvSpPr>
                <p:cNvPr id="20" name="Freeform 20"/>
                <p:cNvSpPr/>
                <p:nvPr/>
              </p:nvSpPr>
              <p:spPr>
                <a:xfrm>
                  <a:off x="9227344" y="4006453"/>
                  <a:ext cx="214313" cy="160735"/>
                </a:xfrm>
                <a:custGeom>
                  <a:avLst/>
                  <a:gdLst/>
                  <a:ahLst/>
                  <a:cxnLst/>
                  <a:rect l="l" t="t" r="r" b="b"/>
                  <a:pathLst>
                    <a:path w="214313" h="160735">
                      <a:moveTo>
                        <a:pt x="214313" y="17859"/>
                      </a:moveTo>
                      <a:lnTo>
                        <a:pt x="214313" y="142876"/>
                      </a:lnTo>
                      <a:cubicBezTo>
                        <a:pt x="214313" y="152739"/>
                        <a:pt x="206317" y="160735"/>
                        <a:pt x="196454" y="160735"/>
                      </a:cubicBezTo>
                      <a:lnTo>
                        <a:pt x="17859" y="160735"/>
                      </a:lnTo>
                      <a:cubicBezTo>
                        <a:pt x="7996" y="160735"/>
                        <a:pt x="0" y="152739"/>
                        <a:pt x="0" y="142876"/>
                      </a:cubicBezTo>
                      <a:lnTo>
                        <a:pt x="0" y="17859"/>
                      </a:lnTo>
                      <a:cubicBezTo>
                        <a:pt x="0" y="7996"/>
                        <a:pt x="7996" y="0"/>
                        <a:pt x="17859" y="0"/>
                      </a:cubicBezTo>
                      <a:lnTo>
                        <a:pt x="196454" y="0"/>
                      </a:lnTo>
                      <a:cubicBezTo>
                        <a:pt x="206317" y="0"/>
                        <a:pt x="214313" y="7996"/>
                        <a:pt x="214313" y="17859"/>
                      </a:cubicBezTo>
                      <a:close/>
                    </a:path>
                  </a:pathLst>
                </a:custGeom>
                <a:solidFill>
                  <a:srgbClr val="FFFFFF">
                    <a:alpha val="20000"/>
                  </a:srgbClr>
                </a:solidFill>
                <a:ln>
                  <a:noFill/>
                </a:ln>
              </p:spPr>
            </p:sp>
            <p:sp>
              <p:nvSpPr>
                <p:cNvPr id="21" name="Freeform 21"/>
                <p:cNvSpPr/>
                <p:nvPr/>
              </p:nvSpPr>
              <p:spPr>
                <a:xfrm>
                  <a:off x="9218414" y="3997524"/>
                  <a:ext cx="232173" cy="214313"/>
                </a:xfrm>
                <a:custGeom>
                  <a:avLst/>
                  <a:gdLst/>
                  <a:ahLst/>
                  <a:cxnLst/>
                  <a:rect l="l" t="t" r="r" b="b"/>
                  <a:pathLst>
                    <a:path w="232173" h="214313">
                      <a:moveTo>
                        <a:pt x="205384" y="0"/>
                      </a:moveTo>
                      <a:lnTo>
                        <a:pt x="26789" y="0"/>
                      </a:lnTo>
                      <a:cubicBezTo>
                        <a:pt x="11994" y="0"/>
                        <a:pt x="0" y="11994"/>
                        <a:pt x="0" y="26789"/>
                      </a:cubicBezTo>
                      <a:lnTo>
                        <a:pt x="0" y="151805"/>
                      </a:lnTo>
                      <a:cubicBezTo>
                        <a:pt x="0" y="166601"/>
                        <a:pt x="11994" y="178595"/>
                        <a:pt x="26789" y="178595"/>
                      </a:cubicBezTo>
                      <a:lnTo>
                        <a:pt x="205384" y="178595"/>
                      </a:lnTo>
                      <a:cubicBezTo>
                        <a:pt x="220179" y="178595"/>
                        <a:pt x="232173" y="166601"/>
                        <a:pt x="232173" y="151805"/>
                      </a:cubicBezTo>
                      <a:lnTo>
                        <a:pt x="232173" y="26789"/>
                      </a:lnTo>
                      <a:cubicBezTo>
                        <a:pt x="232173" y="11994"/>
                        <a:pt x="220179" y="0"/>
                        <a:pt x="205384" y="0"/>
                      </a:cubicBezTo>
                      <a:close/>
                      <a:moveTo>
                        <a:pt x="214313" y="151805"/>
                      </a:moveTo>
                      <a:cubicBezTo>
                        <a:pt x="214313" y="156737"/>
                        <a:pt x="210315" y="160735"/>
                        <a:pt x="205384" y="160735"/>
                      </a:cubicBezTo>
                      <a:lnTo>
                        <a:pt x="26789" y="160735"/>
                      </a:lnTo>
                      <a:cubicBezTo>
                        <a:pt x="21857" y="160735"/>
                        <a:pt x="17859" y="156737"/>
                        <a:pt x="17859" y="151805"/>
                      </a:cubicBezTo>
                      <a:lnTo>
                        <a:pt x="17859" y="26789"/>
                      </a:lnTo>
                      <a:cubicBezTo>
                        <a:pt x="17859" y="21857"/>
                        <a:pt x="21857" y="17859"/>
                        <a:pt x="26789" y="17859"/>
                      </a:cubicBezTo>
                      <a:lnTo>
                        <a:pt x="205384" y="17859"/>
                      </a:lnTo>
                      <a:cubicBezTo>
                        <a:pt x="210315" y="17859"/>
                        <a:pt x="214313" y="21857"/>
                        <a:pt x="214313" y="26789"/>
                      </a:cubicBezTo>
                      <a:close/>
                      <a:moveTo>
                        <a:pt x="160735" y="205384"/>
                      </a:moveTo>
                      <a:cubicBezTo>
                        <a:pt x="160735" y="210315"/>
                        <a:pt x="156737" y="214313"/>
                        <a:pt x="151805" y="214313"/>
                      </a:cubicBezTo>
                      <a:lnTo>
                        <a:pt x="80368" y="214313"/>
                      </a:lnTo>
                      <a:cubicBezTo>
                        <a:pt x="75436" y="214313"/>
                        <a:pt x="71438" y="210315"/>
                        <a:pt x="71438" y="205384"/>
                      </a:cubicBezTo>
                      <a:cubicBezTo>
                        <a:pt x="71438" y="200452"/>
                        <a:pt x="75436" y="196454"/>
                        <a:pt x="80368" y="196454"/>
                      </a:cubicBezTo>
                      <a:lnTo>
                        <a:pt x="151805" y="196454"/>
                      </a:lnTo>
                      <a:cubicBezTo>
                        <a:pt x="156737" y="196454"/>
                        <a:pt x="160735" y="200452"/>
                        <a:pt x="160735" y="205384"/>
                      </a:cubicBezTo>
                      <a:close/>
                    </a:path>
                  </a:pathLst>
                </a:custGeom>
                <a:solidFill>
                  <a:srgbClr val="FFFFFF"/>
                </a:solidFill>
                <a:ln>
                  <a:noFill/>
                </a:ln>
              </p:spPr>
            </p:sp>
          </p:grpSp>
          <p:sp>
            <p:nvSpPr>
              <p:cNvPr id="23" name="TextBox 23"/>
              <p:cNvSpPr txBox="1"/>
              <p:nvPr/>
            </p:nvSpPr>
            <p:spPr>
              <a:xfrm>
                <a:off x="8994902" y="4439602"/>
                <a:ext cx="679196" cy="205359"/>
              </a:xfrm>
              <a:prstGeom prst="rect">
                <a:avLst/>
              </a:prstGeom>
              <a:noFill/>
              <a:ln>
                <a:noFill/>
              </a:ln>
            </p:spPr>
            <p:txBody>
              <a:bodyPr wrap="none" lIns="0" tIns="0" rIns="0" bIns="0" anchor="t" anchorCtr="0">
                <a:spAutoFit/>
              </a:bodyPr>
              <a:lstStyle/>
              <a:p>
                <a:pPr algn="ctr"/>
                <a:r>
                  <a:rPr lang="en" sz="1050" dirty="0">
                    <a:solidFill>
                      <a:srgbClr val="FFFFFF"/>
                    </a:solidFill>
                    <a:latin typeface="+mn-lt"/>
                    <a:ea typeface="+mn-ea"/>
                    <a:cs typeface="+mn-cs"/>
                  </a:rPr>
                  <a:t>Caregiver</a:t>
                </a:r>
              </a:p>
            </p:txBody>
          </p:sp>
        </p:grpSp>
      </p:grpSp>
      <p:grpSp>
        <p:nvGrpSpPr>
          <p:cNvPr id="27" name="Group 27"/>
          <p:cNvGrpSpPr/>
          <p:nvPr/>
        </p:nvGrpSpPr>
        <p:grpSpPr>
          <a:xfrm>
            <a:off x="603504" y="5852160"/>
            <a:ext cx="4241292" cy="482346"/>
            <a:chOff x="603504" y="5852160"/>
            <a:chExt cx="4241292" cy="482346"/>
          </a:xfrm>
        </p:grpSpPr>
        <p:sp>
          <p:nvSpPr>
            <p:cNvPr id="26" name="TextBox 26"/>
            <p:cNvSpPr txBox="1"/>
            <p:nvPr/>
          </p:nvSpPr>
          <p:spPr>
            <a:xfrm>
              <a:off x="603504" y="5852160"/>
              <a:ext cx="4241292" cy="482346"/>
            </a:xfrm>
            <a:prstGeom prst="rect">
              <a:avLst/>
            </a:prstGeom>
            <a:noFill/>
            <a:ln>
              <a:noFill/>
            </a:ln>
          </p:spPr>
          <p:txBody>
            <a:bodyPr wrap="none" lIns="0" tIns="0" rIns="0" bIns="0" anchor="t" anchorCtr="0">
              <a:spAutoFit/>
            </a:bodyPr>
            <a:lstStyle/>
            <a:p>
              <a:pPr algn="l">
                <a:lnSpc>
                  <a:spcPts val="1950"/>
                </a:lnSpc>
              </a:pPr>
              <a:r>
                <a:rPr lang="en" sz="1200" dirty="0">
                  <a:solidFill>
                    <a:srgbClr val="FAF9F6"/>
                  </a:solidFill>
                  <a:latin typeface="+mn-lt"/>
                  <a:ea typeface="+mn-ea"/>
                  <a:cs typeface="+mn-cs"/>
                </a:rPr>
                <a:t>Embedded Systems, Cyber-Physical Systems and Robotics</a:t>
              </a:r>
              <a:br/>
              <a:r>
                <a:rPr lang="en" sz="1200" dirty="0">
                  <a:solidFill>
                    <a:srgbClr val="A8B8C8"/>
                  </a:solidFill>
                  <a:latin typeface="+mn-lt"/>
                  <a:ea typeface="+mn-ea"/>
                  <a:cs typeface="+mn-cs"/>
                </a:rPr>
                <a:t>Technical University of Munich</a:t>
              </a:r>
            </a:p>
          </p:txBody>
        </p:sp>
      </p:grpSp>
      <p:grpSp>
        <p:nvGrpSpPr>
          <p:cNvPr id="29" name="Group 29"/>
          <p:cNvGrpSpPr/>
          <p:nvPr/>
        </p:nvGrpSpPr>
        <p:grpSpPr>
          <a:xfrm>
            <a:off x="7487285" y="5860256"/>
            <a:ext cx="4100830" cy="448628"/>
            <a:chOff x="7487285" y="5860256"/>
            <a:chExt cx="4100830" cy="448628"/>
          </a:xfrm>
        </p:grpSpPr>
        <p:sp>
          <p:nvSpPr>
            <p:cNvPr id="28" name="TextBox 28"/>
            <p:cNvSpPr txBox="1"/>
            <p:nvPr/>
          </p:nvSpPr>
          <p:spPr>
            <a:xfrm>
              <a:off x="7487285" y="5860256"/>
              <a:ext cx="4100830" cy="448628"/>
            </a:xfrm>
            <a:prstGeom prst="rect">
              <a:avLst/>
            </a:prstGeom>
            <a:noFill/>
            <a:ln>
              <a:noFill/>
            </a:ln>
          </p:spPr>
          <p:txBody>
            <a:bodyPr wrap="none" lIns="0" tIns="0" rIns="0" bIns="0" anchor="t" anchorCtr="0">
              <a:spAutoFit/>
            </a:bodyPr>
            <a:lstStyle/>
            <a:p>
              <a:pPr algn="r">
                <a:lnSpc>
                  <a:spcPts val="1800"/>
                </a:lnSpc>
              </a:pPr>
              <a:r>
                <a:rPr lang="en" sz="1120" dirty="0">
                  <a:solidFill>
                    <a:srgbClr val="FAF9F6"/>
                  </a:solidFill>
                  <a:latin typeface="+mn-lt"/>
                  <a:ea typeface="+mn-ea"/>
                  <a:cs typeface="+mn-cs"/>
                </a:rPr>
                <a:t>Youngwon Cho · Chang-Ting Zhong · Hao-Yuan Weng · Yule Xu</a:t>
              </a:r>
              <a:br/>
              <a:r>
                <a:rPr lang="en" sz="1120" dirty="0">
                  <a:solidFill>
                    <a:srgbClr val="A8B8C8"/>
                  </a:solidFill>
                  <a:latin typeface="+mn-lt"/>
                  <a:ea typeface="+mn-ea"/>
                  <a:cs typeface="+mn-cs"/>
                </a:rPr>
                <a:t>Ren-Yi Huang · Yuanhao Chen · Yiyuan Chen · Yong Zhe Sam</a:t>
              </a:r>
            </a:p>
          </p:txBody>
        </p:sp>
      </p:grpSp>
      <p:sp>
        <p:nvSpPr>
          <p:cNvPr id="30" name="TextBox 30"/>
          <p:cNvSpPr txBox="1"/>
          <p:nvPr/>
        </p:nvSpPr>
        <p:spPr>
          <a:xfrm>
            <a:off x="11432327" y="6562249"/>
            <a:ext cx="155026" cy="190690"/>
          </a:xfrm>
          <a:prstGeom prst="rect">
            <a:avLst/>
          </a:prstGeom>
          <a:noFill/>
          <a:ln>
            <a:noFill/>
          </a:ln>
        </p:spPr>
        <p:txBody>
          <a:bodyPr wrap="none" lIns="0" tIns="0" rIns="0" bIns="0" anchor="t" anchorCtr="0">
            <a:spAutoFit/>
          </a:bodyPr>
          <a:lstStyle/>
          <a:p>
            <a:pPr algn="r"/>
            <a:r>
              <a:rPr lang="en" sz="980" dirty="0">
                <a:solidFill>
                  <a:srgbClr val="A8B8C8"/>
                </a:solidFill>
                <a:latin typeface="+mn-lt"/>
                <a:ea typeface="+mn-ea"/>
                <a:cs typeface="+mn-cs"/>
              </a:rPr>
              <a:t>01</a:t>
            </a:r>
          </a:p>
        </p:txBody>
      </p:sp>
    </p:spTree>
  </p:cSld>
  <p:clrMapOvr>
    <a:masterClrMapping/>
  </p:clrMapOvr>
  <p:transition xmlns:p14="http://schemas.microsoft.com/office/powerpoint/2010/main" p14:dur="5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2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700"/>
                                        <p:tgtEl>
                                          <p:spTgt spid="7"/>
                                        </p:tgtEl>
                                      </p:cBhvr>
                                    </p:animEffect>
                                  </p:childTnLst>
                                </p:cTn>
                              </p:par>
                            </p:childTnLst>
                          </p:cTn>
                        </p:par>
                      </p:childTnLst>
                    </p:cTn>
                  </p:par>
                  <p:par>
                    <p:cTn id="12" fill="hold">
                      <p:stCondLst>
                        <p:cond delay="indefinite"/>
                      </p:stCondLst>
                      <p:childTnLst>
                        <p:par>
                          <p:cTn id="13" fill="hold">
                            <p:stCondLst>
                              <p:cond delay="0"/>
                            </p:stCondLst>
                            <p:childTnLst>
                              <p:par>
                                <p:cTn xmlns:p="http://schemas.openxmlformats.org/presentationml/2006/main" id="14" presetID="22" presetClass="entr" presetSubtype="2" fill="hold" grpId="0"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right)">
                                      <p:cBhvr>
                                        <p:cTn id="16" dur="800"/>
                                        <p:tgtEl>
                                          <p:spTgt spid="25"/>
                                        </p:tgtEl>
                                      </p:cBhvr>
                                    </p:animEffect>
                                  </p:childTnLst>
                                </p:cTn>
                              </p:par>
                            </p:childTnLst>
                          </p:cTn>
                        </p:par>
                      </p:childTnLst>
                    </p:cTn>
                  </p:par>
                  <p:par>
                    <p:cTn id="17" fill="hold">
                      <p:stCondLst>
                        <p:cond delay="indefinite"/>
                      </p:stCondLst>
                      <p:childTnLst>
                        <p:par>
                          <p:cTn id="18" fill="hold">
                            <p:stCondLst>
                              <p:cond delay="0"/>
                            </p:stCondLst>
                            <p:childTnLst>
                              <p:par>
                                <p:cTn xmlns:p="http://schemas.openxmlformats.org/presentationml/2006/main" id="19" presetID="10"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00"/>
                                        <p:tgtEl>
                                          <p:spTgt spid="27"/>
                                        </p:tgtEl>
                                      </p:cBhvr>
                                    </p:animEffect>
                                  </p:childTnLst>
                                </p:cTn>
                              </p:par>
                            </p:childTnLst>
                          </p:cTn>
                        </p:par>
                        <p:par>
                          <p:cTn id="22" fill="hold">
                            <p:stCondLst>
                              <p:cond delay="500"/>
                            </p:stCondLst>
                            <p:childTnLst>
                              <p:par>
                                <p:cTn xmlns:p="http://schemas.openxmlformats.org/presentationml/2006/main" id="23" presetID="10" presetClass="entr" presetSubtype="0" fill="hold" grpId="0" nodeType="afterEffect">
                                  <p:stCondLst>
                                    <p:cond delay="15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5884" y="590074"/>
            <a:ext cx="10986516" cy="827627"/>
            <a:chOff x="595884" y="590074"/>
            <a:chExt cx="10986516" cy="827627"/>
          </a:xfrm>
        </p:grpSpPr>
        <p:sp>
          <p:nvSpPr>
            <p:cNvPr id="2" name="Rectangle 2"/>
            <p:cNvSpPr/>
            <p:nvPr/>
          </p:nvSpPr>
          <p:spPr>
            <a:xfrm>
              <a:off x="609600" y="590550"/>
              <a:ext cx="266700" cy="28575"/>
            </a:xfrm>
            <a:prstGeom prst="rect">
              <a:avLst/>
            </a:prstGeom>
            <a:solidFill>
              <a:schemeClr val="accent2"/>
            </a:solidFill>
            <a:ln>
              <a:noFill/>
            </a:ln>
          </p:spPr>
        </p:sp>
        <p:sp>
          <p:nvSpPr>
            <p:cNvPr id="3" name="TextBox 3"/>
            <p:cNvSpPr txBox="1"/>
            <p:nvPr/>
          </p:nvSpPr>
          <p:spPr>
            <a:xfrm>
              <a:off x="985647" y="590074"/>
              <a:ext cx="1031189" cy="190690"/>
            </a:xfrm>
            <a:prstGeom prst="rect">
              <a:avLst/>
            </a:prstGeom>
            <a:noFill/>
            <a:ln>
              <a:noFill/>
            </a:ln>
          </p:spPr>
          <p:txBody>
            <a:bodyPr wrap="none" lIns="0" tIns="0" rIns="0" bIns="0" anchor="t" anchorCtr="0">
              <a:spAutoFit/>
            </a:bodyPr>
            <a:lstStyle/>
            <a:p>
              <a:pPr algn="l"/>
              <a:r>
                <a:rPr lang="en" sz="980" spc="188" dirty="0">
                  <a:solidFill>
                    <a:schemeClr val="accent2"/>
                  </a:solidFill>
                  <a:latin typeface="+mn-lt"/>
                  <a:ea typeface="+mn-ea"/>
                  <a:cs typeface="+mn-cs"/>
                </a:rPr>
                <a:t>MOTIVATION</a:t>
              </a:r>
            </a:p>
          </p:txBody>
        </p:sp>
        <p:sp>
          <p:nvSpPr>
            <p:cNvPr id="4" name="TextBox 4"/>
            <p:cNvSpPr txBox="1"/>
            <p:nvPr/>
          </p:nvSpPr>
          <p:spPr>
            <a:xfrm>
              <a:off x="595884" y="889635"/>
              <a:ext cx="5826318" cy="528066"/>
            </a:xfrm>
            <a:prstGeom prst="rect">
              <a:avLst/>
            </a:prstGeom>
            <a:noFill/>
            <a:ln>
              <a:noFill/>
            </a:ln>
          </p:spPr>
          <p:txBody>
            <a:bodyPr wrap="none" lIns="0" tIns="0" rIns="0" bIns="0" anchor="t" anchorCtr="0">
              <a:spAutoFit/>
            </a:bodyPr>
            <a:lstStyle/>
            <a:p>
              <a:pPr algn="l"/>
              <a:r>
                <a:rPr lang="en" sz="2700" dirty="0">
                  <a:solidFill>
                    <a:schemeClr val="accent1"/>
                  </a:solidFill>
                  <a:latin typeface="+mj-lt"/>
                  <a:ea typeface="+mj-ea"/>
                  <a:cs typeface="+mj-cs"/>
                </a:rPr>
                <a:t>Why One Sensor Is Not Enough</a:t>
              </a:r>
            </a:p>
          </p:txBody>
        </p:sp>
        <p:sp>
          <p:nvSpPr>
            <p:cNvPr id="5" name="Line 5"/>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0" name="Group 20"/>
          <p:cNvGrpSpPr/>
          <p:nvPr/>
        </p:nvGrpSpPr>
        <p:grpSpPr>
          <a:xfrm>
            <a:off x="685800" y="1562100"/>
            <a:ext cx="4876800" cy="2095500"/>
            <a:chOff x="685800" y="1562100"/>
            <a:chExt cx="4876800" cy="2095500"/>
          </a:xfrm>
        </p:grpSpPr>
        <p:sp>
          <p:nvSpPr>
            <p:cNvPr id="7" name="Rectangle 7"/>
            <p:cNvSpPr/>
            <p:nvPr/>
          </p:nvSpPr>
          <p:spPr>
            <a:xfrm>
              <a:off x="685800" y="1562100"/>
              <a:ext cx="4876800" cy="2095500"/>
            </a:xfrm>
            <a:prstGeom prst="roundRect">
              <a:avLst>
                <a:gd name="adj" fmla="val 2727"/>
              </a:avLst>
            </a:prstGeom>
            <a:solidFill>
              <a:schemeClr val="lt2"/>
            </a:solidFill>
            <a:ln>
              <a:noFill/>
            </a:ln>
          </p:spPr>
        </p:sp>
        <p:grpSp>
          <p:nvGrpSpPr>
            <p:cNvPr id="10" name="Group 10"/>
            <p:cNvGrpSpPr/>
            <p:nvPr/>
          </p:nvGrpSpPr>
          <p:grpSpPr>
            <a:xfrm>
              <a:off x="939403" y="1785938"/>
              <a:ext cx="216694" cy="191691"/>
              <a:chOff x="939403" y="1785938"/>
              <a:chExt cx="216694" cy="191691"/>
            </a:xfrm>
          </p:grpSpPr>
          <p:sp>
            <p:nvSpPr>
              <p:cNvPr id="8" name="Freeform 8"/>
              <p:cNvSpPr/>
              <p:nvPr/>
            </p:nvSpPr>
            <p:spPr>
              <a:xfrm>
                <a:off x="947738" y="1794272"/>
                <a:ext cx="200025" cy="175022"/>
              </a:xfrm>
              <a:custGeom>
                <a:avLst/>
                <a:gdLst/>
                <a:ahLst/>
                <a:cxnLst/>
                <a:rect l="l" t="t" r="r" b="b"/>
                <a:pathLst>
                  <a:path w="200025" h="175022">
                    <a:moveTo>
                      <a:pt x="183356" y="25003"/>
                    </a:moveTo>
                    <a:lnTo>
                      <a:pt x="150019" y="25003"/>
                    </a:lnTo>
                    <a:lnTo>
                      <a:pt x="133350" y="0"/>
                    </a:lnTo>
                    <a:lnTo>
                      <a:pt x="66675" y="0"/>
                    </a:lnTo>
                    <a:lnTo>
                      <a:pt x="50006" y="25003"/>
                    </a:lnTo>
                    <a:lnTo>
                      <a:pt x="16669" y="25003"/>
                    </a:lnTo>
                    <a:cubicBezTo>
                      <a:pt x="7463" y="25003"/>
                      <a:pt x="0" y="32466"/>
                      <a:pt x="0" y="41672"/>
                    </a:cubicBezTo>
                    <a:lnTo>
                      <a:pt x="0" y="158353"/>
                    </a:lnTo>
                    <a:cubicBezTo>
                      <a:pt x="0" y="167559"/>
                      <a:pt x="7463" y="175022"/>
                      <a:pt x="16669" y="175022"/>
                    </a:cubicBezTo>
                    <a:lnTo>
                      <a:pt x="183356" y="175022"/>
                    </a:lnTo>
                    <a:cubicBezTo>
                      <a:pt x="192562" y="175022"/>
                      <a:pt x="200025" y="167559"/>
                      <a:pt x="200025" y="158353"/>
                    </a:cubicBezTo>
                    <a:lnTo>
                      <a:pt x="200025" y="41672"/>
                    </a:lnTo>
                    <a:cubicBezTo>
                      <a:pt x="200025" y="32466"/>
                      <a:pt x="192562" y="25003"/>
                      <a:pt x="183356" y="25003"/>
                    </a:cubicBezTo>
                    <a:close/>
                    <a:moveTo>
                      <a:pt x="100012" y="133350"/>
                    </a:moveTo>
                    <a:cubicBezTo>
                      <a:pt x="79299" y="133350"/>
                      <a:pt x="62508" y="116559"/>
                      <a:pt x="62508" y="95845"/>
                    </a:cubicBezTo>
                    <a:cubicBezTo>
                      <a:pt x="62508" y="75132"/>
                      <a:pt x="79299" y="58341"/>
                      <a:pt x="100012" y="58341"/>
                    </a:cubicBezTo>
                    <a:cubicBezTo>
                      <a:pt x="120726" y="58341"/>
                      <a:pt x="137517" y="75132"/>
                      <a:pt x="137517" y="95845"/>
                    </a:cubicBezTo>
                    <a:cubicBezTo>
                      <a:pt x="137517" y="116559"/>
                      <a:pt x="120726" y="133350"/>
                      <a:pt x="100012" y="133350"/>
                    </a:cubicBezTo>
                    <a:close/>
                  </a:path>
                </a:pathLst>
              </a:custGeom>
              <a:solidFill>
                <a:schemeClr val="accent1">
                  <a:alpha val="20000"/>
                </a:schemeClr>
              </a:solidFill>
              <a:ln>
                <a:noFill/>
              </a:ln>
            </p:spPr>
          </p:sp>
          <p:sp>
            <p:nvSpPr>
              <p:cNvPr id="9" name="Freeform 9"/>
              <p:cNvSpPr/>
              <p:nvPr/>
            </p:nvSpPr>
            <p:spPr>
              <a:xfrm>
                <a:off x="939403" y="1785938"/>
                <a:ext cx="216694" cy="191691"/>
              </a:xfrm>
              <a:custGeom>
                <a:avLst/>
                <a:gdLst/>
                <a:ahLst/>
                <a:cxnLst/>
                <a:rect l="l" t="t" r="r" b="b"/>
                <a:pathLst>
                  <a:path w="216694" h="191691">
                    <a:moveTo>
                      <a:pt x="191691" y="25003"/>
                    </a:moveTo>
                    <a:lnTo>
                      <a:pt x="162812" y="25003"/>
                    </a:lnTo>
                    <a:lnTo>
                      <a:pt x="148612" y="3709"/>
                    </a:lnTo>
                    <a:cubicBezTo>
                      <a:pt x="147067" y="1393"/>
                      <a:pt x="144468" y="2"/>
                      <a:pt x="141684" y="0"/>
                    </a:cubicBezTo>
                    <a:lnTo>
                      <a:pt x="75009" y="0"/>
                    </a:lnTo>
                    <a:cubicBezTo>
                      <a:pt x="72226" y="2"/>
                      <a:pt x="69626" y="1393"/>
                      <a:pt x="68081" y="3709"/>
                    </a:cubicBezTo>
                    <a:lnTo>
                      <a:pt x="53871" y="25003"/>
                    </a:lnTo>
                    <a:lnTo>
                      <a:pt x="25003" y="25003"/>
                    </a:lnTo>
                    <a:cubicBezTo>
                      <a:pt x="11194" y="25003"/>
                      <a:pt x="0" y="36197"/>
                      <a:pt x="0" y="50006"/>
                    </a:cubicBezTo>
                    <a:lnTo>
                      <a:pt x="0" y="166688"/>
                    </a:lnTo>
                    <a:cubicBezTo>
                      <a:pt x="0" y="180496"/>
                      <a:pt x="11194" y="191691"/>
                      <a:pt x="25003" y="191691"/>
                    </a:cubicBezTo>
                    <a:lnTo>
                      <a:pt x="191691" y="191691"/>
                    </a:lnTo>
                    <a:cubicBezTo>
                      <a:pt x="205499" y="191691"/>
                      <a:pt x="216694" y="180496"/>
                      <a:pt x="216694" y="166688"/>
                    </a:cubicBezTo>
                    <a:lnTo>
                      <a:pt x="216694" y="50006"/>
                    </a:lnTo>
                    <a:cubicBezTo>
                      <a:pt x="216694" y="36197"/>
                      <a:pt x="205499" y="25003"/>
                      <a:pt x="191691" y="25003"/>
                    </a:cubicBezTo>
                    <a:close/>
                    <a:moveTo>
                      <a:pt x="200025" y="166688"/>
                    </a:moveTo>
                    <a:cubicBezTo>
                      <a:pt x="200025" y="171290"/>
                      <a:pt x="196294" y="175022"/>
                      <a:pt x="191691" y="175022"/>
                    </a:cubicBezTo>
                    <a:lnTo>
                      <a:pt x="25003" y="175022"/>
                    </a:lnTo>
                    <a:cubicBezTo>
                      <a:pt x="20400" y="175022"/>
                      <a:pt x="16669" y="171290"/>
                      <a:pt x="16669" y="166688"/>
                    </a:cubicBezTo>
                    <a:lnTo>
                      <a:pt x="16669" y="50006"/>
                    </a:lnTo>
                    <a:cubicBezTo>
                      <a:pt x="16669" y="45403"/>
                      <a:pt x="20400" y="41672"/>
                      <a:pt x="25003" y="41672"/>
                    </a:cubicBezTo>
                    <a:lnTo>
                      <a:pt x="58341" y="41672"/>
                    </a:lnTo>
                    <a:cubicBezTo>
                      <a:pt x="61128" y="41674"/>
                      <a:pt x="63732" y="40282"/>
                      <a:pt x="65279" y="37963"/>
                    </a:cubicBezTo>
                    <a:lnTo>
                      <a:pt x="79468" y="16669"/>
                    </a:lnTo>
                    <a:lnTo>
                      <a:pt x="137215" y="16669"/>
                    </a:lnTo>
                    <a:lnTo>
                      <a:pt x="151415" y="37963"/>
                    </a:lnTo>
                    <a:cubicBezTo>
                      <a:pt x="152962" y="40282"/>
                      <a:pt x="155566" y="41674"/>
                      <a:pt x="158353" y="41672"/>
                    </a:cubicBezTo>
                    <a:lnTo>
                      <a:pt x="191691" y="41672"/>
                    </a:lnTo>
                    <a:cubicBezTo>
                      <a:pt x="196294" y="41672"/>
                      <a:pt x="200025" y="45403"/>
                      <a:pt x="200025" y="50006"/>
                    </a:cubicBezTo>
                    <a:close/>
                    <a:moveTo>
                      <a:pt x="108347" y="58341"/>
                    </a:moveTo>
                    <a:cubicBezTo>
                      <a:pt x="83031" y="58341"/>
                      <a:pt x="62508" y="78863"/>
                      <a:pt x="62508" y="104180"/>
                    </a:cubicBezTo>
                    <a:cubicBezTo>
                      <a:pt x="62508" y="129496"/>
                      <a:pt x="83031" y="150019"/>
                      <a:pt x="108347" y="150019"/>
                    </a:cubicBezTo>
                    <a:cubicBezTo>
                      <a:pt x="133663" y="150019"/>
                      <a:pt x="154186" y="129496"/>
                      <a:pt x="154186" y="104180"/>
                    </a:cubicBezTo>
                    <a:cubicBezTo>
                      <a:pt x="154157" y="78875"/>
                      <a:pt x="133651" y="58369"/>
                      <a:pt x="108347" y="58341"/>
                    </a:cubicBezTo>
                    <a:close/>
                    <a:moveTo>
                      <a:pt x="108347" y="133350"/>
                    </a:moveTo>
                    <a:cubicBezTo>
                      <a:pt x="92237" y="133350"/>
                      <a:pt x="79177" y="120290"/>
                      <a:pt x="79177" y="104180"/>
                    </a:cubicBezTo>
                    <a:cubicBezTo>
                      <a:pt x="79177" y="88069"/>
                      <a:pt x="92237" y="75009"/>
                      <a:pt x="108347" y="75009"/>
                    </a:cubicBezTo>
                    <a:cubicBezTo>
                      <a:pt x="124457" y="75009"/>
                      <a:pt x="137517" y="88069"/>
                      <a:pt x="137517" y="104180"/>
                    </a:cubicBezTo>
                    <a:cubicBezTo>
                      <a:pt x="137517" y="120290"/>
                      <a:pt x="124457" y="133350"/>
                      <a:pt x="108347" y="133350"/>
                    </a:cubicBezTo>
                    <a:close/>
                  </a:path>
                </a:pathLst>
              </a:custGeom>
              <a:solidFill>
                <a:schemeClr val="accent1"/>
              </a:solidFill>
              <a:ln>
                <a:noFill/>
              </a:ln>
            </p:spPr>
          </p:sp>
        </p:grpSp>
        <p:sp>
          <p:nvSpPr>
            <p:cNvPr id="11" name="TextBox 11"/>
            <p:cNvSpPr txBox="1"/>
            <p:nvPr/>
          </p:nvSpPr>
          <p:spPr>
            <a:xfrm>
              <a:off x="1287780" y="1790700"/>
              <a:ext cx="764334"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Camera</a:t>
              </a:r>
            </a:p>
          </p:txBody>
        </p:sp>
        <p:sp>
          <p:nvSpPr>
            <p:cNvPr id="12" name="Line 12"/>
            <p:cNvSpPr/>
            <p:nvPr/>
          </p:nvSpPr>
          <p:spPr>
            <a:xfrm>
              <a:off x="914400" y="2114550"/>
              <a:ext cx="4419600" cy="9525"/>
            </a:xfrm>
            <a:custGeom>
              <a:avLst/>
              <a:gdLst/>
              <a:ahLst/>
              <a:cxnLst/>
              <a:rect l="l" t="t" r="r" b="b"/>
              <a:pathLst>
                <a:path w="4419600" h="9525">
                  <a:moveTo>
                    <a:pt x="0" y="0"/>
                  </a:moveTo>
                  <a:lnTo>
                    <a:pt x="4419600" y="0"/>
                  </a:lnTo>
                </a:path>
              </a:pathLst>
            </a:custGeom>
            <a:noFill/>
            <a:ln w="9525">
              <a:solidFill>
                <a:schemeClr val="accent6"/>
              </a:solidFill>
            </a:ln>
          </p:spPr>
        </p:sp>
        <p:grpSp>
          <p:nvGrpSpPr>
            <p:cNvPr id="19" name="Group 19"/>
            <p:cNvGrpSpPr/>
            <p:nvPr/>
          </p:nvGrpSpPr>
          <p:grpSpPr>
            <a:xfrm>
              <a:off x="962025" y="2295525"/>
              <a:ext cx="3566983" cy="1055370"/>
              <a:chOff x="962025" y="2295525"/>
              <a:chExt cx="3566983" cy="1055370"/>
            </a:xfrm>
          </p:grpSpPr>
          <p:sp>
            <p:nvSpPr>
              <p:cNvPr id="13" name="Ellipse 13"/>
              <p:cNvSpPr/>
              <p:nvPr/>
            </p:nvSpPr>
            <p:spPr>
              <a:xfrm>
                <a:off x="962025" y="2371725"/>
                <a:ext cx="57150" cy="57150"/>
              </a:xfrm>
              <a:prstGeom prst="ellipse">
                <a:avLst/>
              </a:prstGeom>
              <a:solidFill>
                <a:schemeClr val="accent2"/>
              </a:solidFill>
              <a:ln>
                <a:noFill/>
              </a:ln>
            </p:spPr>
          </p:sp>
          <p:sp>
            <p:nvSpPr>
              <p:cNvPr id="14" name="TextBox 14"/>
              <p:cNvSpPr txBox="1"/>
              <p:nvPr/>
            </p:nvSpPr>
            <p:spPr>
              <a:xfrm>
                <a:off x="1135380" y="2295525"/>
                <a:ext cx="2728064"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Sees posture and movement</a:t>
                </a:r>
              </a:p>
            </p:txBody>
          </p:sp>
          <p:sp>
            <p:nvSpPr>
              <p:cNvPr id="15" name="Ellipse 15"/>
              <p:cNvSpPr/>
              <p:nvPr/>
            </p:nvSpPr>
            <p:spPr>
              <a:xfrm>
                <a:off x="962025" y="2752725"/>
                <a:ext cx="57150" cy="57150"/>
              </a:xfrm>
              <a:prstGeom prst="ellipse">
                <a:avLst/>
              </a:prstGeom>
              <a:solidFill>
                <a:schemeClr val="accent2"/>
              </a:solidFill>
              <a:ln>
                <a:noFill/>
              </a:ln>
            </p:spPr>
          </p:sp>
          <p:sp>
            <p:nvSpPr>
              <p:cNvPr id="16" name="TextBox 16"/>
              <p:cNvSpPr txBox="1"/>
              <p:nvPr/>
            </p:nvSpPr>
            <p:spPr>
              <a:xfrm>
                <a:off x="1135380" y="2676525"/>
                <a:ext cx="2313632"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Provides scene context</a:t>
                </a:r>
              </a:p>
            </p:txBody>
          </p:sp>
          <p:sp>
            <p:nvSpPr>
              <p:cNvPr id="17" name="Ellipse 17"/>
              <p:cNvSpPr/>
              <p:nvPr/>
            </p:nvSpPr>
            <p:spPr>
              <a:xfrm>
                <a:off x="962025" y="3133725"/>
                <a:ext cx="57150" cy="57150"/>
              </a:xfrm>
              <a:prstGeom prst="ellipse">
                <a:avLst/>
              </a:prstGeom>
              <a:solidFill>
                <a:schemeClr val="accent2"/>
              </a:solidFill>
              <a:ln>
                <a:noFill/>
              </a:ln>
            </p:spPr>
          </p:sp>
          <p:sp>
            <p:nvSpPr>
              <p:cNvPr id="18" name="TextBox 18"/>
              <p:cNvSpPr txBox="1"/>
              <p:nvPr/>
            </p:nvSpPr>
            <p:spPr>
              <a:xfrm>
                <a:off x="1135380" y="3057525"/>
                <a:ext cx="3393628"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Depends on viewpoint and visibility</a:t>
                </a:r>
              </a:p>
            </p:txBody>
          </p:sp>
        </p:grpSp>
      </p:grpSp>
      <p:grpSp>
        <p:nvGrpSpPr>
          <p:cNvPr id="34" name="Group 34"/>
          <p:cNvGrpSpPr/>
          <p:nvPr/>
        </p:nvGrpSpPr>
        <p:grpSpPr>
          <a:xfrm>
            <a:off x="6629400" y="1562100"/>
            <a:ext cx="4876800" cy="2095500"/>
            <a:chOff x="6629400" y="1562100"/>
            <a:chExt cx="4876800" cy="2095500"/>
          </a:xfrm>
        </p:grpSpPr>
        <p:sp>
          <p:nvSpPr>
            <p:cNvPr id="21" name="Rectangle 21"/>
            <p:cNvSpPr/>
            <p:nvPr/>
          </p:nvSpPr>
          <p:spPr>
            <a:xfrm>
              <a:off x="6629400" y="1562100"/>
              <a:ext cx="4876800" cy="2095500"/>
            </a:xfrm>
            <a:prstGeom prst="roundRect">
              <a:avLst>
                <a:gd name="adj" fmla="val 2727"/>
              </a:avLst>
            </a:prstGeom>
            <a:solidFill>
              <a:schemeClr val="lt2"/>
            </a:solidFill>
            <a:ln>
              <a:noFill/>
            </a:ln>
          </p:spPr>
        </p:sp>
        <p:grpSp>
          <p:nvGrpSpPr>
            <p:cNvPr id="24" name="Group 24"/>
            <p:cNvGrpSpPr/>
            <p:nvPr/>
          </p:nvGrpSpPr>
          <p:grpSpPr>
            <a:xfrm>
              <a:off x="6908004" y="1769269"/>
              <a:ext cx="166690" cy="233362"/>
              <a:chOff x="6908004" y="1769269"/>
              <a:chExt cx="166690" cy="233362"/>
            </a:xfrm>
          </p:grpSpPr>
          <p:sp>
            <p:nvSpPr>
              <p:cNvPr id="22" name="Freeform 22"/>
              <p:cNvSpPr/>
              <p:nvPr/>
            </p:nvSpPr>
            <p:spPr>
              <a:xfrm>
                <a:off x="6916341" y="1810941"/>
                <a:ext cx="150019" cy="150019"/>
              </a:xfrm>
              <a:custGeom>
                <a:avLst/>
                <a:gdLst/>
                <a:ahLst/>
                <a:cxnLst/>
                <a:rect l="l" t="t" r="r" b="b"/>
                <a:pathLst>
                  <a:path w="150019" h="150019">
                    <a:moveTo>
                      <a:pt x="150019" y="75009"/>
                    </a:moveTo>
                    <a:cubicBezTo>
                      <a:pt x="150019" y="116436"/>
                      <a:pt x="116436" y="150019"/>
                      <a:pt x="75009" y="150019"/>
                    </a:cubicBezTo>
                    <a:cubicBezTo>
                      <a:pt x="33583" y="150019"/>
                      <a:pt x="0" y="116436"/>
                      <a:pt x="0" y="75009"/>
                    </a:cubicBezTo>
                    <a:cubicBezTo>
                      <a:pt x="0" y="33583"/>
                      <a:pt x="33583" y="0"/>
                      <a:pt x="75009" y="0"/>
                    </a:cubicBezTo>
                    <a:cubicBezTo>
                      <a:pt x="116436" y="0"/>
                      <a:pt x="150019" y="33583"/>
                      <a:pt x="150019" y="75009"/>
                    </a:cubicBezTo>
                    <a:close/>
                  </a:path>
                </a:pathLst>
              </a:custGeom>
              <a:solidFill>
                <a:schemeClr val="accent1">
                  <a:alpha val="20000"/>
                </a:schemeClr>
              </a:solidFill>
              <a:ln>
                <a:noFill/>
              </a:ln>
            </p:spPr>
          </p:sp>
          <p:sp>
            <p:nvSpPr>
              <p:cNvPr id="23" name="Freeform 23"/>
              <p:cNvSpPr/>
              <p:nvPr/>
            </p:nvSpPr>
            <p:spPr>
              <a:xfrm>
                <a:off x="6908004" y="1769269"/>
                <a:ext cx="166690" cy="233362"/>
              </a:xfrm>
              <a:custGeom>
                <a:avLst/>
                <a:gdLst/>
                <a:ahLst/>
                <a:cxnLst/>
                <a:rect l="l" t="t" r="r" b="b"/>
                <a:pathLst>
                  <a:path w="166690" h="233362">
                    <a:moveTo>
                      <a:pt x="166690" y="116681"/>
                    </a:moveTo>
                    <a:cubicBezTo>
                      <a:pt x="166684" y="90144"/>
                      <a:pt x="154031" y="65199"/>
                      <a:pt x="132623" y="49517"/>
                    </a:cubicBezTo>
                    <a:lnTo>
                      <a:pt x="126122" y="13700"/>
                    </a:lnTo>
                    <a:cubicBezTo>
                      <a:pt x="124687" y="5769"/>
                      <a:pt x="117783" y="2"/>
                      <a:pt x="109724" y="0"/>
                    </a:cubicBezTo>
                    <a:lnTo>
                      <a:pt x="56968" y="0"/>
                    </a:lnTo>
                    <a:cubicBezTo>
                      <a:pt x="48909" y="2"/>
                      <a:pt x="42005" y="5769"/>
                      <a:pt x="40570" y="13700"/>
                    </a:cubicBezTo>
                    <a:lnTo>
                      <a:pt x="34069" y="49517"/>
                    </a:lnTo>
                    <a:cubicBezTo>
                      <a:pt x="12655" y="65194"/>
                      <a:pt x="0" y="90142"/>
                      <a:pt x="0" y="116681"/>
                    </a:cubicBezTo>
                    <a:cubicBezTo>
                      <a:pt x="0" y="143220"/>
                      <a:pt x="12655" y="168169"/>
                      <a:pt x="34069" y="183846"/>
                    </a:cubicBezTo>
                    <a:lnTo>
                      <a:pt x="40570" y="219663"/>
                    </a:lnTo>
                    <a:cubicBezTo>
                      <a:pt x="42005" y="227593"/>
                      <a:pt x="48909" y="233360"/>
                      <a:pt x="56968" y="233362"/>
                    </a:cubicBezTo>
                    <a:lnTo>
                      <a:pt x="109724" y="233362"/>
                    </a:lnTo>
                    <a:cubicBezTo>
                      <a:pt x="117783" y="233360"/>
                      <a:pt x="124687" y="227593"/>
                      <a:pt x="126122" y="219663"/>
                    </a:cubicBezTo>
                    <a:lnTo>
                      <a:pt x="132623" y="183846"/>
                    </a:lnTo>
                    <a:cubicBezTo>
                      <a:pt x="154031" y="168164"/>
                      <a:pt x="166684" y="143218"/>
                      <a:pt x="166690" y="116681"/>
                    </a:cubicBezTo>
                    <a:close/>
                    <a:moveTo>
                      <a:pt x="56968" y="16669"/>
                    </a:moveTo>
                    <a:lnTo>
                      <a:pt x="109724" y="16669"/>
                    </a:lnTo>
                    <a:lnTo>
                      <a:pt x="113798" y="39119"/>
                    </a:lnTo>
                    <a:cubicBezTo>
                      <a:pt x="94228" y="31410"/>
                      <a:pt x="72464" y="31410"/>
                      <a:pt x="52894" y="39119"/>
                    </a:cubicBezTo>
                    <a:close/>
                    <a:moveTo>
                      <a:pt x="16671" y="116681"/>
                    </a:moveTo>
                    <a:cubicBezTo>
                      <a:pt x="16671" y="79858"/>
                      <a:pt x="46522" y="50006"/>
                      <a:pt x="83346" y="50006"/>
                    </a:cubicBezTo>
                    <a:cubicBezTo>
                      <a:pt x="120170" y="50006"/>
                      <a:pt x="150021" y="79858"/>
                      <a:pt x="150021" y="116681"/>
                    </a:cubicBezTo>
                    <a:cubicBezTo>
                      <a:pt x="150021" y="153505"/>
                      <a:pt x="120170" y="183356"/>
                      <a:pt x="83346" y="183356"/>
                    </a:cubicBezTo>
                    <a:cubicBezTo>
                      <a:pt x="46539" y="183316"/>
                      <a:pt x="16711" y="153488"/>
                      <a:pt x="16671" y="116681"/>
                    </a:cubicBezTo>
                    <a:close/>
                    <a:moveTo>
                      <a:pt x="109724" y="216694"/>
                    </a:moveTo>
                    <a:lnTo>
                      <a:pt x="56968" y="216694"/>
                    </a:lnTo>
                    <a:lnTo>
                      <a:pt x="52894" y="194243"/>
                    </a:lnTo>
                    <a:cubicBezTo>
                      <a:pt x="72464" y="201952"/>
                      <a:pt x="94228" y="201952"/>
                      <a:pt x="113798" y="194243"/>
                    </a:cubicBezTo>
                    <a:close/>
                    <a:moveTo>
                      <a:pt x="75012" y="116681"/>
                    </a:moveTo>
                    <a:lnTo>
                      <a:pt x="75012" y="75009"/>
                    </a:lnTo>
                    <a:cubicBezTo>
                      <a:pt x="75012" y="70406"/>
                      <a:pt x="78743" y="66675"/>
                      <a:pt x="83346" y="66675"/>
                    </a:cubicBezTo>
                    <a:cubicBezTo>
                      <a:pt x="87949" y="66675"/>
                      <a:pt x="91680" y="70406"/>
                      <a:pt x="91680" y="75009"/>
                    </a:cubicBezTo>
                    <a:lnTo>
                      <a:pt x="91680" y="108347"/>
                    </a:lnTo>
                    <a:lnTo>
                      <a:pt x="125018" y="108347"/>
                    </a:lnTo>
                    <a:cubicBezTo>
                      <a:pt x="129621" y="108347"/>
                      <a:pt x="133352" y="112078"/>
                      <a:pt x="133352" y="116681"/>
                    </a:cubicBezTo>
                    <a:cubicBezTo>
                      <a:pt x="133352" y="121284"/>
                      <a:pt x="129621" y="125016"/>
                      <a:pt x="125018" y="125016"/>
                    </a:cubicBezTo>
                    <a:lnTo>
                      <a:pt x="83346" y="125016"/>
                    </a:lnTo>
                    <a:cubicBezTo>
                      <a:pt x="78743" y="125016"/>
                      <a:pt x="75012" y="121284"/>
                      <a:pt x="75012" y="116681"/>
                    </a:cubicBezTo>
                    <a:close/>
                  </a:path>
                </a:pathLst>
              </a:custGeom>
              <a:solidFill>
                <a:schemeClr val="accent1"/>
              </a:solidFill>
              <a:ln>
                <a:noFill/>
              </a:ln>
            </p:spPr>
          </p:sp>
        </p:grpSp>
        <p:sp>
          <p:nvSpPr>
            <p:cNvPr id="25" name="TextBox 25"/>
            <p:cNvSpPr txBox="1"/>
            <p:nvPr/>
          </p:nvSpPr>
          <p:spPr>
            <a:xfrm>
              <a:off x="7231380" y="1790700"/>
              <a:ext cx="944081"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Wearable</a:t>
              </a:r>
            </a:p>
          </p:txBody>
        </p:sp>
        <p:sp>
          <p:nvSpPr>
            <p:cNvPr id="26" name="Line 26"/>
            <p:cNvSpPr/>
            <p:nvPr/>
          </p:nvSpPr>
          <p:spPr>
            <a:xfrm>
              <a:off x="6858000" y="2114550"/>
              <a:ext cx="4419600" cy="9525"/>
            </a:xfrm>
            <a:custGeom>
              <a:avLst/>
              <a:gdLst/>
              <a:ahLst/>
              <a:cxnLst/>
              <a:rect l="l" t="t" r="r" b="b"/>
              <a:pathLst>
                <a:path w="4419600" h="9525">
                  <a:moveTo>
                    <a:pt x="0" y="0"/>
                  </a:moveTo>
                  <a:lnTo>
                    <a:pt x="4419600" y="0"/>
                  </a:lnTo>
                </a:path>
              </a:pathLst>
            </a:custGeom>
            <a:noFill/>
            <a:ln w="9525">
              <a:solidFill>
                <a:schemeClr val="accent6"/>
              </a:solidFill>
            </a:ln>
          </p:spPr>
        </p:sp>
        <p:grpSp>
          <p:nvGrpSpPr>
            <p:cNvPr id="33" name="Group 33"/>
            <p:cNvGrpSpPr/>
            <p:nvPr/>
          </p:nvGrpSpPr>
          <p:grpSpPr>
            <a:xfrm>
              <a:off x="6905625" y="2295525"/>
              <a:ext cx="4172871" cy="1055370"/>
              <a:chOff x="6905625" y="2295525"/>
              <a:chExt cx="4172871" cy="1055370"/>
            </a:xfrm>
          </p:grpSpPr>
          <p:sp>
            <p:nvSpPr>
              <p:cNvPr id="27" name="Ellipse 27"/>
              <p:cNvSpPr/>
              <p:nvPr/>
            </p:nvSpPr>
            <p:spPr>
              <a:xfrm>
                <a:off x="6905625" y="2371725"/>
                <a:ext cx="57150" cy="57150"/>
              </a:xfrm>
              <a:prstGeom prst="ellipse">
                <a:avLst/>
              </a:prstGeom>
              <a:solidFill>
                <a:schemeClr val="accent2"/>
              </a:solidFill>
              <a:ln>
                <a:noFill/>
              </a:ln>
            </p:spPr>
          </p:sp>
          <p:sp>
            <p:nvSpPr>
              <p:cNvPr id="28" name="TextBox 28"/>
              <p:cNvSpPr txBox="1"/>
              <p:nvPr/>
            </p:nvSpPr>
            <p:spPr>
              <a:xfrm>
                <a:off x="7078980" y="2295525"/>
                <a:ext cx="2011287"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Moves with the user</a:t>
                </a:r>
              </a:p>
            </p:txBody>
          </p:sp>
          <p:sp>
            <p:nvSpPr>
              <p:cNvPr id="29" name="Ellipse 29"/>
              <p:cNvSpPr/>
              <p:nvPr/>
            </p:nvSpPr>
            <p:spPr>
              <a:xfrm>
                <a:off x="6905625" y="2752725"/>
                <a:ext cx="57150" cy="57150"/>
              </a:xfrm>
              <a:prstGeom prst="ellipse">
                <a:avLst/>
              </a:prstGeom>
              <a:solidFill>
                <a:schemeClr val="accent2"/>
              </a:solidFill>
              <a:ln>
                <a:noFill/>
              </a:ln>
            </p:spPr>
          </p:sp>
          <p:sp>
            <p:nvSpPr>
              <p:cNvPr id="30" name="TextBox 30"/>
              <p:cNvSpPr txBox="1"/>
              <p:nvPr/>
            </p:nvSpPr>
            <p:spPr>
              <a:xfrm>
                <a:off x="7078980" y="2676525"/>
                <a:ext cx="3999516"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Provides motion and physiological events</a:t>
                </a:r>
              </a:p>
            </p:txBody>
          </p:sp>
          <p:sp>
            <p:nvSpPr>
              <p:cNvPr id="31" name="Ellipse 31"/>
              <p:cNvSpPr/>
              <p:nvPr/>
            </p:nvSpPr>
            <p:spPr>
              <a:xfrm>
                <a:off x="6905625" y="3133725"/>
                <a:ext cx="57150" cy="57150"/>
              </a:xfrm>
              <a:prstGeom prst="ellipse">
                <a:avLst/>
              </a:prstGeom>
              <a:solidFill>
                <a:schemeClr val="accent2"/>
              </a:solidFill>
              <a:ln>
                <a:noFill/>
              </a:ln>
            </p:spPr>
          </p:sp>
          <p:sp>
            <p:nvSpPr>
              <p:cNvPr id="32" name="TextBox 32"/>
              <p:cNvSpPr txBox="1"/>
              <p:nvPr/>
            </p:nvSpPr>
            <p:spPr>
              <a:xfrm>
                <a:off x="7078980" y="3057525"/>
                <a:ext cx="3919174"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Adds evidence outside the camera image</a:t>
                </a:r>
              </a:p>
            </p:txBody>
          </p:sp>
        </p:grpSp>
      </p:grpSp>
      <p:grpSp>
        <p:nvGrpSpPr>
          <p:cNvPr id="37" name="Group 37"/>
          <p:cNvGrpSpPr/>
          <p:nvPr/>
        </p:nvGrpSpPr>
        <p:grpSpPr>
          <a:xfrm>
            <a:off x="3124200" y="3657600"/>
            <a:ext cx="5943600" cy="247650"/>
            <a:chOff x="3124200" y="3657600"/>
            <a:chExt cx="5943600" cy="247650"/>
          </a:xfrm>
        </p:grpSpPr>
        <p:sp>
          <p:nvSpPr>
            <p:cNvPr id="35" name="Line 35"/>
            <p:cNvSpPr/>
            <p:nvPr/>
          </p:nvSpPr>
          <p:spPr>
            <a:xfrm>
              <a:off x="3124200" y="3657600"/>
              <a:ext cx="2286000" cy="247650"/>
            </a:xfrm>
            <a:prstGeom prst="line">
              <a:avLst/>
            </a:prstGeom>
            <a:noFill/>
            <a:ln w="14288">
              <a:solidFill>
                <a:schemeClr val="accent2"/>
              </a:solidFill>
              <a:tailEnd type="triangle" w="lg" len="lg"/>
            </a:ln>
          </p:spPr>
        </p:sp>
        <p:sp>
          <p:nvSpPr>
            <p:cNvPr id="36" name="Line 36"/>
            <p:cNvSpPr/>
            <p:nvPr/>
          </p:nvSpPr>
          <p:spPr>
            <a:xfrm flipH="1">
              <a:off x="6781800" y="3657600"/>
              <a:ext cx="2286000" cy="247650"/>
            </a:xfrm>
            <a:prstGeom prst="line">
              <a:avLst/>
            </a:prstGeom>
            <a:noFill/>
            <a:ln w="14288">
              <a:solidFill>
                <a:schemeClr val="accent2"/>
              </a:solidFill>
              <a:tailEnd type="triangle" w="lg" len="lg"/>
            </a:ln>
          </p:spPr>
        </p:sp>
      </p:grpSp>
      <p:grpSp>
        <p:nvGrpSpPr>
          <p:cNvPr id="47" name="Group 47"/>
          <p:cNvGrpSpPr/>
          <p:nvPr/>
        </p:nvGrpSpPr>
        <p:grpSpPr>
          <a:xfrm>
            <a:off x="3048000" y="3924300"/>
            <a:ext cx="6096000" cy="1661351"/>
            <a:chOff x="3048000" y="3924300"/>
            <a:chExt cx="6096000" cy="1661351"/>
          </a:xfrm>
        </p:grpSpPr>
        <p:sp>
          <p:nvSpPr>
            <p:cNvPr id="38" name="Rectangle 38"/>
            <p:cNvSpPr/>
            <p:nvPr/>
          </p:nvSpPr>
          <p:spPr>
            <a:xfrm>
              <a:off x="3048000" y="3924300"/>
              <a:ext cx="6096000" cy="1600200"/>
            </a:xfrm>
            <a:prstGeom prst="roundRect">
              <a:avLst>
                <a:gd name="adj" fmla="val 3571"/>
              </a:avLst>
            </a:prstGeom>
            <a:solidFill>
              <a:srgbClr val="FFFFFF"/>
            </a:solidFill>
            <a:ln w="14288">
              <a:solidFill>
                <a:schemeClr val="accent1"/>
              </a:solidFill>
            </a:ln>
          </p:spPr>
        </p:sp>
        <p:grpSp>
          <p:nvGrpSpPr>
            <p:cNvPr id="41" name="Group 41"/>
            <p:cNvGrpSpPr/>
            <p:nvPr/>
          </p:nvGrpSpPr>
          <p:grpSpPr>
            <a:xfrm>
              <a:off x="5962650" y="4095750"/>
              <a:ext cx="266700" cy="266700"/>
              <a:chOff x="5962650" y="4095750"/>
              <a:chExt cx="266700" cy="266700"/>
            </a:xfrm>
          </p:grpSpPr>
          <p:sp>
            <p:nvSpPr>
              <p:cNvPr id="39" name="Freeform 39"/>
              <p:cNvSpPr/>
              <p:nvPr/>
            </p:nvSpPr>
            <p:spPr>
              <a:xfrm>
                <a:off x="6000750" y="4133850"/>
                <a:ext cx="190500" cy="190500"/>
              </a:xfrm>
              <a:custGeom>
                <a:avLst/>
                <a:gdLst/>
                <a:ahLst/>
                <a:cxnLst/>
                <a:rect l="l" t="t" r="r" b="b"/>
                <a:pathLst>
                  <a:path w="190500" h="190500">
                    <a:moveTo>
                      <a:pt x="180975" y="0"/>
                    </a:moveTo>
                    <a:lnTo>
                      <a:pt x="9525" y="0"/>
                    </a:lnTo>
                    <a:cubicBezTo>
                      <a:pt x="4264" y="0"/>
                      <a:pt x="0" y="4264"/>
                      <a:pt x="0" y="9525"/>
                    </a:cubicBezTo>
                    <a:lnTo>
                      <a:pt x="0" y="180975"/>
                    </a:lnTo>
                    <a:cubicBezTo>
                      <a:pt x="0" y="186236"/>
                      <a:pt x="4264" y="190500"/>
                      <a:pt x="9525" y="190500"/>
                    </a:cubicBezTo>
                    <a:lnTo>
                      <a:pt x="180975" y="190500"/>
                    </a:lnTo>
                    <a:cubicBezTo>
                      <a:pt x="186236" y="190500"/>
                      <a:pt x="190500" y="186236"/>
                      <a:pt x="190500" y="180975"/>
                    </a:cubicBezTo>
                    <a:lnTo>
                      <a:pt x="190500" y="9525"/>
                    </a:lnTo>
                    <a:cubicBezTo>
                      <a:pt x="190500" y="4264"/>
                      <a:pt x="186236" y="0"/>
                      <a:pt x="180975" y="0"/>
                    </a:cubicBezTo>
                    <a:close/>
                    <a:moveTo>
                      <a:pt x="123825" y="123825"/>
                    </a:moveTo>
                    <a:lnTo>
                      <a:pt x="66675" y="123825"/>
                    </a:lnTo>
                    <a:lnTo>
                      <a:pt x="66675" y="66675"/>
                    </a:lnTo>
                    <a:lnTo>
                      <a:pt x="123825" y="66675"/>
                    </a:lnTo>
                    <a:close/>
                  </a:path>
                </a:pathLst>
              </a:custGeom>
              <a:solidFill>
                <a:schemeClr val="accent1">
                  <a:alpha val="20000"/>
                </a:schemeClr>
              </a:solidFill>
              <a:ln>
                <a:noFill/>
              </a:ln>
            </p:spPr>
          </p:sp>
          <p:sp>
            <p:nvSpPr>
              <p:cNvPr id="40" name="Freeform 40"/>
              <p:cNvSpPr/>
              <p:nvPr/>
            </p:nvSpPr>
            <p:spPr>
              <a:xfrm>
                <a:off x="5962650" y="4095750"/>
                <a:ext cx="266700" cy="266700"/>
              </a:xfrm>
              <a:custGeom>
                <a:avLst/>
                <a:gdLst/>
                <a:ahLst/>
                <a:cxnLst/>
                <a:rect l="l" t="t" r="r" b="b"/>
                <a:pathLst>
                  <a:path w="266700" h="266700">
                    <a:moveTo>
                      <a:pt x="161925" y="95250"/>
                    </a:moveTo>
                    <a:lnTo>
                      <a:pt x="104775" y="95250"/>
                    </a:lnTo>
                    <a:cubicBezTo>
                      <a:pt x="99514" y="95250"/>
                      <a:pt x="95250" y="99514"/>
                      <a:pt x="95250" y="104775"/>
                    </a:cubicBezTo>
                    <a:lnTo>
                      <a:pt x="95250" y="161925"/>
                    </a:lnTo>
                    <a:cubicBezTo>
                      <a:pt x="95250" y="167186"/>
                      <a:pt x="99514" y="171450"/>
                      <a:pt x="104775" y="171450"/>
                    </a:cubicBezTo>
                    <a:lnTo>
                      <a:pt x="161925" y="171450"/>
                    </a:lnTo>
                    <a:cubicBezTo>
                      <a:pt x="167186" y="171450"/>
                      <a:pt x="171450" y="167186"/>
                      <a:pt x="171450" y="161925"/>
                    </a:cubicBezTo>
                    <a:lnTo>
                      <a:pt x="171450" y="104775"/>
                    </a:lnTo>
                    <a:cubicBezTo>
                      <a:pt x="171450" y="99514"/>
                      <a:pt x="167186" y="95250"/>
                      <a:pt x="161925" y="95250"/>
                    </a:cubicBezTo>
                    <a:close/>
                    <a:moveTo>
                      <a:pt x="152400" y="152400"/>
                    </a:moveTo>
                    <a:lnTo>
                      <a:pt x="114300" y="152400"/>
                    </a:lnTo>
                    <a:lnTo>
                      <a:pt x="114300" y="114300"/>
                    </a:lnTo>
                    <a:lnTo>
                      <a:pt x="152400" y="114300"/>
                    </a:lnTo>
                    <a:close/>
                    <a:moveTo>
                      <a:pt x="257175" y="152400"/>
                    </a:moveTo>
                    <a:lnTo>
                      <a:pt x="238125" y="152400"/>
                    </a:lnTo>
                    <a:lnTo>
                      <a:pt x="238125" y="114300"/>
                    </a:lnTo>
                    <a:lnTo>
                      <a:pt x="257175" y="114300"/>
                    </a:lnTo>
                    <a:cubicBezTo>
                      <a:pt x="262436" y="114300"/>
                      <a:pt x="266700" y="110036"/>
                      <a:pt x="266700" y="104775"/>
                    </a:cubicBezTo>
                    <a:cubicBezTo>
                      <a:pt x="266700" y="99514"/>
                      <a:pt x="262436" y="95250"/>
                      <a:pt x="257175" y="95250"/>
                    </a:cubicBezTo>
                    <a:lnTo>
                      <a:pt x="238125" y="95250"/>
                    </a:lnTo>
                    <a:lnTo>
                      <a:pt x="238125" y="47625"/>
                    </a:lnTo>
                    <a:cubicBezTo>
                      <a:pt x="238125" y="37104"/>
                      <a:pt x="229596" y="28575"/>
                      <a:pt x="219075" y="28575"/>
                    </a:cubicBezTo>
                    <a:lnTo>
                      <a:pt x="171450" y="28575"/>
                    </a:lnTo>
                    <a:lnTo>
                      <a:pt x="171450" y="9525"/>
                    </a:lnTo>
                    <a:cubicBezTo>
                      <a:pt x="171450" y="4264"/>
                      <a:pt x="167186" y="0"/>
                      <a:pt x="161925" y="0"/>
                    </a:cubicBezTo>
                    <a:cubicBezTo>
                      <a:pt x="156664" y="0"/>
                      <a:pt x="152400" y="4264"/>
                      <a:pt x="152400" y="9525"/>
                    </a:cubicBezTo>
                    <a:lnTo>
                      <a:pt x="152400" y="28575"/>
                    </a:lnTo>
                    <a:lnTo>
                      <a:pt x="114300" y="28575"/>
                    </a:lnTo>
                    <a:lnTo>
                      <a:pt x="114300" y="9525"/>
                    </a:lnTo>
                    <a:cubicBezTo>
                      <a:pt x="114300" y="4264"/>
                      <a:pt x="110036" y="0"/>
                      <a:pt x="104775" y="0"/>
                    </a:cubicBezTo>
                    <a:cubicBezTo>
                      <a:pt x="99514" y="0"/>
                      <a:pt x="95250" y="4264"/>
                      <a:pt x="95250" y="9525"/>
                    </a:cubicBezTo>
                    <a:lnTo>
                      <a:pt x="95250" y="28575"/>
                    </a:lnTo>
                    <a:lnTo>
                      <a:pt x="47625" y="28575"/>
                    </a:lnTo>
                    <a:cubicBezTo>
                      <a:pt x="37104" y="28575"/>
                      <a:pt x="28575" y="37104"/>
                      <a:pt x="28575" y="47625"/>
                    </a:cubicBezTo>
                    <a:lnTo>
                      <a:pt x="28575" y="95250"/>
                    </a:lnTo>
                    <a:lnTo>
                      <a:pt x="9525" y="95250"/>
                    </a:lnTo>
                    <a:cubicBezTo>
                      <a:pt x="4264" y="95250"/>
                      <a:pt x="0" y="99514"/>
                      <a:pt x="0" y="104775"/>
                    </a:cubicBezTo>
                    <a:cubicBezTo>
                      <a:pt x="0" y="110036"/>
                      <a:pt x="4264" y="114300"/>
                      <a:pt x="9525" y="114300"/>
                    </a:cubicBezTo>
                    <a:lnTo>
                      <a:pt x="28575" y="114300"/>
                    </a:lnTo>
                    <a:lnTo>
                      <a:pt x="28575" y="152400"/>
                    </a:lnTo>
                    <a:lnTo>
                      <a:pt x="9525" y="152400"/>
                    </a:lnTo>
                    <a:cubicBezTo>
                      <a:pt x="4264" y="152400"/>
                      <a:pt x="0" y="156664"/>
                      <a:pt x="0" y="161925"/>
                    </a:cubicBezTo>
                    <a:cubicBezTo>
                      <a:pt x="0" y="167186"/>
                      <a:pt x="4264" y="171450"/>
                      <a:pt x="9525" y="171450"/>
                    </a:cubicBezTo>
                    <a:lnTo>
                      <a:pt x="28575" y="171450"/>
                    </a:lnTo>
                    <a:lnTo>
                      <a:pt x="28575" y="219075"/>
                    </a:lnTo>
                    <a:cubicBezTo>
                      <a:pt x="28575" y="229596"/>
                      <a:pt x="37104" y="238125"/>
                      <a:pt x="47625" y="238125"/>
                    </a:cubicBezTo>
                    <a:lnTo>
                      <a:pt x="95250" y="238125"/>
                    </a:lnTo>
                    <a:lnTo>
                      <a:pt x="95250" y="257175"/>
                    </a:lnTo>
                    <a:cubicBezTo>
                      <a:pt x="95250" y="262436"/>
                      <a:pt x="99514" y="266700"/>
                      <a:pt x="104775" y="266700"/>
                    </a:cubicBezTo>
                    <a:cubicBezTo>
                      <a:pt x="110036" y="266700"/>
                      <a:pt x="114300" y="262436"/>
                      <a:pt x="114300" y="257175"/>
                    </a:cubicBezTo>
                    <a:lnTo>
                      <a:pt x="114300" y="238125"/>
                    </a:lnTo>
                    <a:lnTo>
                      <a:pt x="152400" y="238125"/>
                    </a:lnTo>
                    <a:lnTo>
                      <a:pt x="152400" y="257175"/>
                    </a:lnTo>
                    <a:cubicBezTo>
                      <a:pt x="152400" y="262436"/>
                      <a:pt x="156664" y="266700"/>
                      <a:pt x="161925" y="266700"/>
                    </a:cubicBezTo>
                    <a:cubicBezTo>
                      <a:pt x="167186" y="266700"/>
                      <a:pt x="171450" y="262436"/>
                      <a:pt x="171450" y="257175"/>
                    </a:cubicBezTo>
                    <a:lnTo>
                      <a:pt x="171450" y="238125"/>
                    </a:lnTo>
                    <a:lnTo>
                      <a:pt x="219075" y="238125"/>
                    </a:lnTo>
                    <a:cubicBezTo>
                      <a:pt x="229596" y="238125"/>
                      <a:pt x="238125" y="229596"/>
                      <a:pt x="238125" y="219075"/>
                    </a:cubicBezTo>
                    <a:lnTo>
                      <a:pt x="238125" y="171450"/>
                    </a:lnTo>
                    <a:lnTo>
                      <a:pt x="257175" y="171450"/>
                    </a:lnTo>
                    <a:cubicBezTo>
                      <a:pt x="262436" y="171450"/>
                      <a:pt x="266700" y="167186"/>
                      <a:pt x="266700" y="161925"/>
                    </a:cubicBezTo>
                    <a:cubicBezTo>
                      <a:pt x="266700" y="156664"/>
                      <a:pt x="262436" y="152400"/>
                      <a:pt x="257175" y="152400"/>
                    </a:cubicBezTo>
                    <a:close/>
                    <a:moveTo>
                      <a:pt x="219075" y="219075"/>
                    </a:moveTo>
                    <a:lnTo>
                      <a:pt x="47625" y="219075"/>
                    </a:lnTo>
                    <a:lnTo>
                      <a:pt x="47625" y="47625"/>
                    </a:lnTo>
                    <a:lnTo>
                      <a:pt x="219075" y="47625"/>
                    </a:lnTo>
                    <a:lnTo>
                      <a:pt x="219075" y="161770"/>
                    </a:lnTo>
                    <a:cubicBezTo>
                      <a:pt x="219075" y="161770"/>
                      <a:pt x="219075" y="161877"/>
                      <a:pt x="219075" y="161925"/>
                    </a:cubicBezTo>
                    <a:cubicBezTo>
                      <a:pt x="219075" y="161973"/>
                      <a:pt x="219075" y="162032"/>
                      <a:pt x="219075" y="162080"/>
                    </a:cubicBezTo>
                    <a:lnTo>
                      <a:pt x="219075" y="219075"/>
                    </a:lnTo>
                    <a:close/>
                  </a:path>
                </a:pathLst>
              </a:custGeom>
              <a:solidFill>
                <a:schemeClr val="accent1"/>
              </a:solidFill>
              <a:ln>
                <a:noFill/>
              </a:ln>
            </p:spPr>
          </p:sp>
        </p:grpSp>
        <p:sp>
          <p:nvSpPr>
            <p:cNvPr id="42" name="TextBox 42"/>
            <p:cNvSpPr txBox="1"/>
            <p:nvPr/>
          </p:nvSpPr>
          <p:spPr>
            <a:xfrm>
              <a:off x="5003444" y="4448175"/>
              <a:ext cx="2185111" cy="293370"/>
            </a:xfrm>
            <a:prstGeom prst="rect">
              <a:avLst/>
            </a:prstGeom>
            <a:noFill/>
            <a:ln>
              <a:noFill/>
            </a:ln>
          </p:spPr>
          <p:txBody>
            <a:bodyPr wrap="none" lIns="0" tIns="0" rIns="0" bIns="0" anchor="t" anchorCtr="0">
              <a:spAutoFit/>
            </a:bodyPr>
            <a:lstStyle/>
            <a:p>
              <a:pPr algn="ctr"/>
              <a:r>
                <a:rPr lang="en" sz="1500" b="1" dirty="0">
                  <a:solidFill>
                    <a:schemeClr val="accent1"/>
                  </a:solidFill>
                  <a:latin typeface="+mn-lt"/>
                  <a:ea typeface="+mn-ea"/>
                  <a:cs typeface="+mn-cs"/>
                </a:rPr>
                <a:t>Combined at the edge</a:t>
              </a:r>
            </a:p>
          </p:txBody>
        </p:sp>
        <p:grpSp>
          <p:nvGrpSpPr>
            <p:cNvPr id="46" name="Group 46"/>
            <p:cNvGrpSpPr/>
            <p:nvPr/>
          </p:nvGrpSpPr>
          <p:grpSpPr>
            <a:xfrm>
              <a:off x="4223409" y="4788218"/>
              <a:ext cx="3745182" cy="797433"/>
              <a:chOff x="4223409" y="4788218"/>
              <a:chExt cx="3745182" cy="797433"/>
            </a:xfrm>
          </p:grpSpPr>
          <p:sp>
            <p:nvSpPr>
              <p:cNvPr id="43" name="TextBox 43"/>
              <p:cNvSpPr txBox="1"/>
              <p:nvPr/>
            </p:nvSpPr>
            <p:spPr>
              <a:xfrm>
                <a:off x="4645965" y="4788218"/>
                <a:ext cx="2900071" cy="264033"/>
              </a:xfrm>
              <a:prstGeom prst="rect">
                <a:avLst/>
              </a:prstGeom>
              <a:noFill/>
              <a:ln>
                <a:noFill/>
              </a:ln>
            </p:spPr>
            <p:txBody>
              <a:bodyPr wrap="none" lIns="0" tIns="0" rIns="0" bIns="0" anchor="t" anchorCtr="0">
                <a:spAutoFit/>
              </a:bodyPr>
              <a:lstStyle/>
              <a:p>
                <a:pPr algn="ctr"/>
                <a:r>
                  <a:rPr lang="en" sz="1350" dirty="0">
                    <a:solidFill>
                      <a:schemeClr val="dk1"/>
                    </a:solidFill>
                    <a:latin typeface="+mn-lt"/>
                    <a:ea typeface="+mn-ea"/>
                    <a:cs typeface="+mn-cs"/>
                  </a:rPr>
                  <a:t>Compares complementary signals</a:t>
                </a:r>
              </a:p>
            </p:txBody>
          </p:sp>
          <p:sp>
            <p:nvSpPr>
              <p:cNvPr id="44" name="TextBox 44"/>
              <p:cNvSpPr txBox="1"/>
              <p:nvPr/>
            </p:nvSpPr>
            <p:spPr>
              <a:xfrm>
                <a:off x="4668827" y="5054918"/>
                <a:ext cx="2854347" cy="264033"/>
              </a:xfrm>
              <a:prstGeom prst="rect">
                <a:avLst/>
              </a:prstGeom>
              <a:noFill/>
              <a:ln>
                <a:noFill/>
              </a:ln>
            </p:spPr>
            <p:txBody>
              <a:bodyPr wrap="none" lIns="0" tIns="0" rIns="0" bIns="0" anchor="t" anchorCtr="0">
                <a:spAutoFit/>
              </a:bodyPr>
              <a:lstStyle/>
              <a:p>
                <a:pPr algn="ctr"/>
                <a:r>
                  <a:rPr lang="en" sz="1350" dirty="0">
                    <a:solidFill>
                      <a:schemeClr val="dk1"/>
                    </a:solidFill>
                    <a:latin typeface="+mn-lt"/>
                    <a:ea typeface="+mn-ea"/>
                    <a:cs typeface="+mn-cs"/>
                  </a:rPr>
                  <a:t>Supports an explainable decision</a:t>
                </a:r>
              </a:p>
            </p:txBody>
          </p:sp>
          <p:sp>
            <p:nvSpPr>
              <p:cNvPr id="45" name="TextBox 45"/>
              <p:cNvSpPr txBox="1"/>
              <p:nvPr/>
            </p:nvSpPr>
            <p:spPr>
              <a:xfrm>
                <a:off x="4223409" y="5321618"/>
                <a:ext cx="3745182" cy="264033"/>
              </a:xfrm>
              <a:prstGeom prst="rect">
                <a:avLst/>
              </a:prstGeom>
              <a:noFill/>
              <a:ln>
                <a:noFill/>
              </a:ln>
            </p:spPr>
            <p:txBody>
              <a:bodyPr wrap="none" lIns="0" tIns="0" rIns="0" bIns="0" anchor="t" anchorCtr="0">
                <a:spAutoFit/>
              </a:bodyPr>
              <a:lstStyle/>
              <a:p>
                <a:pPr algn="ctr"/>
                <a:r>
                  <a:rPr lang="en" sz="1350" dirty="0">
                    <a:solidFill>
                      <a:schemeClr val="dk1"/>
                    </a:solidFill>
                    <a:latin typeface="+mn-lt"/>
                    <a:ea typeface="+mn-ea"/>
                    <a:cs typeface="+mn-cs"/>
                  </a:rPr>
                  <a:t>Connects detection to caregiver response</a:t>
                </a:r>
              </a:p>
            </p:txBody>
          </p:sp>
        </p:grpSp>
      </p:grpSp>
      <p:grpSp>
        <p:nvGrpSpPr>
          <p:cNvPr id="50" name="Group 50"/>
          <p:cNvGrpSpPr/>
          <p:nvPr/>
        </p:nvGrpSpPr>
        <p:grpSpPr>
          <a:xfrm>
            <a:off x="1958180" y="5791200"/>
            <a:ext cx="8275640" cy="493395"/>
            <a:chOff x="1958180" y="5791200"/>
            <a:chExt cx="8275640" cy="493395"/>
          </a:xfrm>
        </p:grpSpPr>
        <p:sp>
          <p:nvSpPr>
            <p:cNvPr id="48" name="Line 48"/>
            <p:cNvSpPr/>
            <p:nvPr/>
          </p:nvSpPr>
          <p:spPr>
            <a:xfrm>
              <a:off x="3238500" y="5791200"/>
              <a:ext cx="5715000" cy="9525"/>
            </a:xfrm>
            <a:custGeom>
              <a:avLst/>
              <a:gdLst/>
              <a:ahLst/>
              <a:cxnLst/>
              <a:rect l="l" t="t" r="r" b="b"/>
              <a:pathLst>
                <a:path w="5715000" h="9525">
                  <a:moveTo>
                    <a:pt x="0" y="0"/>
                  </a:moveTo>
                  <a:lnTo>
                    <a:pt x="5715000" y="0"/>
                  </a:lnTo>
                </a:path>
              </a:pathLst>
            </a:custGeom>
            <a:noFill/>
            <a:ln w="9525">
              <a:solidFill>
                <a:schemeClr val="accent6"/>
              </a:solidFill>
            </a:ln>
          </p:spPr>
        </p:sp>
        <p:sp>
          <p:nvSpPr>
            <p:cNvPr id="49" name="TextBox 49"/>
            <p:cNvSpPr txBox="1"/>
            <p:nvPr/>
          </p:nvSpPr>
          <p:spPr>
            <a:xfrm>
              <a:off x="1958180" y="5991225"/>
              <a:ext cx="8275640" cy="293370"/>
            </a:xfrm>
            <a:prstGeom prst="rect">
              <a:avLst/>
            </a:prstGeom>
            <a:noFill/>
            <a:ln>
              <a:noFill/>
            </a:ln>
          </p:spPr>
          <p:txBody>
            <a:bodyPr wrap="none" lIns="0" tIns="0" rIns="0" bIns="0" anchor="t" anchorCtr="0">
              <a:spAutoFit/>
            </a:bodyPr>
            <a:lstStyle/>
            <a:p>
              <a:pPr algn="ctr"/>
              <a:r>
                <a:rPr lang="en" sz="1500" i="1" dirty="0">
                  <a:solidFill>
                    <a:schemeClr val="accent1"/>
                  </a:solidFill>
                  <a:latin typeface="+mj-lt"/>
                  <a:ea typeface="+mj-ea"/>
                  <a:cs typeface="+mj-cs"/>
                </a:rPr>
                <a:t>“KineticPulse combines what the camera sees with what the wearable senses.”</a:t>
              </a:r>
            </a:p>
          </p:txBody>
        </p:sp>
      </p:grpSp>
      <p:sp>
        <p:nvSpPr>
          <p:cNvPr id="51" name="TextBox 51"/>
          <p:cNvSpPr txBox="1"/>
          <p:nvPr/>
        </p:nvSpPr>
        <p:spPr>
          <a:xfrm>
            <a:off x="11432327" y="6562249"/>
            <a:ext cx="155026" cy="190690"/>
          </a:xfrm>
          <a:prstGeom prst="rect">
            <a:avLst/>
          </a:prstGeom>
          <a:noFill/>
          <a:ln>
            <a:noFill/>
          </a:ln>
        </p:spPr>
        <p:txBody>
          <a:bodyPr wrap="none" lIns="0" tIns="0" rIns="0" bIns="0" anchor="t" anchorCtr="0">
            <a:spAutoFit/>
          </a:bodyPr>
          <a:lstStyle/>
          <a:p>
            <a:pPr algn="r"/>
            <a:r>
              <a:rPr lang="en" sz="980" dirty="0">
                <a:solidFill>
                  <a:schemeClr val="accent3"/>
                </a:solidFill>
                <a:latin typeface="+mn-lt"/>
                <a:ea typeface="+mn-ea"/>
                <a:cs typeface="+mn-cs"/>
              </a:rPr>
              <a:t>02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xmlns:p="http://schemas.openxmlformats.org/presentationml/2006/main" id="15" presetID="22" presetClass="entr" presetSubtype="2"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right)">
                                      <p:cBhvr>
                                        <p:cTn id="17" dur="600"/>
                                        <p:tgtEl>
                                          <p:spTgt spid="37"/>
                                        </p:tgtEl>
                                      </p:cBhvr>
                                    </p:animEffect>
                                  </p:childTnLst>
                                </p:cTn>
                              </p:par>
                            </p:childTnLst>
                          </p:cTn>
                        </p:par>
                        <p:par>
                          <p:cTn id="18" fill="hold">
                            <p:stCondLst>
                              <p:cond delay="600"/>
                            </p:stCondLst>
                            <p:childTnLst>
                              <p:par>
                                <p:cTn xmlns:p="http://schemas.openxmlformats.org/presentationml/2006/main" id="19" presetID="10" presetClass="entr" presetSubtype="0" fill="hold" grpId="0" nodeType="afterEffect">
                                  <p:stCondLst>
                                    <p:cond delay="150"/>
                                  </p:stCondLst>
                                  <p:childTnLst>
                                    <p:set>
                                      <p:cBhvr>
                                        <p:cTn id="20" dur="1" fill="hold">
                                          <p:stCondLst>
                                            <p:cond delay="0"/>
                                          </p:stCondLst>
                                        </p:cTn>
                                        <p:tgtEl>
                                          <p:spTgt spid="47"/>
                                        </p:tgtEl>
                                        <p:attrNameLst>
                                          <p:attrName>style.visibility</p:attrName>
                                        </p:attrNameLst>
                                      </p:cBhvr>
                                      <p:to>
                                        <p:strVal val="visible"/>
                                      </p:to>
                                    </p:set>
                                    <p:animEffect transition="in" filter="fade">
                                      <p:cBhvr>
                                        <p:cTn id="21" dur="500"/>
                                        <p:tgtEl>
                                          <p:spTgt spid="47"/>
                                        </p:tgtEl>
                                      </p:cBhvr>
                                    </p:animEffect>
                                  </p:childTnLst>
                                </p:cTn>
                              </p:par>
                            </p:childTnLst>
                          </p:cTn>
                        </p:par>
                      </p:childTnLst>
                    </p:cTn>
                  </p:par>
                  <p:par>
                    <p:cTn id="22" fill="hold">
                      <p:stCondLst>
                        <p:cond delay="indefinite"/>
                      </p:stCondLst>
                      <p:childTnLst>
                        <p:par>
                          <p:cTn id="23" fill="hold">
                            <p:stCondLst>
                              <p:cond delay="0"/>
                            </p:stCondLst>
                            <p:childTnLst>
                              <p:par>
                                <p:cTn xmlns:p="http://schemas.openxmlformats.org/presentationml/2006/main" id="24" presetID="10" presetClass="entr" presetSubtype="0" fill="hold" grpId="0" nodeType="click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fade">
                                      <p:cBhvr>
                                        <p:cTn id="26"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5884" y="590074"/>
            <a:ext cx="10986516" cy="827627"/>
            <a:chOff x="595884" y="590074"/>
            <a:chExt cx="10986516" cy="827627"/>
          </a:xfrm>
        </p:grpSpPr>
        <p:sp>
          <p:nvSpPr>
            <p:cNvPr id="2" name="Rectangle 2"/>
            <p:cNvSpPr/>
            <p:nvPr/>
          </p:nvSpPr>
          <p:spPr>
            <a:xfrm>
              <a:off x="609600" y="590550"/>
              <a:ext cx="266700" cy="28575"/>
            </a:xfrm>
            <a:prstGeom prst="rect">
              <a:avLst/>
            </a:prstGeom>
            <a:solidFill>
              <a:schemeClr val="accent2"/>
            </a:solidFill>
            <a:ln>
              <a:noFill/>
            </a:ln>
          </p:spPr>
        </p:sp>
        <p:sp>
          <p:nvSpPr>
            <p:cNvPr id="3" name="TextBox 3"/>
            <p:cNvSpPr txBox="1"/>
            <p:nvPr/>
          </p:nvSpPr>
          <p:spPr>
            <a:xfrm>
              <a:off x="985647" y="590074"/>
              <a:ext cx="1451793" cy="190690"/>
            </a:xfrm>
            <a:prstGeom prst="rect">
              <a:avLst/>
            </a:prstGeom>
            <a:noFill/>
            <a:ln>
              <a:noFill/>
            </a:ln>
          </p:spPr>
          <p:txBody>
            <a:bodyPr wrap="none" lIns="0" tIns="0" rIns="0" bIns="0" anchor="t" anchorCtr="0">
              <a:spAutoFit/>
            </a:bodyPr>
            <a:lstStyle/>
            <a:p>
              <a:pPr algn="l"/>
              <a:r>
                <a:rPr lang="en" sz="980" spc="188" dirty="0">
                  <a:solidFill>
                    <a:schemeClr val="accent2"/>
                  </a:solidFill>
                  <a:latin typeface="+mn-lt"/>
                  <a:ea typeface="+mn-ea"/>
                  <a:cs typeface="+mn-cs"/>
                </a:rPr>
                <a:t>SYSTEM JOURNEY</a:t>
              </a:r>
            </a:p>
          </p:txBody>
        </p:sp>
        <p:sp>
          <p:nvSpPr>
            <p:cNvPr id="4" name="TextBox 4"/>
            <p:cNvSpPr txBox="1"/>
            <p:nvPr/>
          </p:nvSpPr>
          <p:spPr>
            <a:xfrm>
              <a:off x="595884" y="889635"/>
              <a:ext cx="4935409" cy="528066"/>
            </a:xfrm>
            <a:prstGeom prst="rect">
              <a:avLst/>
            </a:prstGeom>
            <a:noFill/>
            <a:ln>
              <a:noFill/>
            </a:ln>
          </p:spPr>
          <p:txBody>
            <a:bodyPr wrap="none" lIns="0" tIns="0" rIns="0" bIns="0" anchor="t" anchorCtr="0">
              <a:spAutoFit/>
            </a:bodyPr>
            <a:lstStyle/>
            <a:p>
              <a:pPr algn="l"/>
              <a:r>
                <a:rPr lang="en" sz="2700" dirty="0">
                  <a:solidFill>
                    <a:schemeClr val="accent1"/>
                  </a:solidFill>
                  <a:latin typeface="+mj-lt"/>
                  <a:ea typeface="+mj-ea"/>
                  <a:cs typeface="+mj-cs"/>
                </a:rPr>
                <a:t>From Sensing to Response</a:t>
              </a:r>
            </a:p>
          </p:txBody>
        </p:sp>
        <p:sp>
          <p:nvSpPr>
            <p:cNvPr id="5" name="Line 5"/>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1" name="Group 11"/>
          <p:cNvGrpSpPr/>
          <p:nvPr/>
        </p:nvGrpSpPr>
        <p:grpSpPr>
          <a:xfrm>
            <a:off x="592836" y="2139315"/>
            <a:ext cx="2607564" cy="1185291"/>
            <a:chOff x="592836" y="2139315"/>
            <a:chExt cx="2607564" cy="1185291"/>
          </a:xfrm>
        </p:grpSpPr>
        <p:sp>
          <p:nvSpPr>
            <p:cNvPr id="7" name="TextBox 7"/>
            <p:cNvSpPr txBox="1"/>
            <p:nvPr/>
          </p:nvSpPr>
          <p:spPr>
            <a:xfrm>
              <a:off x="592836" y="2139315"/>
              <a:ext cx="549859" cy="645414"/>
            </a:xfrm>
            <a:prstGeom prst="rect">
              <a:avLst/>
            </a:prstGeom>
            <a:noFill/>
            <a:ln>
              <a:noFill/>
            </a:ln>
          </p:spPr>
          <p:txBody>
            <a:bodyPr wrap="none" lIns="0" tIns="0" rIns="0" bIns="0" anchor="t" anchorCtr="0">
              <a:spAutoFit/>
            </a:bodyPr>
            <a:lstStyle/>
            <a:p>
              <a:pPr algn="l"/>
              <a:r>
                <a:rPr lang="en" sz="3300" dirty="0">
                  <a:solidFill>
                    <a:schemeClr val="accent2"/>
                  </a:solidFill>
                  <a:latin typeface="+mj-lt"/>
                  <a:ea typeface="+mj-ea"/>
                  <a:cs typeface="+mj-cs"/>
                </a:rPr>
                <a:t>01</a:t>
              </a:r>
            </a:p>
          </p:txBody>
        </p:sp>
        <p:sp>
          <p:nvSpPr>
            <p:cNvPr id="8" name="TextBox 8"/>
            <p:cNvSpPr txBox="1"/>
            <p:nvPr/>
          </p:nvSpPr>
          <p:spPr>
            <a:xfrm>
              <a:off x="600456" y="2701290"/>
              <a:ext cx="725896"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Sense</a:t>
              </a:r>
            </a:p>
          </p:txBody>
        </p:sp>
        <p:sp>
          <p:nvSpPr>
            <p:cNvPr id="9" name="TextBox 9"/>
            <p:cNvSpPr txBox="1"/>
            <p:nvPr/>
          </p:nvSpPr>
          <p:spPr>
            <a:xfrm>
              <a:off x="603504" y="3089910"/>
              <a:ext cx="1560759"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Camera + wristband</a:t>
              </a:r>
            </a:p>
          </p:txBody>
        </p:sp>
        <p:sp>
          <p:nvSpPr>
            <p:cNvPr id="10" name="Line 10"/>
            <p:cNvSpPr/>
            <p:nvPr/>
          </p:nvSpPr>
          <p:spPr>
            <a:xfrm>
              <a:off x="2952750" y="2781300"/>
              <a:ext cx="247650" cy="1"/>
            </a:xfrm>
            <a:prstGeom prst="line">
              <a:avLst/>
            </a:prstGeom>
            <a:noFill/>
            <a:ln w="14288">
              <a:solidFill>
                <a:schemeClr val="accent2"/>
              </a:solidFill>
              <a:tailEnd type="triangle" w="lg" len="lg"/>
            </a:ln>
          </p:spPr>
        </p:sp>
      </p:grpSp>
      <p:grpSp>
        <p:nvGrpSpPr>
          <p:cNvPr id="16" name="Group 16"/>
          <p:cNvGrpSpPr/>
          <p:nvPr/>
        </p:nvGrpSpPr>
        <p:grpSpPr>
          <a:xfrm>
            <a:off x="3355086" y="2139315"/>
            <a:ext cx="2607564" cy="1413891"/>
            <a:chOff x="3355086" y="2139315"/>
            <a:chExt cx="2607564" cy="1413891"/>
          </a:xfrm>
        </p:grpSpPr>
        <p:sp>
          <p:nvSpPr>
            <p:cNvPr id="12" name="TextBox 12"/>
            <p:cNvSpPr txBox="1"/>
            <p:nvPr/>
          </p:nvSpPr>
          <p:spPr>
            <a:xfrm>
              <a:off x="3355086" y="2139315"/>
              <a:ext cx="549859" cy="645414"/>
            </a:xfrm>
            <a:prstGeom prst="rect">
              <a:avLst/>
            </a:prstGeom>
            <a:noFill/>
            <a:ln>
              <a:noFill/>
            </a:ln>
          </p:spPr>
          <p:txBody>
            <a:bodyPr wrap="none" lIns="0" tIns="0" rIns="0" bIns="0" anchor="t" anchorCtr="0">
              <a:spAutoFit/>
            </a:bodyPr>
            <a:lstStyle/>
            <a:p>
              <a:pPr algn="l"/>
              <a:r>
                <a:rPr lang="en" sz="3300" dirty="0">
                  <a:solidFill>
                    <a:schemeClr val="accent2"/>
                  </a:solidFill>
                  <a:latin typeface="+mj-lt"/>
                  <a:ea typeface="+mj-ea"/>
                  <a:cs typeface="+mj-cs"/>
                </a:rPr>
                <a:t>02</a:t>
              </a:r>
            </a:p>
          </p:txBody>
        </p:sp>
        <p:sp>
          <p:nvSpPr>
            <p:cNvPr id="13" name="TextBox 13"/>
            <p:cNvSpPr txBox="1"/>
            <p:nvPr/>
          </p:nvSpPr>
          <p:spPr>
            <a:xfrm>
              <a:off x="3362706" y="2701290"/>
              <a:ext cx="1425584"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Understand</a:t>
              </a:r>
            </a:p>
          </p:txBody>
        </p:sp>
        <p:sp>
          <p:nvSpPr>
            <p:cNvPr id="14" name="TextBox 14"/>
            <p:cNvSpPr txBox="1"/>
            <p:nvPr/>
          </p:nvSpPr>
          <p:spPr>
            <a:xfrm>
              <a:off x="3365754" y="3089910"/>
              <a:ext cx="1955292" cy="463296"/>
            </a:xfrm>
            <a:prstGeom prst="rect">
              <a:avLst/>
            </a:prstGeom>
            <a:noFill/>
            <a:ln>
              <a:noFill/>
            </a:ln>
          </p:spPr>
          <p:txBody>
            <a:bodyPr wrap="none" lIns="0" tIns="0" rIns="0" bIns="0" anchor="t" anchorCtr="0">
              <a:spAutoFit/>
            </a:bodyPr>
            <a:lstStyle/>
            <a:p>
              <a:pPr algn="l">
                <a:lnSpc>
                  <a:spcPts val="1800"/>
                </a:lnSpc>
              </a:pPr>
              <a:r>
                <a:rPr lang="en" sz="1200" dirty="0">
                  <a:solidFill>
                    <a:schemeClr val="accent5"/>
                  </a:solidFill>
                  <a:latin typeface="+mn-lt"/>
                  <a:ea typeface="+mn-ea"/>
                  <a:cs typeface="+mn-cs"/>
                </a:rPr>
                <a:t>Detection + pose +</a:t>
              </a:r>
              <a:br/>
              <a:r>
                <a:rPr lang="en" sz="1200" dirty="0">
                  <a:solidFill>
                    <a:schemeClr val="accent5"/>
                  </a:solidFill>
                  <a:latin typeface="+mn-lt"/>
                  <a:ea typeface="+mn-ea"/>
                  <a:cs typeface="+mn-cs"/>
                </a:rPr>
                <a:t>temporal analysis + fusion</a:t>
              </a:r>
            </a:p>
          </p:txBody>
        </p:sp>
        <p:sp>
          <p:nvSpPr>
            <p:cNvPr id="15" name="Line 15"/>
            <p:cNvSpPr/>
            <p:nvPr/>
          </p:nvSpPr>
          <p:spPr>
            <a:xfrm>
              <a:off x="5715000" y="2781300"/>
              <a:ext cx="247650" cy="1"/>
            </a:xfrm>
            <a:prstGeom prst="line">
              <a:avLst/>
            </a:prstGeom>
            <a:noFill/>
            <a:ln w="14288">
              <a:solidFill>
                <a:schemeClr val="accent2"/>
              </a:solidFill>
              <a:tailEnd type="triangle" w="lg" len="lg"/>
            </a:ln>
          </p:spPr>
        </p:sp>
      </p:grpSp>
      <p:grpSp>
        <p:nvGrpSpPr>
          <p:cNvPr id="21" name="Group 21"/>
          <p:cNvGrpSpPr/>
          <p:nvPr/>
        </p:nvGrpSpPr>
        <p:grpSpPr>
          <a:xfrm>
            <a:off x="6117336" y="2139315"/>
            <a:ext cx="2607564" cy="1413891"/>
            <a:chOff x="6117336" y="2139315"/>
            <a:chExt cx="2607564" cy="1413891"/>
          </a:xfrm>
        </p:grpSpPr>
        <p:sp>
          <p:nvSpPr>
            <p:cNvPr id="17" name="TextBox 17"/>
            <p:cNvSpPr txBox="1"/>
            <p:nvPr/>
          </p:nvSpPr>
          <p:spPr>
            <a:xfrm>
              <a:off x="6117336" y="2139315"/>
              <a:ext cx="549859" cy="645414"/>
            </a:xfrm>
            <a:prstGeom prst="rect">
              <a:avLst/>
            </a:prstGeom>
            <a:noFill/>
            <a:ln>
              <a:noFill/>
            </a:ln>
          </p:spPr>
          <p:txBody>
            <a:bodyPr wrap="none" lIns="0" tIns="0" rIns="0" bIns="0" anchor="t" anchorCtr="0">
              <a:spAutoFit/>
            </a:bodyPr>
            <a:lstStyle/>
            <a:p>
              <a:pPr algn="l"/>
              <a:r>
                <a:rPr lang="en" sz="3300" dirty="0">
                  <a:solidFill>
                    <a:schemeClr val="accent2"/>
                  </a:solidFill>
                  <a:latin typeface="+mj-lt"/>
                  <a:ea typeface="+mj-ea"/>
                  <a:cs typeface="+mj-cs"/>
                </a:rPr>
                <a:t>03</a:t>
              </a:r>
            </a:p>
          </p:txBody>
        </p:sp>
        <p:sp>
          <p:nvSpPr>
            <p:cNvPr id="18" name="TextBox 18"/>
            <p:cNvSpPr txBox="1"/>
            <p:nvPr/>
          </p:nvSpPr>
          <p:spPr>
            <a:xfrm>
              <a:off x="6124956" y="2701290"/>
              <a:ext cx="801626"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Verify</a:t>
              </a:r>
            </a:p>
          </p:txBody>
        </p:sp>
        <p:sp>
          <p:nvSpPr>
            <p:cNvPr id="19" name="TextBox 19"/>
            <p:cNvSpPr txBox="1"/>
            <p:nvPr/>
          </p:nvSpPr>
          <p:spPr>
            <a:xfrm>
              <a:off x="6128004" y="3089910"/>
              <a:ext cx="1307592" cy="463296"/>
            </a:xfrm>
            <a:prstGeom prst="rect">
              <a:avLst/>
            </a:prstGeom>
            <a:noFill/>
            <a:ln>
              <a:noFill/>
            </a:ln>
          </p:spPr>
          <p:txBody>
            <a:bodyPr wrap="none" lIns="0" tIns="0" rIns="0" bIns="0" anchor="t" anchorCtr="0">
              <a:spAutoFit/>
            </a:bodyPr>
            <a:lstStyle/>
            <a:p>
              <a:pPr algn="l">
                <a:lnSpc>
                  <a:spcPts val="1800"/>
                </a:lnSpc>
              </a:pPr>
              <a:r>
                <a:rPr lang="en" sz="1200" dirty="0">
                  <a:solidFill>
                    <a:schemeClr val="accent5"/>
                  </a:solidFill>
                  <a:latin typeface="+mn-lt"/>
                  <a:ea typeface="+mn-ea"/>
                  <a:cs typeface="+mn-cs"/>
                </a:rPr>
                <a:t>Spoken check for</a:t>
              </a:r>
              <a:br/>
              <a:r>
                <a:rPr lang="en" sz="1200" dirty="0">
                  <a:solidFill>
                    <a:schemeClr val="accent5"/>
                  </a:solidFill>
                  <a:latin typeface="+mn-lt"/>
                  <a:ea typeface="+mn-ea"/>
                  <a:cs typeface="+mn-cs"/>
                </a:rPr>
                <a:t>ambiguous events</a:t>
              </a:r>
            </a:p>
          </p:txBody>
        </p:sp>
        <p:sp>
          <p:nvSpPr>
            <p:cNvPr id="20" name="Line 20"/>
            <p:cNvSpPr/>
            <p:nvPr/>
          </p:nvSpPr>
          <p:spPr>
            <a:xfrm>
              <a:off x="8477250" y="2781300"/>
              <a:ext cx="247650" cy="1"/>
            </a:xfrm>
            <a:prstGeom prst="line">
              <a:avLst/>
            </a:prstGeom>
            <a:noFill/>
            <a:ln w="14288">
              <a:solidFill>
                <a:srgbClr val="C4553B"/>
              </a:solidFill>
              <a:tailEnd type="triangle" w="lg" len="lg"/>
            </a:ln>
          </p:spPr>
        </p:sp>
      </p:grpSp>
      <p:grpSp>
        <p:nvGrpSpPr>
          <p:cNvPr id="25" name="Group 25"/>
          <p:cNvGrpSpPr/>
          <p:nvPr/>
        </p:nvGrpSpPr>
        <p:grpSpPr>
          <a:xfrm>
            <a:off x="8879586" y="2139315"/>
            <a:ext cx="2141220" cy="1413891"/>
            <a:chOff x="8879586" y="2139315"/>
            <a:chExt cx="2141220" cy="1413891"/>
          </a:xfrm>
        </p:grpSpPr>
        <p:sp>
          <p:nvSpPr>
            <p:cNvPr id="22" name="TextBox 22"/>
            <p:cNvSpPr txBox="1"/>
            <p:nvPr/>
          </p:nvSpPr>
          <p:spPr>
            <a:xfrm>
              <a:off x="8879586" y="2139315"/>
              <a:ext cx="549859" cy="645414"/>
            </a:xfrm>
            <a:prstGeom prst="rect">
              <a:avLst/>
            </a:prstGeom>
            <a:noFill/>
            <a:ln>
              <a:noFill/>
            </a:ln>
          </p:spPr>
          <p:txBody>
            <a:bodyPr wrap="none" lIns="0" tIns="0" rIns="0" bIns="0" anchor="t" anchorCtr="0">
              <a:spAutoFit/>
            </a:bodyPr>
            <a:lstStyle/>
            <a:p>
              <a:pPr algn="l"/>
              <a:r>
                <a:rPr lang="en" sz="3300" dirty="0">
                  <a:solidFill>
                    <a:srgbClr val="C4553B"/>
                  </a:solidFill>
                  <a:latin typeface="+mj-lt"/>
                  <a:ea typeface="+mj-ea"/>
                  <a:cs typeface="+mj-cs"/>
                </a:rPr>
                <a:t>04</a:t>
              </a:r>
            </a:p>
          </p:txBody>
        </p:sp>
        <p:sp>
          <p:nvSpPr>
            <p:cNvPr id="23" name="TextBox 23"/>
            <p:cNvSpPr txBox="1"/>
            <p:nvPr/>
          </p:nvSpPr>
          <p:spPr>
            <a:xfrm>
              <a:off x="8887206" y="2701290"/>
              <a:ext cx="1005771" cy="352044"/>
            </a:xfrm>
            <a:prstGeom prst="rect">
              <a:avLst/>
            </a:prstGeom>
            <a:noFill/>
            <a:ln>
              <a:noFill/>
            </a:ln>
          </p:spPr>
          <p:txBody>
            <a:bodyPr wrap="none" lIns="0" tIns="0" rIns="0" bIns="0" anchor="t" anchorCtr="0">
              <a:spAutoFit/>
            </a:bodyPr>
            <a:lstStyle/>
            <a:p>
              <a:pPr algn="l"/>
              <a:r>
                <a:rPr lang="en" sz="1800" b="1" dirty="0">
                  <a:solidFill>
                    <a:schemeClr val="accent1"/>
                  </a:solidFill>
                  <a:latin typeface="+mn-lt"/>
                  <a:ea typeface="+mn-ea"/>
                  <a:cs typeface="+mn-cs"/>
                </a:rPr>
                <a:t>Respond</a:t>
              </a:r>
            </a:p>
          </p:txBody>
        </p:sp>
        <p:sp>
          <p:nvSpPr>
            <p:cNvPr id="24" name="TextBox 24"/>
            <p:cNvSpPr txBox="1"/>
            <p:nvPr/>
          </p:nvSpPr>
          <p:spPr>
            <a:xfrm>
              <a:off x="8890254" y="3089910"/>
              <a:ext cx="2130552" cy="463296"/>
            </a:xfrm>
            <a:prstGeom prst="rect">
              <a:avLst/>
            </a:prstGeom>
            <a:noFill/>
            <a:ln>
              <a:noFill/>
            </a:ln>
          </p:spPr>
          <p:txBody>
            <a:bodyPr wrap="none" lIns="0" tIns="0" rIns="0" bIns="0" anchor="t" anchorCtr="0">
              <a:spAutoFit/>
            </a:bodyPr>
            <a:lstStyle/>
            <a:p>
              <a:pPr algn="l">
                <a:lnSpc>
                  <a:spcPts val="1800"/>
                </a:lnSpc>
              </a:pPr>
              <a:r>
                <a:rPr lang="en" sz="1200" dirty="0">
                  <a:solidFill>
                    <a:schemeClr val="accent5"/>
                  </a:solidFill>
                  <a:latin typeface="+mn-lt"/>
                  <a:ea typeface="+mn-ea"/>
                  <a:cs typeface="+mn-cs"/>
                </a:rPr>
                <a:t>Incident session + dashboard</a:t>
              </a:r>
              <a:br/>
              <a:r>
                <a:rPr lang="en" sz="1200" dirty="0">
                  <a:solidFill>
                    <a:schemeClr val="accent5"/>
                  </a:solidFill>
                  <a:latin typeface="+mn-lt"/>
                  <a:ea typeface="+mn-ea"/>
                  <a:cs typeface="+mn-cs"/>
                </a:rPr>
                <a:t>+ live video + notification</a:t>
              </a:r>
            </a:p>
          </p:txBody>
        </p:sp>
      </p:grpSp>
      <p:grpSp>
        <p:nvGrpSpPr>
          <p:cNvPr id="27" name="Group 27"/>
          <p:cNvGrpSpPr/>
          <p:nvPr/>
        </p:nvGrpSpPr>
        <p:grpSpPr>
          <a:xfrm>
            <a:off x="1706068" y="5343525"/>
            <a:ext cx="8779865" cy="293370"/>
            <a:chOff x="1706068" y="5343525"/>
            <a:chExt cx="8779865" cy="293370"/>
          </a:xfrm>
        </p:grpSpPr>
        <p:sp>
          <p:nvSpPr>
            <p:cNvPr id="26" name="TextBox 26"/>
            <p:cNvSpPr txBox="1"/>
            <p:nvPr/>
          </p:nvSpPr>
          <p:spPr>
            <a:xfrm>
              <a:off x="1706068" y="5343525"/>
              <a:ext cx="8779865" cy="293370"/>
            </a:xfrm>
            <a:prstGeom prst="rect">
              <a:avLst/>
            </a:prstGeom>
            <a:noFill/>
            <a:ln>
              <a:noFill/>
            </a:ln>
          </p:spPr>
          <p:txBody>
            <a:bodyPr wrap="none" lIns="0" tIns="0" rIns="0" bIns="0" anchor="t" anchorCtr="0">
              <a:spAutoFit/>
            </a:bodyPr>
            <a:lstStyle/>
            <a:p>
              <a:pPr algn="ctr"/>
              <a:r>
                <a:rPr lang="en" sz="1500" i="1" dirty="0">
                  <a:solidFill>
                    <a:schemeClr val="accent1"/>
                  </a:solidFill>
                  <a:latin typeface="+mj-lt"/>
                  <a:ea typeface="+mj-ea"/>
                  <a:cs typeface="+mj-cs"/>
                </a:rPr>
                <a:t>“The system follows one connected path from physical signals to caregiver action.”</a:t>
              </a:r>
            </a:p>
          </p:txBody>
        </p:sp>
      </p:grpSp>
      <p:sp>
        <p:nvSpPr>
          <p:cNvPr id="28" name="TextBox 28"/>
          <p:cNvSpPr txBox="1"/>
          <p:nvPr/>
        </p:nvSpPr>
        <p:spPr>
          <a:xfrm>
            <a:off x="11432327" y="6562249"/>
            <a:ext cx="155026" cy="190690"/>
          </a:xfrm>
          <a:prstGeom prst="rect">
            <a:avLst/>
          </a:prstGeom>
          <a:noFill/>
          <a:ln>
            <a:noFill/>
          </a:ln>
        </p:spPr>
        <p:txBody>
          <a:bodyPr wrap="none" lIns="0" tIns="0" rIns="0" bIns="0" anchor="t" anchorCtr="0">
            <a:spAutoFit/>
          </a:bodyPr>
          <a:lstStyle/>
          <a:p>
            <a:pPr algn="r"/>
            <a:r>
              <a:rPr lang="en" sz="980" dirty="0">
                <a:solidFill>
                  <a:schemeClr val="accent3"/>
                </a:solidFill>
                <a:latin typeface="+mn-lt"/>
                <a:ea typeface="+mn-ea"/>
                <a:cs typeface="+mn-cs"/>
              </a:rPr>
              <a:t>03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2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600"/>
                                        <p:tgtEl>
                                          <p:spTgt spid="11"/>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22" presetClass="entr" presetSubtype="2"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right)">
                                      <p:cBhvr>
                                        <p:cTn id="12" dur="600"/>
                                        <p:tgtEl>
                                          <p:spTgt spid="16"/>
                                        </p:tgtEl>
                                      </p:cBhvr>
                                    </p:animEffect>
                                  </p:childTnLst>
                                </p:cTn>
                              </p:par>
                            </p:childTnLst>
                          </p:cTn>
                        </p:par>
                      </p:childTnLst>
                    </p:cTn>
                  </p:par>
                  <p:par>
                    <p:cTn id="13" fill="hold">
                      <p:stCondLst>
                        <p:cond delay="indefinite"/>
                      </p:stCondLst>
                      <p:childTnLst>
                        <p:par>
                          <p:cTn id="14" fill="hold">
                            <p:stCondLst>
                              <p:cond delay="0"/>
                            </p:stCondLst>
                            <p:childTnLst>
                              <p:par>
                                <p:cTn xmlns:p="http://schemas.openxmlformats.org/presentationml/2006/main" id="15" presetID="22" presetClass="entr" presetSubtype="2"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right)">
                                      <p:cBhvr>
                                        <p:cTn id="17" dur="600"/>
                                        <p:tgtEl>
                                          <p:spTgt spid="21"/>
                                        </p:tgtEl>
                                      </p:cBhvr>
                                    </p:animEffect>
                                  </p:childTnLst>
                                </p:cTn>
                              </p:par>
                            </p:childTnLst>
                          </p:cTn>
                        </p:par>
                      </p:childTnLst>
                    </p:cTn>
                  </p:par>
                  <p:par>
                    <p:cTn id="18" fill="hold">
                      <p:stCondLst>
                        <p:cond delay="indefinite"/>
                      </p:stCondLst>
                      <p:childTnLst>
                        <p:par>
                          <p:cTn id="19" fill="hold">
                            <p:stCondLst>
                              <p:cond delay="0"/>
                            </p:stCondLst>
                            <p:childTnLst>
                              <p:par>
                                <p:cTn xmlns:p="http://schemas.openxmlformats.org/presentationml/2006/main" id="20" presetID="22" presetClass="entr" presetSubtype="2"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right)">
                                      <p:cBhvr>
                                        <p:cTn id="22" dur="600"/>
                                        <p:tgtEl>
                                          <p:spTgt spid="25"/>
                                        </p:tgtEl>
                                      </p:cBhvr>
                                    </p:animEffect>
                                  </p:childTnLst>
                                </p:cTn>
                              </p:par>
                            </p:childTnLst>
                          </p:cTn>
                        </p:par>
                      </p:childTnLst>
                    </p:cTn>
                  </p:par>
                  <p:par>
                    <p:cTn id="23" fill="hold">
                      <p:stCondLst>
                        <p:cond delay="indefinite"/>
                      </p:stCondLst>
                      <p:childTnLst>
                        <p:par>
                          <p:cTn id="24" fill="hold">
                            <p:stCondLst>
                              <p:cond delay="0"/>
                            </p:stCondLst>
                            <p:childTnLst>
                              <p:par>
                                <p:cTn xmlns:p="http://schemas.openxmlformats.org/presentationml/2006/main" id="25" presetID="10"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5884" y="590074"/>
            <a:ext cx="10986516" cy="827627"/>
            <a:chOff x="595884" y="590074"/>
            <a:chExt cx="10986516" cy="827627"/>
          </a:xfrm>
        </p:grpSpPr>
        <p:sp>
          <p:nvSpPr>
            <p:cNvPr id="2" name="Rectangle 2"/>
            <p:cNvSpPr/>
            <p:nvPr/>
          </p:nvSpPr>
          <p:spPr>
            <a:xfrm>
              <a:off x="609600" y="590550"/>
              <a:ext cx="266700" cy="28575"/>
            </a:xfrm>
            <a:prstGeom prst="rect">
              <a:avLst/>
            </a:prstGeom>
            <a:solidFill>
              <a:schemeClr val="accent2"/>
            </a:solidFill>
            <a:ln>
              <a:noFill/>
            </a:ln>
          </p:spPr>
        </p:sp>
        <p:sp>
          <p:nvSpPr>
            <p:cNvPr id="3" name="TextBox 3"/>
            <p:cNvSpPr txBox="1"/>
            <p:nvPr/>
          </p:nvSpPr>
          <p:spPr>
            <a:xfrm>
              <a:off x="985647" y="590074"/>
              <a:ext cx="1189218" cy="190690"/>
            </a:xfrm>
            <a:prstGeom prst="rect">
              <a:avLst/>
            </a:prstGeom>
            <a:noFill/>
            <a:ln>
              <a:noFill/>
            </a:ln>
          </p:spPr>
          <p:txBody>
            <a:bodyPr wrap="none" lIns="0" tIns="0" rIns="0" bIns="0" anchor="t" anchorCtr="0">
              <a:spAutoFit/>
            </a:bodyPr>
            <a:lstStyle/>
            <a:p>
              <a:pPr algn="l"/>
              <a:r>
                <a:rPr lang="en" sz="980" spc="188" dirty="0">
                  <a:solidFill>
                    <a:schemeClr val="accent2"/>
                  </a:solidFill>
                  <a:latin typeface="+mn-lt"/>
                  <a:ea typeface="+mn-ea"/>
                  <a:cs typeface="+mn-cs"/>
                </a:rPr>
                <a:t>ARCHITECTURE</a:t>
              </a:r>
            </a:p>
          </p:txBody>
        </p:sp>
        <p:sp>
          <p:nvSpPr>
            <p:cNvPr id="4" name="TextBox 4"/>
            <p:cNvSpPr txBox="1"/>
            <p:nvPr/>
          </p:nvSpPr>
          <p:spPr>
            <a:xfrm>
              <a:off x="595884" y="889635"/>
              <a:ext cx="6459256" cy="528066"/>
            </a:xfrm>
            <a:prstGeom prst="rect">
              <a:avLst/>
            </a:prstGeom>
            <a:noFill/>
            <a:ln>
              <a:noFill/>
            </a:ln>
          </p:spPr>
          <p:txBody>
            <a:bodyPr wrap="none" lIns="0" tIns="0" rIns="0" bIns="0" anchor="t" anchorCtr="0">
              <a:spAutoFit/>
            </a:bodyPr>
            <a:lstStyle/>
            <a:p>
              <a:pPr algn="l"/>
              <a:r>
                <a:rPr lang="en" sz="2700" dirty="0">
                  <a:solidFill>
                    <a:schemeClr val="accent1"/>
                  </a:solidFill>
                  <a:latin typeface="+mj-lt"/>
                  <a:ea typeface="+mj-ea"/>
                  <a:cs typeface="+mj-cs"/>
                </a:rPr>
                <a:t>One Connected Edge Architecture</a:t>
              </a:r>
            </a:p>
          </p:txBody>
        </p:sp>
        <p:sp>
          <p:nvSpPr>
            <p:cNvPr id="5" name="Line 5"/>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1" name="Group 31"/>
          <p:cNvGrpSpPr/>
          <p:nvPr/>
        </p:nvGrpSpPr>
        <p:grpSpPr>
          <a:xfrm>
            <a:off x="609600" y="1666875"/>
            <a:ext cx="4514850" cy="1657350"/>
            <a:chOff x="609600" y="1666875"/>
            <a:chExt cx="4514850" cy="1657350"/>
          </a:xfrm>
        </p:grpSpPr>
        <p:grpSp>
          <p:nvGrpSpPr>
            <p:cNvPr id="12" name="Group 12"/>
            <p:cNvGrpSpPr/>
            <p:nvPr/>
          </p:nvGrpSpPr>
          <p:grpSpPr>
            <a:xfrm>
              <a:off x="609600" y="1666875"/>
              <a:ext cx="2027331" cy="609600"/>
              <a:chOff x="609600" y="1666875"/>
              <a:chExt cx="2027331" cy="609600"/>
            </a:xfrm>
          </p:grpSpPr>
          <p:sp>
            <p:nvSpPr>
              <p:cNvPr id="7" name="Rectangle 7"/>
              <p:cNvSpPr/>
              <p:nvPr/>
            </p:nvSpPr>
            <p:spPr>
              <a:xfrm>
                <a:off x="609600" y="1666875"/>
                <a:ext cx="1905000" cy="609600"/>
              </a:xfrm>
              <a:prstGeom prst="roundRect">
                <a:avLst>
                  <a:gd name="adj" fmla="val 6250"/>
                </a:avLst>
              </a:prstGeom>
              <a:solidFill>
                <a:srgbClr val="FFFFFF"/>
              </a:solidFill>
              <a:ln w="14288">
                <a:solidFill>
                  <a:schemeClr val="accent1"/>
                </a:solidFill>
              </a:ln>
            </p:spPr>
          </p:sp>
          <p:grpSp>
            <p:nvGrpSpPr>
              <p:cNvPr id="10" name="Group 10"/>
              <p:cNvGrpSpPr/>
              <p:nvPr/>
            </p:nvGrpSpPr>
            <p:grpSpPr>
              <a:xfrm>
                <a:off x="785811" y="1871662"/>
                <a:ext cx="142877" cy="200025"/>
                <a:chOff x="785811" y="1871662"/>
                <a:chExt cx="142877" cy="200025"/>
              </a:xfrm>
            </p:grpSpPr>
            <p:sp>
              <p:nvSpPr>
                <p:cNvPr id="8" name="Freeform 8"/>
                <p:cNvSpPr/>
                <p:nvPr/>
              </p:nvSpPr>
              <p:spPr>
                <a:xfrm>
                  <a:off x="792956" y="1907381"/>
                  <a:ext cx="128588" cy="128588"/>
                </a:xfrm>
                <a:custGeom>
                  <a:avLst/>
                  <a:gdLst/>
                  <a:ahLst/>
                  <a:cxnLst/>
                  <a:rect l="l" t="t" r="r" b="b"/>
                  <a:pathLst>
                    <a:path w="128588" h="128588">
                      <a:moveTo>
                        <a:pt x="128588" y="64294"/>
                      </a:moveTo>
                      <a:cubicBezTo>
                        <a:pt x="128588" y="99802"/>
                        <a:pt x="99802" y="128588"/>
                        <a:pt x="64294" y="128588"/>
                      </a:cubicBezTo>
                      <a:cubicBezTo>
                        <a:pt x="28785" y="128588"/>
                        <a:pt x="0" y="99802"/>
                        <a:pt x="0" y="64294"/>
                      </a:cubicBezTo>
                      <a:cubicBezTo>
                        <a:pt x="0" y="28785"/>
                        <a:pt x="28785" y="0"/>
                        <a:pt x="64294" y="0"/>
                      </a:cubicBezTo>
                      <a:cubicBezTo>
                        <a:pt x="99802" y="0"/>
                        <a:pt x="128588" y="28785"/>
                        <a:pt x="128588" y="64294"/>
                      </a:cubicBezTo>
                      <a:close/>
                    </a:path>
                  </a:pathLst>
                </a:custGeom>
                <a:solidFill>
                  <a:schemeClr val="accent1">
                    <a:alpha val="20000"/>
                  </a:schemeClr>
                </a:solidFill>
                <a:ln>
                  <a:noFill/>
                </a:ln>
              </p:spPr>
            </p:sp>
            <p:sp>
              <p:nvSpPr>
                <p:cNvPr id="9" name="Freeform 9"/>
                <p:cNvSpPr/>
                <p:nvPr/>
              </p:nvSpPr>
              <p:spPr>
                <a:xfrm>
                  <a:off x="785811" y="1871662"/>
                  <a:ext cx="142877" cy="200025"/>
                </a:xfrm>
                <a:custGeom>
                  <a:avLst/>
                  <a:gdLst/>
                  <a:ahLst/>
                  <a:cxnLst/>
                  <a:rect l="l" t="t" r="r" b="b"/>
                  <a:pathLst>
                    <a:path w="142877" h="200025">
                      <a:moveTo>
                        <a:pt x="142877" y="100012"/>
                      </a:moveTo>
                      <a:cubicBezTo>
                        <a:pt x="142872" y="77266"/>
                        <a:pt x="132027" y="55884"/>
                        <a:pt x="113677" y="42443"/>
                      </a:cubicBezTo>
                      <a:lnTo>
                        <a:pt x="108105" y="11743"/>
                      </a:lnTo>
                      <a:cubicBezTo>
                        <a:pt x="106874" y="4945"/>
                        <a:pt x="100957" y="2"/>
                        <a:pt x="94049" y="0"/>
                      </a:cubicBezTo>
                      <a:lnTo>
                        <a:pt x="48830" y="0"/>
                      </a:lnTo>
                      <a:cubicBezTo>
                        <a:pt x="41922" y="2"/>
                        <a:pt x="36005" y="4945"/>
                        <a:pt x="34774" y="11743"/>
                      </a:cubicBezTo>
                      <a:lnTo>
                        <a:pt x="29202" y="42443"/>
                      </a:lnTo>
                      <a:cubicBezTo>
                        <a:pt x="10847" y="55880"/>
                        <a:pt x="0" y="77265"/>
                        <a:pt x="0" y="100012"/>
                      </a:cubicBezTo>
                      <a:cubicBezTo>
                        <a:pt x="0" y="122760"/>
                        <a:pt x="10847" y="144145"/>
                        <a:pt x="29202" y="157582"/>
                      </a:cubicBezTo>
                      <a:lnTo>
                        <a:pt x="34774" y="188282"/>
                      </a:lnTo>
                      <a:cubicBezTo>
                        <a:pt x="36005" y="195080"/>
                        <a:pt x="41922" y="200023"/>
                        <a:pt x="48830" y="200025"/>
                      </a:cubicBezTo>
                      <a:lnTo>
                        <a:pt x="94049" y="200025"/>
                      </a:lnTo>
                      <a:cubicBezTo>
                        <a:pt x="100957" y="200023"/>
                        <a:pt x="106874" y="195080"/>
                        <a:pt x="108105" y="188282"/>
                      </a:cubicBezTo>
                      <a:lnTo>
                        <a:pt x="113677" y="157582"/>
                      </a:lnTo>
                      <a:cubicBezTo>
                        <a:pt x="132027" y="144141"/>
                        <a:pt x="142872" y="122759"/>
                        <a:pt x="142877" y="100012"/>
                      </a:cubicBezTo>
                      <a:close/>
                      <a:moveTo>
                        <a:pt x="48830" y="14288"/>
                      </a:moveTo>
                      <a:lnTo>
                        <a:pt x="94049" y="14288"/>
                      </a:lnTo>
                      <a:lnTo>
                        <a:pt x="97541" y="33531"/>
                      </a:lnTo>
                      <a:cubicBezTo>
                        <a:pt x="80767" y="26923"/>
                        <a:pt x="62112" y="26923"/>
                        <a:pt x="45338" y="33531"/>
                      </a:cubicBezTo>
                      <a:close/>
                      <a:moveTo>
                        <a:pt x="14289" y="100012"/>
                      </a:moveTo>
                      <a:cubicBezTo>
                        <a:pt x="14289" y="68449"/>
                        <a:pt x="39876" y="42862"/>
                        <a:pt x="71439" y="42862"/>
                      </a:cubicBezTo>
                      <a:cubicBezTo>
                        <a:pt x="103003" y="42862"/>
                        <a:pt x="128589" y="68449"/>
                        <a:pt x="128589" y="100012"/>
                      </a:cubicBezTo>
                      <a:cubicBezTo>
                        <a:pt x="128589" y="131576"/>
                        <a:pt x="103003" y="157162"/>
                        <a:pt x="71439" y="157162"/>
                      </a:cubicBezTo>
                      <a:cubicBezTo>
                        <a:pt x="39891" y="157128"/>
                        <a:pt x="14324" y="131561"/>
                        <a:pt x="14289" y="100012"/>
                      </a:cubicBezTo>
                      <a:close/>
                      <a:moveTo>
                        <a:pt x="94049" y="185738"/>
                      </a:moveTo>
                      <a:lnTo>
                        <a:pt x="48830" y="185738"/>
                      </a:lnTo>
                      <a:lnTo>
                        <a:pt x="45338" y="166494"/>
                      </a:lnTo>
                      <a:cubicBezTo>
                        <a:pt x="62112" y="173102"/>
                        <a:pt x="80767" y="173102"/>
                        <a:pt x="97541" y="166494"/>
                      </a:cubicBezTo>
                      <a:close/>
                      <a:moveTo>
                        <a:pt x="64296" y="100012"/>
                      </a:moveTo>
                      <a:lnTo>
                        <a:pt x="64296" y="64294"/>
                      </a:lnTo>
                      <a:cubicBezTo>
                        <a:pt x="64296" y="60348"/>
                        <a:pt x="67494" y="57150"/>
                        <a:pt x="71439" y="57150"/>
                      </a:cubicBezTo>
                      <a:cubicBezTo>
                        <a:pt x="75385" y="57150"/>
                        <a:pt x="78583" y="60348"/>
                        <a:pt x="78583" y="64294"/>
                      </a:cubicBezTo>
                      <a:lnTo>
                        <a:pt x="78583" y="92869"/>
                      </a:lnTo>
                      <a:lnTo>
                        <a:pt x="107158" y="92869"/>
                      </a:lnTo>
                      <a:cubicBezTo>
                        <a:pt x="111104" y="92869"/>
                        <a:pt x="114302" y="96067"/>
                        <a:pt x="114302" y="100012"/>
                      </a:cubicBezTo>
                      <a:cubicBezTo>
                        <a:pt x="114302" y="103958"/>
                        <a:pt x="111104" y="107156"/>
                        <a:pt x="107158" y="107156"/>
                      </a:cubicBezTo>
                      <a:lnTo>
                        <a:pt x="71439" y="107156"/>
                      </a:lnTo>
                      <a:cubicBezTo>
                        <a:pt x="67494" y="107156"/>
                        <a:pt x="64296" y="103958"/>
                        <a:pt x="64296" y="100012"/>
                      </a:cubicBezTo>
                      <a:close/>
                    </a:path>
                  </a:pathLst>
                </a:custGeom>
                <a:solidFill>
                  <a:schemeClr val="accent1"/>
                </a:solidFill>
                <a:ln>
                  <a:noFill/>
                </a:ln>
              </p:spPr>
            </p:sp>
          </p:grpSp>
          <p:sp>
            <p:nvSpPr>
              <p:cNvPr id="11" name="TextBox 11"/>
              <p:cNvSpPr txBox="1"/>
              <p:nvPr/>
            </p:nvSpPr>
            <p:spPr>
              <a:xfrm>
                <a:off x="1060704" y="1889760"/>
                <a:ext cx="1576227"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ESP32-S3 wearable</a:t>
                </a:r>
              </a:p>
            </p:txBody>
          </p:sp>
        </p:grpSp>
        <p:sp>
          <p:nvSpPr>
            <p:cNvPr id="13" name="Line 13"/>
            <p:cNvSpPr/>
            <p:nvPr/>
          </p:nvSpPr>
          <p:spPr>
            <a:xfrm>
              <a:off x="2533650" y="1971675"/>
              <a:ext cx="209550" cy="1"/>
            </a:xfrm>
            <a:prstGeom prst="line">
              <a:avLst/>
            </a:prstGeom>
            <a:noFill/>
            <a:ln w="14288">
              <a:solidFill>
                <a:schemeClr val="accent2"/>
              </a:solidFill>
              <a:tailEnd type="triangle" w="lg" len="lg"/>
            </a:ln>
          </p:spPr>
        </p:sp>
        <p:grpSp>
          <p:nvGrpSpPr>
            <p:cNvPr id="17" name="Group 17"/>
            <p:cNvGrpSpPr/>
            <p:nvPr/>
          </p:nvGrpSpPr>
          <p:grpSpPr>
            <a:xfrm>
              <a:off x="2762250" y="1666875"/>
              <a:ext cx="2095500" cy="609600"/>
              <a:chOff x="2762250" y="1666875"/>
              <a:chExt cx="2095500" cy="609600"/>
            </a:xfrm>
          </p:grpSpPr>
          <p:sp>
            <p:nvSpPr>
              <p:cNvPr id="14" name="Rectangle 14"/>
              <p:cNvSpPr/>
              <p:nvPr/>
            </p:nvSpPr>
            <p:spPr>
              <a:xfrm>
                <a:off x="2762250" y="1666875"/>
                <a:ext cx="2095500" cy="609600"/>
              </a:xfrm>
              <a:prstGeom prst="roundRect">
                <a:avLst>
                  <a:gd name="adj" fmla="val 6250"/>
                </a:avLst>
              </a:prstGeom>
              <a:solidFill>
                <a:srgbClr val="FFFFFF"/>
              </a:solidFill>
              <a:ln w="14288">
                <a:solidFill>
                  <a:schemeClr val="accent1"/>
                </a:solidFill>
              </a:ln>
            </p:spPr>
          </p:sp>
          <p:sp>
            <p:nvSpPr>
              <p:cNvPr id="15" name="TextBox 15"/>
              <p:cNvSpPr txBox="1"/>
              <p:nvPr/>
            </p:nvSpPr>
            <p:spPr>
              <a:xfrm>
                <a:off x="2870454" y="1784985"/>
                <a:ext cx="1332071"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Sensor receiver</a:t>
                </a:r>
              </a:p>
            </p:txBody>
          </p:sp>
          <p:sp>
            <p:nvSpPr>
              <p:cNvPr id="16" name="TextBox 16"/>
              <p:cNvSpPr txBox="1"/>
              <p:nvPr/>
            </p:nvSpPr>
            <p:spPr>
              <a:xfrm>
                <a:off x="2871597" y="2009299"/>
                <a:ext cx="1634511" cy="190690"/>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NDJSON over TCP · :5555</a:t>
                </a:r>
              </a:p>
            </p:txBody>
          </p:sp>
        </p:grpSp>
        <p:grpSp>
          <p:nvGrpSpPr>
            <p:cNvPr id="23" name="Group 23"/>
            <p:cNvGrpSpPr/>
            <p:nvPr/>
          </p:nvGrpSpPr>
          <p:grpSpPr>
            <a:xfrm>
              <a:off x="609600" y="2714625"/>
              <a:ext cx="1905000" cy="609600"/>
              <a:chOff x="609600" y="2714625"/>
              <a:chExt cx="1905000" cy="609600"/>
            </a:xfrm>
          </p:grpSpPr>
          <p:sp>
            <p:nvSpPr>
              <p:cNvPr id="18" name="Rectangle 18"/>
              <p:cNvSpPr/>
              <p:nvPr/>
            </p:nvSpPr>
            <p:spPr>
              <a:xfrm>
                <a:off x="609600" y="2714625"/>
                <a:ext cx="1905000" cy="609600"/>
              </a:xfrm>
              <a:prstGeom prst="roundRect">
                <a:avLst>
                  <a:gd name="adj" fmla="val 6250"/>
                </a:avLst>
              </a:prstGeom>
              <a:solidFill>
                <a:srgbClr val="FFFFFF"/>
              </a:solidFill>
              <a:ln w="14288">
                <a:solidFill>
                  <a:schemeClr val="accent1"/>
                </a:solidFill>
              </a:ln>
            </p:spPr>
          </p:sp>
          <p:grpSp>
            <p:nvGrpSpPr>
              <p:cNvPr id="21" name="Group 21"/>
              <p:cNvGrpSpPr/>
              <p:nvPr/>
            </p:nvGrpSpPr>
            <p:grpSpPr>
              <a:xfrm>
                <a:off x="764381" y="2933700"/>
                <a:ext cx="185738" cy="164306"/>
                <a:chOff x="764381" y="2933700"/>
                <a:chExt cx="185738" cy="164306"/>
              </a:xfrm>
            </p:grpSpPr>
            <p:sp>
              <p:nvSpPr>
                <p:cNvPr id="19" name="Freeform 19"/>
                <p:cNvSpPr/>
                <p:nvPr/>
              </p:nvSpPr>
              <p:spPr>
                <a:xfrm>
                  <a:off x="771525" y="2940844"/>
                  <a:ext cx="171450" cy="150019"/>
                </a:xfrm>
                <a:custGeom>
                  <a:avLst/>
                  <a:gdLst/>
                  <a:ahLst/>
                  <a:cxnLst/>
                  <a:rect l="l" t="t" r="r" b="b"/>
                  <a:pathLst>
                    <a:path w="171450" h="150019">
                      <a:moveTo>
                        <a:pt x="157162" y="21431"/>
                      </a:moveTo>
                      <a:lnTo>
                        <a:pt x="128588" y="21431"/>
                      </a:lnTo>
                      <a:lnTo>
                        <a:pt x="114300" y="0"/>
                      </a:lnTo>
                      <a:lnTo>
                        <a:pt x="57150" y="0"/>
                      </a:lnTo>
                      <a:lnTo>
                        <a:pt x="42862" y="21431"/>
                      </a:lnTo>
                      <a:lnTo>
                        <a:pt x="14288" y="21431"/>
                      </a:lnTo>
                      <a:cubicBezTo>
                        <a:pt x="6397" y="21431"/>
                        <a:pt x="0" y="27828"/>
                        <a:pt x="0" y="35719"/>
                      </a:cubicBezTo>
                      <a:lnTo>
                        <a:pt x="0" y="135731"/>
                      </a:lnTo>
                      <a:cubicBezTo>
                        <a:pt x="0" y="143622"/>
                        <a:pt x="6397" y="150019"/>
                        <a:pt x="14288" y="150019"/>
                      </a:cubicBezTo>
                      <a:lnTo>
                        <a:pt x="157162" y="150019"/>
                      </a:lnTo>
                      <a:cubicBezTo>
                        <a:pt x="165053" y="150019"/>
                        <a:pt x="171450" y="143622"/>
                        <a:pt x="171450" y="135731"/>
                      </a:cubicBezTo>
                      <a:lnTo>
                        <a:pt x="171450" y="35719"/>
                      </a:lnTo>
                      <a:cubicBezTo>
                        <a:pt x="171450" y="27828"/>
                        <a:pt x="165053" y="21431"/>
                        <a:pt x="157162" y="21431"/>
                      </a:cubicBezTo>
                      <a:close/>
                      <a:moveTo>
                        <a:pt x="85725" y="114300"/>
                      </a:moveTo>
                      <a:cubicBezTo>
                        <a:pt x="67971" y="114300"/>
                        <a:pt x="53578" y="99907"/>
                        <a:pt x="53578" y="82153"/>
                      </a:cubicBezTo>
                      <a:cubicBezTo>
                        <a:pt x="53578" y="64399"/>
                        <a:pt x="67971" y="50006"/>
                        <a:pt x="85725" y="50006"/>
                      </a:cubicBezTo>
                      <a:cubicBezTo>
                        <a:pt x="103479" y="50006"/>
                        <a:pt x="117872" y="64399"/>
                        <a:pt x="117872" y="82153"/>
                      </a:cubicBezTo>
                      <a:cubicBezTo>
                        <a:pt x="117872" y="99907"/>
                        <a:pt x="103479" y="114300"/>
                        <a:pt x="85725" y="114300"/>
                      </a:cubicBezTo>
                      <a:close/>
                    </a:path>
                  </a:pathLst>
                </a:custGeom>
                <a:solidFill>
                  <a:schemeClr val="accent1">
                    <a:alpha val="20000"/>
                  </a:schemeClr>
                </a:solidFill>
                <a:ln>
                  <a:noFill/>
                </a:ln>
              </p:spPr>
            </p:sp>
            <p:sp>
              <p:nvSpPr>
                <p:cNvPr id="20" name="Freeform 20"/>
                <p:cNvSpPr/>
                <p:nvPr/>
              </p:nvSpPr>
              <p:spPr>
                <a:xfrm>
                  <a:off x="764381" y="2933700"/>
                  <a:ext cx="185738" cy="164306"/>
                </a:xfrm>
                <a:custGeom>
                  <a:avLst/>
                  <a:gdLst/>
                  <a:ahLst/>
                  <a:cxnLst/>
                  <a:rect l="l" t="t" r="r" b="b"/>
                  <a:pathLst>
                    <a:path w="185738" h="164306">
                      <a:moveTo>
                        <a:pt x="164306" y="21431"/>
                      </a:moveTo>
                      <a:lnTo>
                        <a:pt x="139553" y="21431"/>
                      </a:lnTo>
                      <a:lnTo>
                        <a:pt x="127382" y="3179"/>
                      </a:lnTo>
                      <a:cubicBezTo>
                        <a:pt x="126058" y="1194"/>
                        <a:pt x="123830" y="1"/>
                        <a:pt x="121444" y="0"/>
                      </a:cubicBezTo>
                      <a:lnTo>
                        <a:pt x="64294" y="0"/>
                      </a:lnTo>
                      <a:cubicBezTo>
                        <a:pt x="61908" y="1"/>
                        <a:pt x="59680" y="1194"/>
                        <a:pt x="58356" y="3179"/>
                      </a:cubicBezTo>
                      <a:lnTo>
                        <a:pt x="46175" y="21431"/>
                      </a:lnTo>
                      <a:lnTo>
                        <a:pt x="21431" y="21431"/>
                      </a:lnTo>
                      <a:cubicBezTo>
                        <a:pt x="9595" y="21431"/>
                        <a:pt x="0" y="31026"/>
                        <a:pt x="0" y="42862"/>
                      </a:cubicBezTo>
                      <a:lnTo>
                        <a:pt x="0" y="142875"/>
                      </a:lnTo>
                      <a:cubicBezTo>
                        <a:pt x="0" y="154711"/>
                        <a:pt x="9595" y="164306"/>
                        <a:pt x="21431" y="164306"/>
                      </a:cubicBezTo>
                      <a:lnTo>
                        <a:pt x="164306" y="164306"/>
                      </a:lnTo>
                      <a:cubicBezTo>
                        <a:pt x="176142" y="164306"/>
                        <a:pt x="185738" y="154711"/>
                        <a:pt x="185738" y="142875"/>
                      </a:cubicBezTo>
                      <a:lnTo>
                        <a:pt x="185738" y="42862"/>
                      </a:lnTo>
                      <a:cubicBezTo>
                        <a:pt x="185738" y="31026"/>
                        <a:pt x="176142" y="21431"/>
                        <a:pt x="164306" y="21431"/>
                      </a:cubicBezTo>
                      <a:close/>
                      <a:moveTo>
                        <a:pt x="171450" y="142875"/>
                      </a:moveTo>
                      <a:cubicBezTo>
                        <a:pt x="171450" y="146820"/>
                        <a:pt x="168252" y="150019"/>
                        <a:pt x="164306" y="150019"/>
                      </a:cubicBezTo>
                      <a:lnTo>
                        <a:pt x="21431" y="150019"/>
                      </a:lnTo>
                      <a:cubicBezTo>
                        <a:pt x="17486" y="150019"/>
                        <a:pt x="14288" y="146820"/>
                        <a:pt x="14288" y="142875"/>
                      </a:cubicBezTo>
                      <a:lnTo>
                        <a:pt x="14288" y="42862"/>
                      </a:lnTo>
                      <a:cubicBezTo>
                        <a:pt x="14288" y="38917"/>
                        <a:pt x="17486" y="35719"/>
                        <a:pt x="21431" y="35719"/>
                      </a:cubicBezTo>
                      <a:lnTo>
                        <a:pt x="50006" y="35719"/>
                      </a:lnTo>
                      <a:cubicBezTo>
                        <a:pt x="52396" y="35720"/>
                        <a:pt x="54627" y="34527"/>
                        <a:pt x="55953" y="32540"/>
                      </a:cubicBezTo>
                      <a:lnTo>
                        <a:pt x="68116" y="14288"/>
                      </a:lnTo>
                      <a:lnTo>
                        <a:pt x="117613" y="14288"/>
                      </a:lnTo>
                      <a:lnTo>
                        <a:pt x="129784" y="32540"/>
                      </a:lnTo>
                      <a:cubicBezTo>
                        <a:pt x="131110" y="34527"/>
                        <a:pt x="133342" y="35720"/>
                        <a:pt x="135731" y="35719"/>
                      </a:cubicBezTo>
                      <a:lnTo>
                        <a:pt x="164306" y="35719"/>
                      </a:lnTo>
                      <a:cubicBezTo>
                        <a:pt x="168252" y="35719"/>
                        <a:pt x="171450" y="38917"/>
                        <a:pt x="171450" y="42862"/>
                      </a:cubicBezTo>
                      <a:close/>
                      <a:moveTo>
                        <a:pt x="92869" y="50006"/>
                      </a:moveTo>
                      <a:cubicBezTo>
                        <a:pt x="71169" y="50006"/>
                        <a:pt x="53578" y="67597"/>
                        <a:pt x="53578" y="89297"/>
                      </a:cubicBezTo>
                      <a:cubicBezTo>
                        <a:pt x="53578" y="110996"/>
                        <a:pt x="71169" y="128588"/>
                        <a:pt x="92869" y="128588"/>
                      </a:cubicBezTo>
                      <a:cubicBezTo>
                        <a:pt x="114568" y="128588"/>
                        <a:pt x="132159" y="110996"/>
                        <a:pt x="132159" y="89297"/>
                      </a:cubicBezTo>
                      <a:cubicBezTo>
                        <a:pt x="132135" y="67607"/>
                        <a:pt x="114558" y="50031"/>
                        <a:pt x="92869" y="50006"/>
                      </a:cubicBezTo>
                      <a:close/>
                      <a:moveTo>
                        <a:pt x="92869" y="114300"/>
                      </a:moveTo>
                      <a:cubicBezTo>
                        <a:pt x="79060" y="114300"/>
                        <a:pt x="67866" y="103106"/>
                        <a:pt x="67866" y="89297"/>
                      </a:cubicBezTo>
                      <a:cubicBezTo>
                        <a:pt x="67866" y="75488"/>
                        <a:pt x="79060" y="64294"/>
                        <a:pt x="92869" y="64294"/>
                      </a:cubicBezTo>
                      <a:cubicBezTo>
                        <a:pt x="106678" y="64294"/>
                        <a:pt x="117872" y="75488"/>
                        <a:pt x="117872" y="89297"/>
                      </a:cubicBezTo>
                      <a:cubicBezTo>
                        <a:pt x="117872" y="103106"/>
                        <a:pt x="106678" y="114300"/>
                        <a:pt x="92869" y="114300"/>
                      </a:cubicBezTo>
                      <a:close/>
                    </a:path>
                  </a:pathLst>
                </a:custGeom>
                <a:solidFill>
                  <a:schemeClr val="accent1"/>
                </a:solidFill>
                <a:ln>
                  <a:noFill/>
                </a:ln>
              </p:spPr>
            </p:sp>
          </p:grpSp>
          <p:sp>
            <p:nvSpPr>
              <p:cNvPr id="22" name="TextBox 22"/>
              <p:cNvSpPr txBox="1"/>
              <p:nvPr/>
            </p:nvSpPr>
            <p:spPr>
              <a:xfrm>
                <a:off x="1060704" y="2937510"/>
                <a:ext cx="611467"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Camera</a:t>
                </a:r>
              </a:p>
            </p:txBody>
          </p:sp>
        </p:grpSp>
        <p:sp>
          <p:nvSpPr>
            <p:cNvPr id="24" name="Line 24"/>
            <p:cNvSpPr/>
            <p:nvPr/>
          </p:nvSpPr>
          <p:spPr>
            <a:xfrm>
              <a:off x="2533650" y="3019425"/>
              <a:ext cx="209550" cy="1"/>
            </a:xfrm>
            <a:prstGeom prst="line">
              <a:avLst/>
            </a:prstGeom>
            <a:noFill/>
            <a:ln w="14288">
              <a:solidFill>
                <a:schemeClr val="accent2"/>
              </a:solidFill>
              <a:tailEnd type="triangle" w="lg" len="lg"/>
            </a:ln>
          </p:spPr>
        </p:sp>
        <p:grpSp>
          <p:nvGrpSpPr>
            <p:cNvPr id="28" name="Group 28"/>
            <p:cNvGrpSpPr/>
            <p:nvPr/>
          </p:nvGrpSpPr>
          <p:grpSpPr>
            <a:xfrm>
              <a:off x="2762250" y="2714625"/>
              <a:ext cx="2095500" cy="609600"/>
              <a:chOff x="2762250" y="2714625"/>
              <a:chExt cx="2095500" cy="609600"/>
            </a:xfrm>
          </p:grpSpPr>
          <p:sp>
            <p:nvSpPr>
              <p:cNvPr id="25" name="Rectangle 25"/>
              <p:cNvSpPr/>
              <p:nvPr/>
            </p:nvSpPr>
            <p:spPr>
              <a:xfrm>
                <a:off x="2762250" y="2714625"/>
                <a:ext cx="2095500" cy="609600"/>
              </a:xfrm>
              <a:prstGeom prst="roundRect">
                <a:avLst>
                  <a:gd name="adj" fmla="val 6250"/>
                </a:avLst>
              </a:prstGeom>
              <a:solidFill>
                <a:srgbClr val="FFFFFF"/>
              </a:solidFill>
              <a:ln w="14288">
                <a:solidFill>
                  <a:schemeClr val="accent1"/>
                </a:solidFill>
              </a:ln>
            </p:spPr>
          </p:sp>
          <p:sp>
            <p:nvSpPr>
              <p:cNvPr id="26" name="TextBox 26"/>
              <p:cNvSpPr txBox="1"/>
              <p:nvPr/>
            </p:nvSpPr>
            <p:spPr>
              <a:xfrm>
                <a:off x="2870454" y="2832735"/>
                <a:ext cx="1273790"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YOLO detector</a:t>
                </a:r>
              </a:p>
            </p:txBody>
          </p:sp>
          <p:sp>
            <p:nvSpPr>
              <p:cNvPr id="27" name="TextBox 27"/>
              <p:cNvSpPr txBox="1"/>
              <p:nvPr/>
            </p:nvSpPr>
            <p:spPr>
              <a:xfrm>
                <a:off x="2871597" y="3057049"/>
                <a:ext cx="839971" cy="190690"/>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pose + TSSTG</a:t>
                </a:r>
              </a:p>
            </p:txBody>
          </p:sp>
        </p:grpSp>
        <p:sp>
          <p:nvSpPr>
            <p:cNvPr id="29" name="Line 29"/>
            <p:cNvSpPr/>
            <p:nvPr/>
          </p:nvSpPr>
          <p:spPr>
            <a:xfrm>
              <a:off x="4876800" y="1971675"/>
              <a:ext cx="247650" cy="323850"/>
            </a:xfrm>
            <a:prstGeom prst="line">
              <a:avLst/>
            </a:prstGeom>
            <a:noFill/>
            <a:ln w="14288">
              <a:solidFill>
                <a:schemeClr val="accent2"/>
              </a:solidFill>
              <a:tailEnd type="triangle" w="lg" len="lg"/>
            </a:ln>
          </p:spPr>
        </p:sp>
        <p:sp>
          <p:nvSpPr>
            <p:cNvPr id="30" name="Line 30"/>
            <p:cNvSpPr/>
            <p:nvPr/>
          </p:nvSpPr>
          <p:spPr>
            <a:xfrm flipV="1">
              <a:off x="4876800" y="2714625"/>
              <a:ext cx="247650" cy="304800"/>
            </a:xfrm>
            <a:prstGeom prst="line">
              <a:avLst/>
            </a:prstGeom>
            <a:noFill/>
            <a:ln w="14288">
              <a:solidFill>
                <a:schemeClr val="accent2"/>
              </a:solidFill>
              <a:tailEnd type="triangle" w="lg" len="lg"/>
            </a:ln>
          </p:spPr>
        </p:sp>
      </p:grpSp>
      <p:grpSp>
        <p:nvGrpSpPr>
          <p:cNvPr id="65" name="Group 65"/>
          <p:cNvGrpSpPr/>
          <p:nvPr/>
        </p:nvGrpSpPr>
        <p:grpSpPr>
          <a:xfrm>
            <a:off x="5143500" y="1666875"/>
            <a:ext cx="6438900" cy="1943100"/>
            <a:chOff x="5143500" y="1666875"/>
            <a:chExt cx="6438900" cy="1943100"/>
          </a:xfrm>
        </p:grpSpPr>
        <p:grpSp>
          <p:nvGrpSpPr>
            <p:cNvPr id="38" name="Group 38"/>
            <p:cNvGrpSpPr/>
            <p:nvPr/>
          </p:nvGrpSpPr>
          <p:grpSpPr>
            <a:xfrm>
              <a:off x="5143500" y="1952625"/>
              <a:ext cx="1714500" cy="1104900"/>
              <a:chOff x="5143500" y="1952625"/>
              <a:chExt cx="1714500" cy="1104900"/>
            </a:xfrm>
          </p:grpSpPr>
          <p:sp>
            <p:nvSpPr>
              <p:cNvPr id="32" name="Rectangle 32"/>
              <p:cNvSpPr/>
              <p:nvPr/>
            </p:nvSpPr>
            <p:spPr>
              <a:xfrm>
                <a:off x="5143500" y="1952625"/>
                <a:ext cx="1714500" cy="1104900"/>
              </a:xfrm>
              <a:prstGeom prst="roundRect">
                <a:avLst>
                  <a:gd name="adj" fmla="val 3448"/>
                </a:avLst>
              </a:prstGeom>
              <a:solidFill>
                <a:srgbClr val="FFFFFF"/>
              </a:solidFill>
              <a:ln w="14288">
                <a:solidFill>
                  <a:schemeClr val="accent1"/>
                </a:solidFill>
              </a:ln>
            </p:spPr>
          </p:sp>
          <p:grpSp>
            <p:nvGrpSpPr>
              <p:cNvPr id="35" name="Group 35"/>
              <p:cNvGrpSpPr/>
              <p:nvPr/>
            </p:nvGrpSpPr>
            <p:grpSpPr>
              <a:xfrm>
                <a:off x="5884069" y="2159794"/>
                <a:ext cx="233362" cy="233362"/>
                <a:chOff x="5884069" y="2159794"/>
                <a:chExt cx="233362" cy="233362"/>
              </a:xfrm>
            </p:grpSpPr>
            <p:sp>
              <p:nvSpPr>
                <p:cNvPr id="33" name="Freeform 33"/>
                <p:cNvSpPr/>
                <p:nvPr/>
              </p:nvSpPr>
              <p:spPr>
                <a:xfrm>
                  <a:off x="5917406" y="2193131"/>
                  <a:ext cx="166688" cy="166688"/>
                </a:xfrm>
                <a:custGeom>
                  <a:avLst/>
                  <a:gdLst/>
                  <a:ahLst/>
                  <a:cxnLst/>
                  <a:rect l="l" t="t" r="r" b="b"/>
                  <a:pathLst>
                    <a:path w="166688" h="166688">
                      <a:moveTo>
                        <a:pt x="158353" y="0"/>
                      </a:moveTo>
                      <a:lnTo>
                        <a:pt x="8334" y="0"/>
                      </a:lnTo>
                      <a:cubicBezTo>
                        <a:pt x="3731" y="0"/>
                        <a:pt x="0" y="3731"/>
                        <a:pt x="0" y="8334"/>
                      </a:cubicBezTo>
                      <a:lnTo>
                        <a:pt x="0" y="158353"/>
                      </a:lnTo>
                      <a:cubicBezTo>
                        <a:pt x="0" y="162956"/>
                        <a:pt x="3731" y="166688"/>
                        <a:pt x="8334" y="166688"/>
                      </a:cubicBezTo>
                      <a:lnTo>
                        <a:pt x="158353" y="166688"/>
                      </a:lnTo>
                      <a:cubicBezTo>
                        <a:pt x="162956" y="166688"/>
                        <a:pt x="166688" y="162956"/>
                        <a:pt x="166688" y="158353"/>
                      </a:cubicBezTo>
                      <a:lnTo>
                        <a:pt x="166688" y="8334"/>
                      </a:lnTo>
                      <a:cubicBezTo>
                        <a:pt x="166688" y="3731"/>
                        <a:pt x="162956" y="0"/>
                        <a:pt x="158353" y="0"/>
                      </a:cubicBezTo>
                      <a:close/>
                      <a:moveTo>
                        <a:pt x="108347" y="108347"/>
                      </a:moveTo>
                      <a:lnTo>
                        <a:pt x="58341" y="108347"/>
                      </a:lnTo>
                      <a:lnTo>
                        <a:pt x="58341" y="58341"/>
                      </a:lnTo>
                      <a:lnTo>
                        <a:pt x="108347" y="58341"/>
                      </a:lnTo>
                      <a:close/>
                    </a:path>
                  </a:pathLst>
                </a:custGeom>
                <a:solidFill>
                  <a:schemeClr val="accent1">
                    <a:alpha val="20000"/>
                  </a:schemeClr>
                </a:solidFill>
                <a:ln>
                  <a:noFill/>
                </a:ln>
              </p:spPr>
            </p:sp>
            <p:sp>
              <p:nvSpPr>
                <p:cNvPr id="34" name="Freeform 34"/>
                <p:cNvSpPr/>
                <p:nvPr/>
              </p:nvSpPr>
              <p:spPr>
                <a:xfrm>
                  <a:off x="5884069" y="2159794"/>
                  <a:ext cx="233362" cy="233362"/>
                </a:xfrm>
                <a:custGeom>
                  <a:avLst/>
                  <a:gdLst/>
                  <a:ahLst/>
                  <a:cxnLst/>
                  <a:rect l="l" t="t" r="r" b="b"/>
                  <a:pathLst>
                    <a:path w="233362" h="233362">
                      <a:moveTo>
                        <a:pt x="141684" y="83344"/>
                      </a:moveTo>
                      <a:lnTo>
                        <a:pt x="91678" y="83344"/>
                      </a:lnTo>
                      <a:cubicBezTo>
                        <a:pt x="87075" y="83344"/>
                        <a:pt x="83344" y="87075"/>
                        <a:pt x="83344" y="91678"/>
                      </a:cubicBezTo>
                      <a:lnTo>
                        <a:pt x="83344" y="141684"/>
                      </a:lnTo>
                      <a:cubicBezTo>
                        <a:pt x="83344" y="146287"/>
                        <a:pt x="87075" y="150019"/>
                        <a:pt x="91678" y="150019"/>
                      </a:cubicBezTo>
                      <a:lnTo>
                        <a:pt x="141684" y="150019"/>
                      </a:lnTo>
                      <a:cubicBezTo>
                        <a:pt x="146287" y="150019"/>
                        <a:pt x="150019" y="146287"/>
                        <a:pt x="150019" y="141684"/>
                      </a:cubicBezTo>
                      <a:lnTo>
                        <a:pt x="150019" y="91678"/>
                      </a:lnTo>
                      <a:cubicBezTo>
                        <a:pt x="150019" y="87075"/>
                        <a:pt x="146287" y="83344"/>
                        <a:pt x="141684" y="83344"/>
                      </a:cubicBezTo>
                      <a:close/>
                      <a:moveTo>
                        <a:pt x="133350" y="133350"/>
                      </a:moveTo>
                      <a:lnTo>
                        <a:pt x="100012" y="133350"/>
                      </a:lnTo>
                      <a:lnTo>
                        <a:pt x="100012" y="100012"/>
                      </a:lnTo>
                      <a:lnTo>
                        <a:pt x="133350" y="100012"/>
                      </a:lnTo>
                      <a:close/>
                      <a:moveTo>
                        <a:pt x="225028" y="133350"/>
                      </a:moveTo>
                      <a:lnTo>
                        <a:pt x="208359" y="133350"/>
                      </a:lnTo>
                      <a:lnTo>
                        <a:pt x="208359" y="100012"/>
                      </a:lnTo>
                      <a:lnTo>
                        <a:pt x="225028" y="100012"/>
                      </a:lnTo>
                      <a:cubicBezTo>
                        <a:pt x="229631" y="100012"/>
                        <a:pt x="233362" y="96281"/>
                        <a:pt x="233362" y="91678"/>
                      </a:cubicBezTo>
                      <a:cubicBezTo>
                        <a:pt x="233362" y="87075"/>
                        <a:pt x="229631" y="83344"/>
                        <a:pt x="225028" y="83344"/>
                      </a:cubicBezTo>
                      <a:lnTo>
                        <a:pt x="208359" y="83344"/>
                      </a:lnTo>
                      <a:lnTo>
                        <a:pt x="208359" y="41672"/>
                      </a:lnTo>
                      <a:cubicBezTo>
                        <a:pt x="208359" y="32466"/>
                        <a:pt x="200897" y="25003"/>
                        <a:pt x="191691" y="25003"/>
                      </a:cubicBezTo>
                      <a:lnTo>
                        <a:pt x="150019" y="25003"/>
                      </a:lnTo>
                      <a:lnTo>
                        <a:pt x="150019" y="8334"/>
                      </a:lnTo>
                      <a:cubicBezTo>
                        <a:pt x="150019" y="3731"/>
                        <a:pt x="146287" y="0"/>
                        <a:pt x="141684" y="0"/>
                      </a:cubicBezTo>
                      <a:cubicBezTo>
                        <a:pt x="137081" y="0"/>
                        <a:pt x="133350" y="3731"/>
                        <a:pt x="133350" y="8334"/>
                      </a:cubicBezTo>
                      <a:lnTo>
                        <a:pt x="133350" y="25003"/>
                      </a:lnTo>
                      <a:lnTo>
                        <a:pt x="100012" y="25003"/>
                      </a:lnTo>
                      <a:lnTo>
                        <a:pt x="100012" y="8334"/>
                      </a:lnTo>
                      <a:cubicBezTo>
                        <a:pt x="100012" y="3731"/>
                        <a:pt x="96281" y="0"/>
                        <a:pt x="91678" y="0"/>
                      </a:cubicBezTo>
                      <a:cubicBezTo>
                        <a:pt x="87075" y="0"/>
                        <a:pt x="83344" y="3731"/>
                        <a:pt x="83344" y="8334"/>
                      </a:cubicBezTo>
                      <a:lnTo>
                        <a:pt x="83344" y="25003"/>
                      </a:lnTo>
                      <a:lnTo>
                        <a:pt x="41672" y="25003"/>
                      </a:lnTo>
                      <a:cubicBezTo>
                        <a:pt x="32466" y="25003"/>
                        <a:pt x="25003" y="32466"/>
                        <a:pt x="25003" y="41672"/>
                      </a:cubicBezTo>
                      <a:lnTo>
                        <a:pt x="25003" y="83344"/>
                      </a:lnTo>
                      <a:lnTo>
                        <a:pt x="8334" y="83344"/>
                      </a:lnTo>
                      <a:cubicBezTo>
                        <a:pt x="3731" y="83344"/>
                        <a:pt x="0" y="87075"/>
                        <a:pt x="0" y="91678"/>
                      </a:cubicBezTo>
                      <a:cubicBezTo>
                        <a:pt x="0" y="96281"/>
                        <a:pt x="3731" y="100012"/>
                        <a:pt x="8334" y="100012"/>
                      </a:cubicBezTo>
                      <a:lnTo>
                        <a:pt x="25003" y="100012"/>
                      </a:lnTo>
                      <a:lnTo>
                        <a:pt x="25003" y="133350"/>
                      </a:lnTo>
                      <a:lnTo>
                        <a:pt x="8334" y="133350"/>
                      </a:lnTo>
                      <a:cubicBezTo>
                        <a:pt x="3731" y="133350"/>
                        <a:pt x="0" y="137081"/>
                        <a:pt x="0" y="141684"/>
                      </a:cubicBezTo>
                      <a:cubicBezTo>
                        <a:pt x="0" y="146287"/>
                        <a:pt x="3731" y="150019"/>
                        <a:pt x="8334" y="150019"/>
                      </a:cubicBezTo>
                      <a:lnTo>
                        <a:pt x="25003" y="150019"/>
                      </a:lnTo>
                      <a:lnTo>
                        <a:pt x="25003" y="191691"/>
                      </a:lnTo>
                      <a:cubicBezTo>
                        <a:pt x="25003" y="200897"/>
                        <a:pt x="32466" y="208359"/>
                        <a:pt x="41672" y="208359"/>
                      </a:cubicBezTo>
                      <a:lnTo>
                        <a:pt x="83344" y="208359"/>
                      </a:lnTo>
                      <a:lnTo>
                        <a:pt x="83344" y="225028"/>
                      </a:lnTo>
                      <a:cubicBezTo>
                        <a:pt x="83344" y="229631"/>
                        <a:pt x="87075" y="233362"/>
                        <a:pt x="91678" y="233362"/>
                      </a:cubicBezTo>
                      <a:cubicBezTo>
                        <a:pt x="96281" y="233362"/>
                        <a:pt x="100012" y="229631"/>
                        <a:pt x="100012" y="225028"/>
                      </a:cubicBezTo>
                      <a:lnTo>
                        <a:pt x="100012" y="208359"/>
                      </a:lnTo>
                      <a:lnTo>
                        <a:pt x="133350" y="208359"/>
                      </a:lnTo>
                      <a:lnTo>
                        <a:pt x="133350" y="225028"/>
                      </a:lnTo>
                      <a:cubicBezTo>
                        <a:pt x="133350" y="229631"/>
                        <a:pt x="137081" y="233362"/>
                        <a:pt x="141684" y="233362"/>
                      </a:cubicBezTo>
                      <a:cubicBezTo>
                        <a:pt x="146287" y="233362"/>
                        <a:pt x="150019" y="229631"/>
                        <a:pt x="150019" y="225028"/>
                      </a:cubicBezTo>
                      <a:lnTo>
                        <a:pt x="150019" y="208359"/>
                      </a:lnTo>
                      <a:lnTo>
                        <a:pt x="191691" y="208359"/>
                      </a:lnTo>
                      <a:cubicBezTo>
                        <a:pt x="200897" y="208359"/>
                        <a:pt x="208359" y="200897"/>
                        <a:pt x="208359" y="191691"/>
                      </a:cubicBezTo>
                      <a:lnTo>
                        <a:pt x="208359" y="150019"/>
                      </a:lnTo>
                      <a:lnTo>
                        <a:pt x="225028" y="150019"/>
                      </a:lnTo>
                      <a:cubicBezTo>
                        <a:pt x="229631" y="150019"/>
                        <a:pt x="233362" y="146287"/>
                        <a:pt x="233362" y="141684"/>
                      </a:cubicBezTo>
                      <a:cubicBezTo>
                        <a:pt x="233362" y="137081"/>
                        <a:pt x="229631" y="133350"/>
                        <a:pt x="225028" y="133350"/>
                      </a:cubicBezTo>
                      <a:close/>
                      <a:moveTo>
                        <a:pt x="191691" y="191691"/>
                      </a:moveTo>
                      <a:lnTo>
                        <a:pt x="41672" y="191691"/>
                      </a:lnTo>
                      <a:lnTo>
                        <a:pt x="41672" y="41672"/>
                      </a:lnTo>
                      <a:lnTo>
                        <a:pt x="191691" y="41672"/>
                      </a:lnTo>
                      <a:lnTo>
                        <a:pt x="191691" y="141549"/>
                      </a:lnTo>
                      <a:cubicBezTo>
                        <a:pt x="191691" y="141549"/>
                        <a:pt x="191691" y="141643"/>
                        <a:pt x="191691" y="141684"/>
                      </a:cubicBezTo>
                      <a:cubicBezTo>
                        <a:pt x="191691" y="141726"/>
                        <a:pt x="191691" y="141778"/>
                        <a:pt x="191691" y="141820"/>
                      </a:cubicBezTo>
                      <a:lnTo>
                        <a:pt x="191691" y="191691"/>
                      </a:lnTo>
                      <a:close/>
                    </a:path>
                  </a:pathLst>
                </a:custGeom>
                <a:solidFill>
                  <a:schemeClr val="accent1"/>
                </a:solidFill>
                <a:ln>
                  <a:noFill/>
                </a:ln>
              </p:spPr>
            </p:sp>
          </p:grpSp>
          <p:sp>
            <p:nvSpPr>
              <p:cNvPr id="36" name="TextBox 36"/>
              <p:cNvSpPr txBox="1"/>
              <p:nvPr/>
            </p:nvSpPr>
            <p:spPr>
              <a:xfrm>
                <a:off x="5692923" y="2576989"/>
                <a:ext cx="615653" cy="249364"/>
              </a:xfrm>
              <a:prstGeom prst="rect">
                <a:avLst/>
              </a:prstGeom>
              <a:noFill/>
              <a:ln>
                <a:noFill/>
              </a:ln>
            </p:spPr>
            <p:txBody>
              <a:bodyPr wrap="none" lIns="0" tIns="0" rIns="0" bIns="0" anchor="t" anchorCtr="0">
                <a:spAutoFit/>
              </a:bodyPr>
              <a:lstStyle/>
              <a:p>
                <a:pPr algn="ctr"/>
                <a:r>
                  <a:rPr lang="en" sz="1280" b="1" dirty="0">
                    <a:solidFill>
                      <a:schemeClr val="accent1"/>
                    </a:solidFill>
                    <a:latin typeface="+mn-lt"/>
                    <a:ea typeface="+mn-ea"/>
                    <a:cs typeface="+mn-cs"/>
                  </a:rPr>
                  <a:t>Jetson</a:t>
                </a:r>
              </a:p>
            </p:txBody>
          </p:sp>
          <p:sp>
            <p:nvSpPr>
              <p:cNvPr id="37" name="TextBox 37"/>
              <p:cNvSpPr txBox="1"/>
              <p:nvPr/>
            </p:nvSpPr>
            <p:spPr>
              <a:xfrm>
                <a:off x="5573629" y="2809399"/>
                <a:ext cx="854243" cy="190690"/>
              </a:xfrm>
              <a:prstGeom prst="rect">
                <a:avLst/>
              </a:prstGeom>
              <a:noFill/>
              <a:ln>
                <a:noFill/>
              </a:ln>
            </p:spPr>
            <p:txBody>
              <a:bodyPr wrap="none" lIns="0" tIns="0" rIns="0" bIns="0" anchor="t" anchorCtr="0">
                <a:spAutoFit/>
              </a:bodyPr>
              <a:lstStyle/>
              <a:p>
                <a:pPr algn="ctr"/>
                <a:r>
                  <a:rPr lang="en" sz="980" dirty="0">
                    <a:solidFill>
                      <a:schemeClr val="accent5"/>
                    </a:solidFill>
                    <a:latin typeface="+mn-lt"/>
                    <a:ea typeface="+mn-ea"/>
                    <a:cs typeface="+mn-cs"/>
                  </a:rPr>
                  <a:t>fusion engine</a:t>
                </a:r>
              </a:p>
            </p:txBody>
          </p:sp>
        </p:grpSp>
        <p:sp>
          <p:nvSpPr>
            <p:cNvPr id="39" name="Line 39"/>
            <p:cNvSpPr/>
            <p:nvPr/>
          </p:nvSpPr>
          <p:spPr>
            <a:xfrm>
              <a:off x="6877050" y="1933575"/>
              <a:ext cx="323850" cy="1"/>
            </a:xfrm>
            <a:prstGeom prst="line">
              <a:avLst/>
            </a:prstGeom>
            <a:noFill/>
            <a:ln w="14288">
              <a:solidFill>
                <a:schemeClr val="accent3"/>
              </a:solidFill>
              <a:tailEnd type="triangle" w="lg" len="lg"/>
            </a:ln>
          </p:spPr>
        </p:sp>
        <p:sp>
          <p:nvSpPr>
            <p:cNvPr id="40" name="Line 40"/>
            <p:cNvSpPr/>
            <p:nvPr/>
          </p:nvSpPr>
          <p:spPr>
            <a:xfrm>
              <a:off x="6877050" y="2581275"/>
              <a:ext cx="323850" cy="1"/>
            </a:xfrm>
            <a:prstGeom prst="line">
              <a:avLst/>
            </a:prstGeom>
            <a:noFill/>
            <a:ln w="14288">
              <a:solidFill>
                <a:schemeClr val="accent2"/>
              </a:solidFill>
              <a:tailEnd type="triangle" w="lg" len="lg"/>
            </a:ln>
          </p:spPr>
        </p:sp>
        <p:sp>
          <p:nvSpPr>
            <p:cNvPr id="41" name="Line 41"/>
            <p:cNvSpPr/>
            <p:nvPr/>
          </p:nvSpPr>
          <p:spPr>
            <a:xfrm>
              <a:off x="6877050" y="3228975"/>
              <a:ext cx="323850" cy="1"/>
            </a:xfrm>
            <a:prstGeom prst="line">
              <a:avLst/>
            </a:prstGeom>
            <a:noFill/>
            <a:ln w="14288">
              <a:solidFill>
                <a:srgbClr val="C4553B"/>
              </a:solidFill>
              <a:tailEnd type="triangle" w="lg" len="lg"/>
            </a:ln>
          </p:spPr>
        </p:sp>
        <p:grpSp>
          <p:nvGrpSpPr>
            <p:cNvPr id="46" name="Group 46"/>
            <p:cNvGrpSpPr/>
            <p:nvPr/>
          </p:nvGrpSpPr>
          <p:grpSpPr>
            <a:xfrm>
              <a:off x="7239000" y="1666875"/>
              <a:ext cx="1619250" cy="533400"/>
              <a:chOff x="7239000" y="1666875"/>
              <a:chExt cx="1619250" cy="533400"/>
            </a:xfrm>
          </p:grpSpPr>
          <p:sp>
            <p:nvSpPr>
              <p:cNvPr id="42" name="Rectangle 42"/>
              <p:cNvSpPr/>
              <p:nvPr/>
            </p:nvSpPr>
            <p:spPr>
              <a:xfrm>
                <a:off x="7239000" y="1666875"/>
                <a:ext cx="1619250" cy="533400"/>
              </a:xfrm>
              <a:prstGeom prst="roundRect">
                <a:avLst>
                  <a:gd name="adj" fmla="val 7143"/>
                </a:avLst>
              </a:prstGeom>
              <a:solidFill>
                <a:srgbClr val="FFFFFF"/>
              </a:solidFill>
              <a:ln w="14288">
                <a:solidFill>
                  <a:schemeClr val="accent3"/>
                </a:solidFill>
              </a:ln>
            </p:spPr>
          </p:sp>
          <p:sp>
            <p:nvSpPr>
              <p:cNvPr id="43" name="Rectangle 43"/>
              <p:cNvSpPr/>
              <p:nvPr/>
            </p:nvSpPr>
            <p:spPr>
              <a:xfrm>
                <a:off x="7239000" y="1666875"/>
                <a:ext cx="28575" cy="533400"/>
              </a:xfrm>
              <a:prstGeom prst="rect">
                <a:avLst/>
              </a:prstGeom>
              <a:solidFill>
                <a:schemeClr val="accent3"/>
              </a:solidFill>
              <a:ln>
                <a:noFill/>
              </a:ln>
            </p:spPr>
          </p:sp>
          <p:sp>
            <p:nvSpPr>
              <p:cNvPr id="44" name="TextBox 44"/>
              <p:cNvSpPr txBox="1"/>
              <p:nvPr/>
            </p:nvSpPr>
            <p:spPr>
              <a:xfrm>
                <a:off x="7404354" y="1765935"/>
                <a:ext cx="1340285"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Tier 0 — Monitor</a:t>
                </a:r>
              </a:p>
            </p:txBody>
          </p:sp>
          <p:sp>
            <p:nvSpPr>
              <p:cNvPr id="45" name="TextBox 45"/>
              <p:cNvSpPr txBox="1"/>
              <p:nvPr/>
            </p:nvSpPr>
            <p:spPr>
              <a:xfrm>
                <a:off x="7405497" y="1980724"/>
                <a:ext cx="1217044" cy="190690"/>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continue observing</a:t>
                </a:r>
              </a:p>
            </p:txBody>
          </p:sp>
        </p:grpSp>
        <p:grpSp>
          <p:nvGrpSpPr>
            <p:cNvPr id="51" name="Group 51"/>
            <p:cNvGrpSpPr/>
            <p:nvPr/>
          </p:nvGrpSpPr>
          <p:grpSpPr>
            <a:xfrm>
              <a:off x="7239000" y="2314575"/>
              <a:ext cx="1619250" cy="533400"/>
              <a:chOff x="7239000" y="2314575"/>
              <a:chExt cx="1619250" cy="533400"/>
            </a:xfrm>
          </p:grpSpPr>
          <p:sp>
            <p:nvSpPr>
              <p:cNvPr id="47" name="Rectangle 47"/>
              <p:cNvSpPr/>
              <p:nvPr/>
            </p:nvSpPr>
            <p:spPr>
              <a:xfrm>
                <a:off x="7239000" y="2314575"/>
                <a:ext cx="1619250" cy="533400"/>
              </a:xfrm>
              <a:prstGeom prst="roundRect">
                <a:avLst>
                  <a:gd name="adj" fmla="val 7143"/>
                </a:avLst>
              </a:prstGeom>
              <a:solidFill>
                <a:srgbClr val="FFFFFF"/>
              </a:solidFill>
              <a:ln w="14288">
                <a:solidFill>
                  <a:schemeClr val="accent2"/>
                </a:solidFill>
              </a:ln>
            </p:spPr>
          </p:sp>
          <p:sp>
            <p:nvSpPr>
              <p:cNvPr id="48" name="Rectangle 48"/>
              <p:cNvSpPr/>
              <p:nvPr/>
            </p:nvSpPr>
            <p:spPr>
              <a:xfrm>
                <a:off x="7239000" y="2314575"/>
                <a:ext cx="28575" cy="533400"/>
              </a:xfrm>
              <a:prstGeom prst="rect">
                <a:avLst/>
              </a:prstGeom>
              <a:solidFill>
                <a:schemeClr val="accent2"/>
              </a:solidFill>
              <a:ln>
                <a:noFill/>
              </a:ln>
            </p:spPr>
          </p:sp>
          <p:sp>
            <p:nvSpPr>
              <p:cNvPr id="49" name="TextBox 49"/>
              <p:cNvSpPr txBox="1"/>
              <p:nvPr/>
            </p:nvSpPr>
            <p:spPr>
              <a:xfrm>
                <a:off x="7404354" y="2413635"/>
                <a:ext cx="1212982"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Tier 1 — Verify</a:t>
                </a:r>
              </a:p>
            </p:txBody>
          </p:sp>
          <p:sp>
            <p:nvSpPr>
              <p:cNvPr id="50" name="TextBox 50"/>
              <p:cNvSpPr txBox="1"/>
              <p:nvPr/>
            </p:nvSpPr>
            <p:spPr>
              <a:xfrm>
                <a:off x="7405497" y="2628424"/>
                <a:ext cx="1217044" cy="190690"/>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spoken voice check</a:t>
                </a:r>
              </a:p>
            </p:txBody>
          </p:sp>
        </p:grpSp>
        <p:grpSp>
          <p:nvGrpSpPr>
            <p:cNvPr id="56" name="Group 56"/>
            <p:cNvGrpSpPr/>
            <p:nvPr/>
          </p:nvGrpSpPr>
          <p:grpSpPr>
            <a:xfrm>
              <a:off x="7239000" y="2962275"/>
              <a:ext cx="1619250" cy="533400"/>
              <a:chOff x="7239000" y="2962275"/>
              <a:chExt cx="1619250" cy="533400"/>
            </a:xfrm>
          </p:grpSpPr>
          <p:sp>
            <p:nvSpPr>
              <p:cNvPr id="52" name="Rectangle 52"/>
              <p:cNvSpPr/>
              <p:nvPr/>
            </p:nvSpPr>
            <p:spPr>
              <a:xfrm>
                <a:off x="7239000" y="2962275"/>
                <a:ext cx="1619250" cy="533400"/>
              </a:xfrm>
              <a:prstGeom prst="roundRect">
                <a:avLst>
                  <a:gd name="adj" fmla="val 7143"/>
                </a:avLst>
              </a:prstGeom>
              <a:solidFill>
                <a:srgbClr val="FFFFFF"/>
              </a:solidFill>
              <a:ln w="14288">
                <a:solidFill>
                  <a:srgbClr val="C4553B"/>
                </a:solidFill>
              </a:ln>
            </p:spPr>
          </p:sp>
          <p:sp>
            <p:nvSpPr>
              <p:cNvPr id="53" name="Rectangle 53"/>
              <p:cNvSpPr/>
              <p:nvPr/>
            </p:nvSpPr>
            <p:spPr>
              <a:xfrm>
                <a:off x="7239000" y="2962275"/>
                <a:ext cx="28575" cy="533400"/>
              </a:xfrm>
              <a:prstGeom prst="rect">
                <a:avLst/>
              </a:prstGeom>
              <a:solidFill>
                <a:srgbClr val="C4553B"/>
              </a:solidFill>
              <a:ln>
                <a:noFill/>
              </a:ln>
            </p:spPr>
          </p:sp>
          <p:sp>
            <p:nvSpPr>
              <p:cNvPr id="54" name="TextBox 54"/>
              <p:cNvSpPr txBox="1"/>
              <p:nvPr/>
            </p:nvSpPr>
            <p:spPr>
              <a:xfrm>
                <a:off x="7404354" y="3061335"/>
                <a:ext cx="1399085"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Tier 2 — Escalate</a:t>
                </a:r>
              </a:p>
            </p:txBody>
          </p:sp>
          <p:sp>
            <p:nvSpPr>
              <p:cNvPr id="55" name="TextBox 55"/>
              <p:cNvSpPr txBox="1"/>
              <p:nvPr/>
            </p:nvSpPr>
            <p:spPr>
              <a:xfrm>
                <a:off x="7405497" y="3276124"/>
                <a:ext cx="1111501" cy="190690"/>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incident creation</a:t>
                </a:r>
              </a:p>
            </p:txBody>
          </p:sp>
        </p:grpSp>
        <p:sp>
          <p:nvSpPr>
            <p:cNvPr id="57" name="Line 57"/>
            <p:cNvSpPr/>
            <p:nvPr/>
          </p:nvSpPr>
          <p:spPr>
            <a:xfrm>
              <a:off x="8877300" y="1933575"/>
              <a:ext cx="228600" cy="333375"/>
            </a:xfrm>
            <a:custGeom>
              <a:avLst/>
              <a:gdLst/>
              <a:ahLst/>
              <a:cxnLst/>
              <a:rect l="l" t="t" r="r" b="b"/>
              <a:pathLst>
                <a:path w="228600" h="333375">
                  <a:moveTo>
                    <a:pt x="0" y="0"/>
                  </a:moveTo>
                  <a:lnTo>
                    <a:pt x="228600" y="333375"/>
                  </a:lnTo>
                </a:path>
              </a:pathLst>
            </a:custGeom>
            <a:noFill/>
            <a:ln w="9525">
              <a:solidFill>
                <a:schemeClr val="accent3"/>
              </a:solidFill>
            </a:ln>
          </p:spPr>
        </p:sp>
        <p:sp>
          <p:nvSpPr>
            <p:cNvPr id="58" name="Line 58"/>
            <p:cNvSpPr/>
            <p:nvPr/>
          </p:nvSpPr>
          <p:spPr>
            <a:xfrm>
              <a:off x="8877300" y="2914650"/>
              <a:ext cx="228600" cy="314325"/>
            </a:xfrm>
            <a:custGeom>
              <a:avLst/>
              <a:gdLst/>
              <a:ahLst/>
              <a:cxnLst/>
              <a:rect l="l" t="t" r="r" b="b"/>
              <a:pathLst>
                <a:path w="228600" h="314325">
                  <a:moveTo>
                    <a:pt x="0" y="314325"/>
                  </a:moveTo>
                  <a:lnTo>
                    <a:pt x="228600" y="0"/>
                  </a:lnTo>
                </a:path>
              </a:pathLst>
            </a:custGeom>
            <a:noFill/>
            <a:ln w="9525">
              <a:solidFill>
                <a:srgbClr val="C4553B"/>
              </a:solidFill>
            </a:ln>
          </p:spPr>
        </p:sp>
        <p:grpSp>
          <p:nvGrpSpPr>
            <p:cNvPr id="63" name="Group 63"/>
            <p:cNvGrpSpPr/>
            <p:nvPr/>
          </p:nvGrpSpPr>
          <p:grpSpPr>
            <a:xfrm>
              <a:off x="9144000" y="2085975"/>
              <a:ext cx="2438400" cy="990600"/>
              <a:chOff x="9144000" y="2085975"/>
              <a:chExt cx="2438400" cy="990600"/>
            </a:xfrm>
          </p:grpSpPr>
          <p:sp>
            <p:nvSpPr>
              <p:cNvPr id="59" name="Rectangle 59"/>
              <p:cNvSpPr/>
              <p:nvPr/>
            </p:nvSpPr>
            <p:spPr>
              <a:xfrm>
                <a:off x="9144000" y="2085975"/>
                <a:ext cx="2438400" cy="990600"/>
              </a:xfrm>
              <a:prstGeom prst="roundRect">
                <a:avLst>
                  <a:gd name="adj" fmla="val 3846"/>
                </a:avLst>
              </a:prstGeom>
              <a:solidFill>
                <a:srgbClr val="FFFFFF"/>
              </a:solidFill>
              <a:ln w="14288">
                <a:solidFill>
                  <a:schemeClr val="accent6"/>
                </a:solidFill>
              </a:ln>
            </p:spPr>
          </p:sp>
          <p:sp>
            <p:nvSpPr>
              <p:cNvPr id="60" name="TextBox 60"/>
              <p:cNvSpPr txBox="1"/>
              <p:nvPr/>
            </p:nvSpPr>
            <p:spPr>
              <a:xfrm>
                <a:off x="9291638" y="2236470"/>
                <a:ext cx="876193" cy="176212"/>
              </a:xfrm>
              <a:prstGeom prst="rect">
                <a:avLst/>
              </a:prstGeom>
              <a:noFill/>
              <a:ln>
                <a:noFill/>
              </a:ln>
            </p:spPr>
            <p:txBody>
              <a:bodyPr wrap="none" lIns="0" tIns="0" rIns="0" bIns="0" anchor="t" anchorCtr="0">
                <a:spAutoFit/>
              </a:bodyPr>
              <a:lstStyle/>
              <a:p>
                <a:pPr algn="l"/>
                <a:r>
                  <a:rPr lang="en" sz="900" spc="112" dirty="0">
                    <a:solidFill>
                      <a:schemeClr val="accent5"/>
                    </a:solidFill>
                    <a:latin typeface="+mn-lt"/>
                    <a:ea typeface="+mn-ea"/>
                    <a:cs typeface="+mn-cs"/>
                  </a:rPr>
                  <a:t>RESOLUTION</a:t>
                </a:r>
              </a:p>
            </p:txBody>
          </p:sp>
          <p:sp>
            <p:nvSpPr>
              <p:cNvPr id="61" name="TextBox 61"/>
              <p:cNvSpPr txBox="1"/>
              <p:nvPr/>
            </p:nvSpPr>
            <p:spPr>
              <a:xfrm>
                <a:off x="9290304" y="2489835"/>
                <a:ext cx="2053133"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Tier 1 → voice verification</a:t>
                </a:r>
              </a:p>
            </p:txBody>
          </p:sp>
          <p:sp>
            <p:nvSpPr>
              <p:cNvPr id="62" name="TextBox 62"/>
              <p:cNvSpPr txBox="1"/>
              <p:nvPr/>
            </p:nvSpPr>
            <p:spPr>
              <a:xfrm>
                <a:off x="9290304" y="2756535"/>
                <a:ext cx="2004807"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Tier 2 → incident creation</a:t>
                </a:r>
              </a:p>
            </p:txBody>
          </p:sp>
        </p:grpSp>
        <p:sp>
          <p:nvSpPr>
            <p:cNvPr id="64" name="Line 64"/>
            <p:cNvSpPr/>
            <p:nvPr/>
          </p:nvSpPr>
          <p:spPr>
            <a:xfrm>
              <a:off x="6000750" y="3076575"/>
              <a:ext cx="9525" cy="533400"/>
            </a:xfrm>
            <a:custGeom>
              <a:avLst/>
              <a:gdLst/>
              <a:ahLst/>
              <a:cxnLst/>
              <a:rect l="l" t="t" r="r" b="b"/>
              <a:pathLst>
                <a:path w="9525" h="533400">
                  <a:moveTo>
                    <a:pt x="0" y="0"/>
                  </a:moveTo>
                  <a:lnTo>
                    <a:pt x="0" y="533400"/>
                  </a:lnTo>
                </a:path>
              </a:pathLst>
            </a:custGeom>
            <a:noFill/>
            <a:ln w="14288">
              <a:solidFill>
                <a:schemeClr val="accent2"/>
              </a:solidFill>
            </a:ln>
          </p:spPr>
        </p:sp>
      </p:grpSp>
      <p:grpSp>
        <p:nvGrpSpPr>
          <p:cNvPr id="110" name="Group 110"/>
          <p:cNvGrpSpPr/>
          <p:nvPr/>
        </p:nvGrpSpPr>
        <p:grpSpPr>
          <a:xfrm>
            <a:off x="609600" y="3629025"/>
            <a:ext cx="10972800" cy="1676114"/>
            <a:chOff x="609600" y="3629025"/>
            <a:chExt cx="10972800" cy="1676114"/>
          </a:xfrm>
        </p:grpSpPr>
        <p:sp>
          <p:nvSpPr>
            <p:cNvPr id="66" name="Line 66"/>
            <p:cNvSpPr/>
            <p:nvPr/>
          </p:nvSpPr>
          <p:spPr>
            <a:xfrm>
              <a:off x="6000750" y="3629025"/>
              <a:ext cx="9525" cy="66675"/>
            </a:xfrm>
            <a:custGeom>
              <a:avLst/>
              <a:gdLst/>
              <a:ahLst/>
              <a:cxnLst/>
              <a:rect l="l" t="t" r="r" b="b"/>
              <a:pathLst>
                <a:path w="9525" h="66675">
                  <a:moveTo>
                    <a:pt x="0" y="0"/>
                  </a:moveTo>
                  <a:lnTo>
                    <a:pt x="0" y="66675"/>
                  </a:lnTo>
                </a:path>
              </a:pathLst>
            </a:custGeom>
            <a:noFill/>
            <a:ln w="14288">
              <a:solidFill>
                <a:schemeClr val="accent2"/>
              </a:solidFill>
            </a:ln>
          </p:spPr>
        </p:sp>
        <p:sp>
          <p:nvSpPr>
            <p:cNvPr id="67" name="Line 67"/>
            <p:cNvSpPr/>
            <p:nvPr/>
          </p:nvSpPr>
          <p:spPr>
            <a:xfrm>
              <a:off x="1866900" y="3695700"/>
              <a:ext cx="8458200" cy="9525"/>
            </a:xfrm>
            <a:custGeom>
              <a:avLst/>
              <a:gdLst/>
              <a:ahLst/>
              <a:cxnLst/>
              <a:rect l="l" t="t" r="r" b="b"/>
              <a:pathLst>
                <a:path w="8458200" h="9525">
                  <a:moveTo>
                    <a:pt x="0" y="0"/>
                  </a:moveTo>
                  <a:lnTo>
                    <a:pt x="8458200" y="0"/>
                  </a:lnTo>
                </a:path>
              </a:pathLst>
            </a:custGeom>
            <a:noFill/>
            <a:ln w="14288">
              <a:solidFill>
                <a:schemeClr val="accent2"/>
              </a:solidFill>
            </a:ln>
          </p:spPr>
        </p:sp>
        <p:grpSp>
          <p:nvGrpSpPr>
            <p:cNvPr id="76" name="Group 76"/>
            <p:cNvGrpSpPr/>
            <p:nvPr/>
          </p:nvGrpSpPr>
          <p:grpSpPr>
            <a:xfrm>
              <a:off x="609600" y="3695700"/>
              <a:ext cx="2514600" cy="1104900"/>
              <a:chOff x="609600" y="3695700"/>
              <a:chExt cx="2514600" cy="1104900"/>
            </a:xfrm>
          </p:grpSpPr>
          <p:sp>
            <p:nvSpPr>
              <p:cNvPr id="68" name="Line 68"/>
              <p:cNvSpPr/>
              <p:nvPr/>
            </p:nvSpPr>
            <p:spPr>
              <a:xfrm>
                <a:off x="1866900" y="3695700"/>
                <a:ext cx="1" cy="133350"/>
              </a:xfrm>
              <a:prstGeom prst="line">
                <a:avLst/>
              </a:prstGeom>
              <a:noFill/>
              <a:ln w="14288">
                <a:solidFill>
                  <a:schemeClr val="accent2"/>
                </a:solidFill>
                <a:tailEnd type="triangle" w="lg" len="lg"/>
              </a:ln>
            </p:spPr>
          </p:sp>
          <p:grpSp>
            <p:nvGrpSpPr>
              <p:cNvPr id="75" name="Group 75"/>
              <p:cNvGrpSpPr/>
              <p:nvPr/>
            </p:nvGrpSpPr>
            <p:grpSpPr>
              <a:xfrm>
                <a:off x="609600" y="3848100"/>
                <a:ext cx="2514600" cy="952500"/>
                <a:chOff x="609600" y="3848100"/>
                <a:chExt cx="2514600" cy="952500"/>
              </a:xfrm>
            </p:grpSpPr>
            <p:sp>
              <p:nvSpPr>
                <p:cNvPr id="69" name="Rectangle 69"/>
                <p:cNvSpPr/>
                <p:nvPr/>
              </p:nvSpPr>
              <p:spPr>
                <a:xfrm>
                  <a:off x="609600" y="3848100"/>
                  <a:ext cx="2514600" cy="952500"/>
                </a:xfrm>
                <a:prstGeom prst="roundRect">
                  <a:avLst>
                    <a:gd name="adj" fmla="val 4000"/>
                  </a:avLst>
                </a:prstGeom>
                <a:solidFill>
                  <a:srgbClr val="FFFFFF"/>
                </a:solidFill>
                <a:ln w="14288">
                  <a:solidFill>
                    <a:schemeClr val="accent1"/>
                  </a:solidFill>
                </a:ln>
              </p:spPr>
            </p:sp>
            <p:grpSp>
              <p:nvGrpSpPr>
                <p:cNvPr id="72" name="Group 72"/>
                <p:cNvGrpSpPr/>
                <p:nvPr/>
              </p:nvGrpSpPr>
              <p:grpSpPr>
                <a:xfrm>
                  <a:off x="783431" y="4017169"/>
                  <a:ext cx="185738" cy="171450"/>
                  <a:chOff x="783431" y="4017169"/>
                  <a:chExt cx="185738" cy="171450"/>
                </a:xfrm>
              </p:grpSpPr>
              <p:sp>
                <p:nvSpPr>
                  <p:cNvPr id="70" name="Freeform 70"/>
                  <p:cNvSpPr/>
                  <p:nvPr/>
                </p:nvSpPr>
                <p:spPr>
                  <a:xfrm>
                    <a:off x="790575" y="4024312"/>
                    <a:ext cx="171450" cy="128588"/>
                  </a:xfrm>
                  <a:custGeom>
                    <a:avLst/>
                    <a:gdLst/>
                    <a:ahLst/>
                    <a:cxnLst/>
                    <a:rect l="l" t="t" r="r" b="b"/>
                    <a:pathLst>
                      <a:path w="171450" h="128588">
                        <a:moveTo>
                          <a:pt x="171450" y="14288"/>
                        </a:moveTo>
                        <a:lnTo>
                          <a:pt x="171450" y="114300"/>
                        </a:lnTo>
                        <a:cubicBezTo>
                          <a:pt x="171450" y="122191"/>
                          <a:pt x="165053" y="128588"/>
                          <a:pt x="157162" y="128588"/>
                        </a:cubicBezTo>
                        <a:lnTo>
                          <a:pt x="14288" y="128588"/>
                        </a:lnTo>
                        <a:cubicBezTo>
                          <a:pt x="6397" y="128588"/>
                          <a:pt x="0" y="122191"/>
                          <a:pt x="0" y="114300"/>
                        </a:cubicBezTo>
                        <a:lnTo>
                          <a:pt x="0" y="14288"/>
                        </a:lnTo>
                        <a:cubicBezTo>
                          <a:pt x="0" y="6397"/>
                          <a:pt x="6397" y="0"/>
                          <a:pt x="14288" y="0"/>
                        </a:cubicBezTo>
                        <a:lnTo>
                          <a:pt x="157162" y="0"/>
                        </a:lnTo>
                        <a:cubicBezTo>
                          <a:pt x="165053" y="0"/>
                          <a:pt x="171450" y="6397"/>
                          <a:pt x="171450" y="14288"/>
                        </a:cubicBezTo>
                        <a:close/>
                      </a:path>
                    </a:pathLst>
                  </a:custGeom>
                  <a:solidFill>
                    <a:schemeClr val="accent1">
                      <a:alpha val="20000"/>
                    </a:schemeClr>
                  </a:solidFill>
                  <a:ln>
                    <a:noFill/>
                  </a:ln>
                </p:spPr>
              </p:sp>
              <p:sp>
                <p:nvSpPr>
                  <p:cNvPr id="71" name="Freeform 71"/>
                  <p:cNvSpPr/>
                  <p:nvPr/>
                </p:nvSpPr>
                <p:spPr>
                  <a:xfrm>
                    <a:off x="783431" y="4017169"/>
                    <a:ext cx="185738" cy="171450"/>
                  </a:xfrm>
                  <a:custGeom>
                    <a:avLst/>
                    <a:gdLst/>
                    <a:ahLst/>
                    <a:cxnLst/>
                    <a:rect l="l" t="t" r="r" b="b"/>
                    <a:pathLst>
                      <a:path w="185738" h="171450">
                        <a:moveTo>
                          <a:pt x="164306" y="0"/>
                        </a:moveTo>
                        <a:lnTo>
                          <a:pt x="21431" y="0"/>
                        </a:lnTo>
                        <a:cubicBezTo>
                          <a:pt x="9595" y="0"/>
                          <a:pt x="0" y="9595"/>
                          <a:pt x="0" y="21431"/>
                        </a:cubicBezTo>
                        <a:lnTo>
                          <a:pt x="0" y="121444"/>
                        </a:lnTo>
                        <a:cubicBezTo>
                          <a:pt x="0" y="133280"/>
                          <a:pt x="9595" y="142875"/>
                          <a:pt x="21431" y="142875"/>
                        </a:cubicBezTo>
                        <a:lnTo>
                          <a:pt x="164306" y="142875"/>
                        </a:lnTo>
                        <a:cubicBezTo>
                          <a:pt x="176142" y="142875"/>
                          <a:pt x="185738" y="133280"/>
                          <a:pt x="185738" y="121444"/>
                        </a:cubicBezTo>
                        <a:lnTo>
                          <a:pt x="185738" y="21431"/>
                        </a:lnTo>
                        <a:cubicBezTo>
                          <a:pt x="185738" y="9595"/>
                          <a:pt x="176142" y="0"/>
                          <a:pt x="164306" y="0"/>
                        </a:cubicBezTo>
                        <a:close/>
                        <a:moveTo>
                          <a:pt x="171450" y="121444"/>
                        </a:moveTo>
                        <a:cubicBezTo>
                          <a:pt x="171450" y="125389"/>
                          <a:pt x="168252" y="128588"/>
                          <a:pt x="164306" y="128588"/>
                        </a:cubicBezTo>
                        <a:lnTo>
                          <a:pt x="21431" y="128588"/>
                        </a:lnTo>
                        <a:cubicBezTo>
                          <a:pt x="17486" y="128588"/>
                          <a:pt x="14288" y="125389"/>
                          <a:pt x="14288" y="121444"/>
                        </a:cubicBezTo>
                        <a:lnTo>
                          <a:pt x="14288" y="21431"/>
                        </a:lnTo>
                        <a:cubicBezTo>
                          <a:pt x="14288" y="17486"/>
                          <a:pt x="17486" y="14288"/>
                          <a:pt x="21431" y="14288"/>
                        </a:cubicBezTo>
                        <a:lnTo>
                          <a:pt x="164306" y="14288"/>
                        </a:lnTo>
                        <a:cubicBezTo>
                          <a:pt x="168252" y="14288"/>
                          <a:pt x="171450" y="17486"/>
                          <a:pt x="171450" y="21431"/>
                        </a:cubicBezTo>
                        <a:close/>
                        <a:moveTo>
                          <a:pt x="128588" y="164306"/>
                        </a:moveTo>
                        <a:cubicBezTo>
                          <a:pt x="128588" y="168252"/>
                          <a:pt x="125389" y="171450"/>
                          <a:pt x="121444" y="171450"/>
                        </a:cubicBezTo>
                        <a:lnTo>
                          <a:pt x="64294" y="171450"/>
                        </a:lnTo>
                        <a:cubicBezTo>
                          <a:pt x="60348" y="171450"/>
                          <a:pt x="57150" y="168252"/>
                          <a:pt x="57150" y="164306"/>
                        </a:cubicBezTo>
                        <a:cubicBezTo>
                          <a:pt x="57150" y="160361"/>
                          <a:pt x="60348" y="157162"/>
                          <a:pt x="64294" y="157162"/>
                        </a:cubicBezTo>
                        <a:lnTo>
                          <a:pt x="121444" y="157162"/>
                        </a:lnTo>
                        <a:cubicBezTo>
                          <a:pt x="125389" y="157162"/>
                          <a:pt x="128588" y="160361"/>
                          <a:pt x="128588" y="164306"/>
                        </a:cubicBezTo>
                        <a:close/>
                      </a:path>
                    </a:pathLst>
                  </a:custGeom>
                  <a:solidFill>
                    <a:schemeClr val="accent1"/>
                  </a:solidFill>
                  <a:ln>
                    <a:noFill/>
                  </a:ln>
                </p:spPr>
              </p:sp>
            </p:grpSp>
            <p:sp>
              <p:nvSpPr>
                <p:cNvPr id="73" name="TextBox 73"/>
                <p:cNvSpPr txBox="1"/>
                <p:nvPr/>
              </p:nvSpPr>
              <p:spPr>
                <a:xfrm>
                  <a:off x="1079754" y="4013835"/>
                  <a:ext cx="1222183"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Web dashboard</a:t>
                  </a:r>
                </a:p>
              </p:txBody>
            </p:sp>
            <p:sp>
              <p:nvSpPr>
                <p:cNvPr id="74" name="TextBox 74"/>
                <p:cNvSpPr txBox="1"/>
                <p:nvPr/>
              </p:nvSpPr>
              <p:spPr>
                <a:xfrm>
                  <a:off x="757047" y="4333399"/>
                  <a:ext cx="1846728" cy="190690"/>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monitoring JSON · port 8790</a:t>
                  </a:r>
                </a:p>
              </p:txBody>
            </p:sp>
          </p:grpSp>
        </p:grpSp>
        <p:sp>
          <p:nvSpPr>
            <p:cNvPr id="77" name="Line 77"/>
            <p:cNvSpPr/>
            <p:nvPr/>
          </p:nvSpPr>
          <p:spPr>
            <a:xfrm>
              <a:off x="4686300" y="3695700"/>
              <a:ext cx="1" cy="133350"/>
            </a:xfrm>
            <a:prstGeom prst="line">
              <a:avLst/>
            </a:prstGeom>
            <a:noFill/>
            <a:ln w="14288">
              <a:solidFill>
                <a:schemeClr val="accent2"/>
              </a:solidFill>
              <a:headEnd type="triangle" w="lg" len="lg"/>
              <a:tailEnd type="triangle" w="lg" len="lg"/>
            </a:ln>
          </p:spPr>
        </p:sp>
        <p:grpSp>
          <p:nvGrpSpPr>
            <p:cNvPr id="85" name="Group 85"/>
            <p:cNvGrpSpPr/>
            <p:nvPr/>
          </p:nvGrpSpPr>
          <p:grpSpPr>
            <a:xfrm>
              <a:off x="3429000" y="3848100"/>
              <a:ext cx="2514600" cy="952500"/>
              <a:chOff x="3429000" y="3848100"/>
              <a:chExt cx="2514600" cy="952500"/>
            </a:xfrm>
          </p:grpSpPr>
          <p:sp>
            <p:nvSpPr>
              <p:cNvPr id="78" name="Rectangle 78"/>
              <p:cNvSpPr/>
              <p:nvPr/>
            </p:nvSpPr>
            <p:spPr>
              <a:xfrm>
                <a:off x="3429000" y="3848100"/>
                <a:ext cx="2514600" cy="952500"/>
              </a:xfrm>
              <a:prstGeom prst="roundRect">
                <a:avLst>
                  <a:gd name="adj" fmla="val 4000"/>
                </a:avLst>
              </a:prstGeom>
              <a:solidFill>
                <a:srgbClr val="FFFFFF"/>
              </a:solidFill>
              <a:ln w="14288">
                <a:solidFill>
                  <a:schemeClr val="accent1"/>
                </a:solidFill>
              </a:ln>
            </p:spPr>
          </p:sp>
          <p:grpSp>
            <p:nvGrpSpPr>
              <p:cNvPr id="81" name="Group 81"/>
              <p:cNvGrpSpPr/>
              <p:nvPr/>
            </p:nvGrpSpPr>
            <p:grpSpPr>
              <a:xfrm>
                <a:off x="3578260" y="4017889"/>
                <a:ext cx="224640" cy="155550"/>
                <a:chOff x="3578260" y="4017889"/>
                <a:chExt cx="224640" cy="155550"/>
              </a:xfrm>
            </p:grpSpPr>
            <p:sp>
              <p:nvSpPr>
                <p:cNvPr id="79" name="Freeform 79"/>
                <p:cNvSpPr/>
                <p:nvPr/>
              </p:nvSpPr>
              <p:spPr>
                <a:xfrm>
                  <a:off x="3667125" y="4067175"/>
                  <a:ext cx="57150" cy="57150"/>
                </a:xfrm>
                <a:custGeom>
                  <a:avLst/>
                  <a:gdLst/>
                  <a:ahLst/>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solidFill>
                  <a:schemeClr val="accent1">
                    <a:alpha val="20000"/>
                  </a:schemeClr>
                </a:solidFill>
                <a:ln>
                  <a:noFill/>
                </a:ln>
              </p:spPr>
            </p:sp>
            <p:sp>
              <p:nvSpPr>
                <p:cNvPr id="80" name="Freeform 80"/>
                <p:cNvSpPr/>
                <p:nvPr/>
              </p:nvSpPr>
              <p:spPr>
                <a:xfrm>
                  <a:off x="3578260" y="4017889"/>
                  <a:ext cx="224640" cy="155550"/>
                </a:xfrm>
                <a:custGeom>
                  <a:avLst/>
                  <a:gdLst/>
                  <a:ahLst/>
                  <a:cxnLst/>
                  <a:rect l="l" t="t" r="r" b="b"/>
                  <a:pathLst>
                    <a:path w="224640" h="155550">
                      <a:moveTo>
                        <a:pt x="117440" y="42143"/>
                      </a:moveTo>
                      <a:cubicBezTo>
                        <a:pt x="97713" y="42143"/>
                        <a:pt x="81722" y="58134"/>
                        <a:pt x="81722" y="77861"/>
                      </a:cubicBezTo>
                      <a:cubicBezTo>
                        <a:pt x="81722" y="97588"/>
                        <a:pt x="97713" y="113580"/>
                        <a:pt x="117440" y="113580"/>
                      </a:cubicBezTo>
                      <a:cubicBezTo>
                        <a:pt x="137167" y="113580"/>
                        <a:pt x="153159" y="97588"/>
                        <a:pt x="153159" y="77861"/>
                      </a:cubicBezTo>
                      <a:cubicBezTo>
                        <a:pt x="153159" y="58134"/>
                        <a:pt x="137167" y="42143"/>
                        <a:pt x="117440" y="42143"/>
                      </a:cubicBezTo>
                      <a:close/>
                      <a:moveTo>
                        <a:pt x="117440" y="99293"/>
                      </a:moveTo>
                      <a:cubicBezTo>
                        <a:pt x="105604" y="99293"/>
                        <a:pt x="96009" y="89698"/>
                        <a:pt x="96009" y="77861"/>
                      </a:cubicBezTo>
                      <a:cubicBezTo>
                        <a:pt x="96009" y="66025"/>
                        <a:pt x="105604" y="56430"/>
                        <a:pt x="117440" y="56430"/>
                      </a:cubicBezTo>
                      <a:cubicBezTo>
                        <a:pt x="129276" y="56430"/>
                        <a:pt x="138872" y="66025"/>
                        <a:pt x="138872" y="77861"/>
                      </a:cubicBezTo>
                      <a:cubicBezTo>
                        <a:pt x="138872" y="89698"/>
                        <a:pt x="129276" y="99293"/>
                        <a:pt x="117440" y="99293"/>
                      </a:cubicBezTo>
                      <a:close/>
                      <a:moveTo>
                        <a:pt x="183261" y="105668"/>
                      </a:moveTo>
                      <a:cubicBezTo>
                        <a:pt x="180192" y="112924"/>
                        <a:pt x="175943" y="119623"/>
                        <a:pt x="170688" y="125492"/>
                      </a:cubicBezTo>
                      <a:cubicBezTo>
                        <a:pt x="168040" y="128357"/>
                        <a:pt x="163584" y="128568"/>
                        <a:pt x="160677" y="125966"/>
                      </a:cubicBezTo>
                      <a:cubicBezTo>
                        <a:pt x="157770" y="123365"/>
                        <a:pt x="157488" y="118912"/>
                        <a:pt x="160044" y="115964"/>
                      </a:cubicBezTo>
                      <a:cubicBezTo>
                        <a:pt x="179466" y="94278"/>
                        <a:pt x="179466" y="61453"/>
                        <a:pt x="160044" y="39767"/>
                      </a:cubicBezTo>
                      <a:cubicBezTo>
                        <a:pt x="158293" y="37873"/>
                        <a:pt x="157700" y="35182"/>
                        <a:pt x="158491" y="32727"/>
                      </a:cubicBezTo>
                      <a:cubicBezTo>
                        <a:pt x="159282" y="30272"/>
                        <a:pt x="161335" y="28435"/>
                        <a:pt x="163862" y="27919"/>
                      </a:cubicBezTo>
                      <a:cubicBezTo>
                        <a:pt x="166390" y="27404"/>
                        <a:pt x="168998" y="28290"/>
                        <a:pt x="170688" y="30239"/>
                      </a:cubicBezTo>
                      <a:cubicBezTo>
                        <a:pt x="189100" y="50842"/>
                        <a:pt x="193995" y="80208"/>
                        <a:pt x="183261" y="105668"/>
                      </a:cubicBezTo>
                      <a:close/>
                      <a:moveTo>
                        <a:pt x="64755" y="55618"/>
                      </a:moveTo>
                      <a:cubicBezTo>
                        <a:pt x="56151" y="75985"/>
                        <a:pt x="60067" y="99487"/>
                        <a:pt x="74810" y="115964"/>
                      </a:cubicBezTo>
                      <a:cubicBezTo>
                        <a:pt x="77365" y="118912"/>
                        <a:pt x="77083" y="123365"/>
                        <a:pt x="74177" y="125966"/>
                      </a:cubicBezTo>
                      <a:cubicBezTo>
                        <a:pt x="71270" y="128568"/>
                        <a:pt x="66814" y="128357"/>
                        <a:pt x="64166" y="125492"/>
                      </a:cubicBezTo>
                      <a:cubicBezTo>
                        <a:pt x="39881" y="98385"/>
                        <a:pt x="39881" y="57347"/>
                        <a:pt x="64166" y="30239"/>
                      </a:cubicBezTo>
                      <a:cubicBezTo>
                        <a:pt x="66797" y="27293"/>
                        <a:pt x="71319" y="27037"/>
                        <a:pt x="74265" y="29668"/>
                      </a:cubicBezTo>
                      <a:cubicBezTo>
                        <a:pt x="77212" y="32299"/>
                        <a:pt x="77468" y="36821"/>
                        <a:pt x="74837" y="39767"/>
                      </a:cubicBezTo>
                      <a:cubicBezTo>
                        <a:pt x="70622" y="44456"/>
                        <a:pt x="67215" y="49812"/>
                        <a:pt x="64755" y="55618"/>
                      </a:cubicBezTo>
                      <a:close/>
                      <a:moveTo>
                        <a:pt x="224597" y="77861"/>
                      </a:moveTo>
                      <a:cubicBezTo>
                        <a:pt x="224640" y="105916"/>
                        <a:pt x="213641" y="132861"/>
                        <a:pt x="193977" y="152871"/>
                      </a:cubicBezTo>
                      <a:cubicBezTo>
                        <a:pt x="192206" y="154764"/>
                        <a:pt x="189548" y="155550"/>
                        <a:pt x="187032" y="154923"/>
                      </a:cubicBezTo>
                      <a:cubicBezTo>
                        <a:pt x="184517" y="154296"/>
                        <a:pt x="182538" y="152355"/>
                        <a:pt x="181862" y="149852"/>
                      </a:cubicBezTo>
                      <a:cubicBezTo>
                        <a:pt x="181187" y="147349"/>
                        <a:pt x="181920" y="144677"/>
                        <a:pt x="183779" y="142869"/>
                      </a:cubicBezTo>
                      <a:cubicBezTo>
                        <a:pt x="219200" y="106782"/>
                        <a:pt x="219200" y="48977"/>
                        <a:pt x="183779" y="12889"/>
                      </a:cubicBezTo>
                      <a:cubicBezTo>
                        <a:pt x="181007" y="10073"/>
                        <a:pt x="181043" y="5543"/>
                        <a:pt x="183859" y="2772"/>
                      </a:cubicBezTo>
                      <a:cubicBezTo>
                        <a:pt x="186675" y="0"/>
                        <a:pt x="191205" y="36"/>
                        <a:pt x="193977" y="2852"/>
                      </a:cubicBezTo>
                      <a:cubicBezTo>
                        <a:pt x="213641" y="22862"/>
                        <a:pt x="224640" y="49807"/>
                        <a:pt x="224597" y="77861"/>
                      </a:cubicBezTo>
                      <a:close/>
                      <a:moveTo>
                        <a:pt x="51102" y="142852"/>
                      </a:moveTo>
                      <a:cubicBezTo>
                        <a:pt x="52891" y="144673"/>
                        <a:pt x="53573" y="147311"/>
                        <a:pt x="52891" y="149772"/>
                      </a:cubicBezTo>
                      <a:cubicBezTo>
                        <a:pt x="52208" y="152233"/>
                        <a:pt x="50264" y="154143"/>
                        <a:pt x="47792" y="154782"/>
                      </a:cubicBezTo>
                      <a:cubicBezTo>
                        <a:pt x="45319" y="155421"/>
                        <a:pt x="42694" y="154692"/>
                        <a:pt x="40904" y="152871"/>
                      </a:cubicBezTo>
                      <a:cubicBezTo>
                        <a:pt x="0" y="111229"/>
                        <a:pt x="0" y="44494"/>
                        <a:pt x="40904" y="2852"/>
                      </a:cubicBezTo>
                      <a:cubicBezTo>
                        <a:pt x="42675" y="959"/>
                        <a:pt x="45333" y="173"/>
                        <a:pt x="47848" y="800"/>
                      </a:cubicBezTo>
                      <a:cubicBezTo>
                        <a:pt x="50364" y="1427"/>
                        <a:pt x="52343" y="3367"/>
                        <a:pt x="53018" y="5870"/>
                      </a:cubicBezTo>
                      <a:cubicBezTo>
                        <a:pt x="53694" y="8373"/>
                        <a:pt x="52960" y="11046"/>
                        <a:pt x="51102" y="12853"/>
                      </a:cubicBezTo>
                      <a:cubicBezTo>
                        <a:pt x="15681" y="48941"/>
                        <a:pt x="15681" y="106746"/>
                        <a:pt x="51102" y="142834"/>
                      </a:cubicBezTo>
                      <a:close/>
                    </a:path>
                  </a:pathLst>
                </a:custGeom>
                <a:solidFill>
                  <a:schemeClr val="accent1"/>
                </a:solidFill>
                <a:ln>
                  <a:noFill/>
                </a:ln>
              </p:spPr>
            </p:sp>
          </p:grpSp>
          <p:sp>
            <p:nvSpPr>
              <p:cNvPr id="82" name="TextBox 82"/>
              <p:cNvSpPr txBox="1"/>
              <p:nvPr/>
            </p:nvSpPr>
            <p:spPr>
              <a:xfrm>
                <a:off x="3899154" y="4013835"/>
                <a:ext cx="1340230"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Signaling server</a:t>
                </a:r>
              </a:p>
            </p:txBody>
          </p:sp>
          <p:sp>
            <p:nvSpPr>
              <p:cNvPr id="83" name="TextBox 83"/>
              <p:cNvSpPr txBox="1"/>
              <p:nvPr/>
            </p:nvSpPr>
            <p:spPr>
              <a:xfrm>
                <a:off x="3576447" y="4295299"/>
                <a:ext cx="1843700" cy="190690"/>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session registry · port 8787</a:t>
                </a:r>
              </a:p>
            </p:txBody>
          </p:sp>
          <p:sp>
            <p:nvSpPr>
              <p:cNvPr id="84" name="TextBox 84"/>
              <p:cNvSpPr txBox="1"/>
              <p:nvPr/>
            </p:nvSpPr>
            <p:spPr>
              <a:xfrm>
                <a:off x="3576447" y="4485799"/>
                <a:ext cx="1428128" cy="190690"/>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web and mobile clients</a:t>
                </a:r>
              </a:p>
            </p:txBody>
          </p:sp>
        </p:grpSp>
        <p:sp>
          <p:nvSpPr>
            <p:cNvPr id="86" name="Line 86"/>
            <p:cNvSpPr/>
            <p:nvPr/>
          </p:nvSpPr>
          <p:spPr>
            <a:xfrm>
              <a:off x="7505700" y="3695700"/>
              <a:ext cx="1" cy="133350"/>
            </a:xfrm>
            <a:prstGeom prst="line">
              <a:avLst/>
            </a:prstGeom>
            <a:noFill/>
            <a:ln w="14288">
              <a:solidFill>
                <a:schemeClr val="accent2"/>
              </a:solidFill>
              <a:tailEnd type="triangle" w="lg" len="lg"/>
            </a:ln>
          </p:spPr>
        </p:sp>
        <p:grpSp>
          <p:nvGrpSpPr>
            <p:cNvPr id="93" name="Group 93"/>
            <p:cNvGrpSpPr/>
            <p:nvPr/>
          </p:nvGrpSpPr>
          <p:grpSpPr>
            <a:xfrm>
              <a:off x="6248400" y="3848100"/>
              <a:ext cx="2514600" cy="952500"/>
              <a:chOff x="6248400" y="3848100"/>
              <a:chExt cx="2514600" cy="952500"/>
            </a:xfrm>
          </p:grpSpPr>
          <p:sp>
            <p:nvSpPr>
              <p:cNvPr id="87" name="Rectangle 87"/>
              <p:cNvSpPr/>
              <p:nvPr/>
            </p:nvSpPr>
            <p:spPr>
              <a:xfrm>
                <a:off x="6248400" y="3848100"/>
                <a:ext cx="2514600" cy="952500"/>
              </a:xfrm>
              <a:prstGeom prst="roundRect">
                <a:avLst>
                  <a:gd name="adj" fmla="val 4000"/>
                </a:avLst>
              </a:prstGeom>
              <a:solidFill>
                <a:srgbClr val="FFFFFF"/>
              </a:solidFill>
              <a:ln w="14288">
                <a:solidFill>
                  <a:schemeClr val="accent1"/>
                </a:solidFill>
              </a:ln>
            </p:spPr>
          </p:sp>
          <p:grpSp>
            <p:nvGrpSpPr>
              <p:cNvPr id="90" name="Group 90"/>
              <p:cNvGrpSpPr/>
              <p:nvPr/>
            </p:nvGrpSpPr>
            <p:grpSpPr>
              <a:xfrm>
                <a:off x="6415088" y="4031456"/>
                <a:ext cx="214312" cy="128588"/>
                <a:chOff x="6415088" y="4031456"/>
                <a:chExt cx="214312" cy="128588"/>
              </a:xfrm>
            </p:grpSpPr>
            <p:sp>
              <p:nvSpPr>
                <p:cNvPr id="88" name="Freeform 88"/>
                <p:cNvSpPr/>
                <p:nvPr/>
              </p:nvSpPr>
              <p:spPr>
                <a:xfrm>
                  <a:off x="6422231" y="4038600"/>
                  <a:ext cx="157162" cy="114300"/>
                </a:xfrm>
                <a:custGeom>
                  <a:avLst/>
                  <a:gdLst/>
                  <a:ahLst/>
                  <a:cxnLst/>
                  <a:rect l="l" t="t" r="r" b="b"/>
                  <a:pathLst>
                    <a:path w="157162" h="114300">
                      <a:moveTo>
                        <a:pt x="157162" y="7144"/>
                      </a:moveTo>
                      <a:lnTo>
                        <a:pt x="157162" y="107156"/>
                      </a:lnTo>
                      <a:cubicBezTo>
                        <a:pt x="157162" y="111102"/>
                        <a:pt x="153964" y="114300"/>
                        <a:pt x="150019" y="114300"/>
                      </a:cubicBezTo>
                      <a:lnTo>
                        <a:pt x="7144" y="114300"/>
                      </a:lnTo>
                      <a:cubicBezTo>
                        <a:pt x="3198" y="114300"/>
                        <a:pt x="0" y="111102"/>
                        <a:pt x="0" y="107156"/>
                      </a:cubicBezTo>
                      <a:lnTo>
                        <a:pt x="0" y="7144"/>
                      </a:lnTo>
                      <a:cubicBezTo>
                        <a:pt x="0" y="3198"/>
                        <a:pt x="3198" y="0"/>
                        <a:pt x="7144" y="0"/>
                      </a:cubicBezTo>
                      <a:lnTo>
                        <a:pt x="150019" y="0"/>
                      </a:lnTo>
                      <a:cubicBezTo>
                        <a:pt x="153964" y="0"/>
                        <a:pt x="157162" y="3198"/>
                        <a:pt x="157162" y="7144"/>
                      </a:cubicBezTo>
                      <a:close/>
                    </a:path>
                  </a:pathLst>
                </a:custGeom>
                <a:solidFill>
                  <a:schemeClr val="accent1">
                    <a:alpha val="20000"/>
                  </a:schemeClr>
                </a:solidFill>
                <a:ln>
                  <a:noFill/>
                </a:ln>
              </p:spPr>
            </p:sp>
            <p:sp>
              <p:nvSpPr>
                <p:cNvPr id="89" name="Freeform 89"/>
                <p:cNvSpPr/>
                <p:nvPr/>
              </p:nvSpPr>
              <p:spPr>
                <a:xfrm>
                  <a:off x="6415088" y="4031456"/>
                  <a:ext cx="214312" cy="128588"/>
                </a:xfrm>
                <a:custGeom>
                  <a:avLst/>
                  <a:gdLst/>
                  <a:ahLst/>
                  <a:cxnLst/>
                  <a:rect l="l" t="t" r="r" b="b"/>
                  <a:pathLst>
                    <a:path w="214312" h="128588">
                      <a:moveTo>
                        <a:pt x="210535" y="15180"/>
                      </a:moveTo>
                      <a:cubicBezTo>
                        <a:pt x="208214" y="13936"/>
                        <a:pt x="205397" y="14070"/>
                        <a:pt x="203204" y="15529"/>
                      </a:cubicBezTo>
                      <a:lnTo>
                        <a:pt x="171450" y="36656"/>
                      </a:lnTo>
                      <a:lnTo>
                        <a:pt x="171450" y="14288"/>
                      </a:lnTo>
                      <a:cubicBezTo>
                        <a:pt x="171450" y="6397"/>
                        <a:pt x="165053" y="0"/>
                        <a:pt x="157162" y="0"/>
                      </a:cubicBezTo>
                      <a:lnTo>
                        <a:pt x="14288" y="0"/>
                      </a:lnTo>
                      <a:cubicBezTo>
                        <a:pt x="6397" y="0"/>
                        <a:pt x="0" y="6397"/>
                        <a:pt x="0" y="14288"/>
                      </a:cubicBezTo>
                      <a:lnTo>
                        <a:pt x="0" y="114300"/>
                      </a:lnTo>
                      <a:cubicBezTo>
                        <a:pt x="0" y="122191"/>
                        <a:pt x="6397" y="128588"/>
                        <a:pt x="14288" y="128588"/>
                      </a:cubicBezTo>
                      <a:lnTo>
                        <a:pt x="157162" y="128588"/>
                      </a:lnTo>
                      <a:cubicBezTo>
                        <a:pt x="165053" y="128588"/>
                        <a:pt x="171450" y="122191"/>
                        <a:pt x="171450" y="114300"/>
                      </a:cubicBezTo>
                      <a:lnTo>
                        <a:pt x="171450" y="91976"/>
                      </a:lnTo>
                      <a:lnTo>
                        <a:pt x="203204" y="113148"/>
                      </a:lnTo>
                      <a:cubicBezTo>
                        <a:pt x="204383" y="113914"/>
                        <a:pt x="205763" y="114315"/>
                        <a:pt x="207169" y="114300"/>
                      </a:cubicBezTo>
                      <a:cubicBezTo>
                        <a:pt x="211114" y="114300"/>
                        <a:pt x="214312" y="111102"/>
                        <a:pt x="214312" y="107156"/>
                      </a:cubicBezTo>
                      <a:lnTo>
                        <a:pt x="214312" y="21431"/>
                      </a:lnTo>
                      <a:cubicBezTo>
                        <a:pt x="214294" y="18813"/>
                        <a:pt x="212845" y="16414"/>
                        <a:pt x="210535" y="15180"/>
                      </a:cubicBezTo>
                      <a:close/>
                      <a:moveTo>
                        <a:pt x="157162" y="114300"/>
                      </a:moveTo>
                      <a:lnTo>
                        <a:pt x="14288" y="114300"/>
                      </a:lnTo>
                      <a:lnTo>
                        <a:pt x="14288" y="14288"/>
                      </a:lnTo>
                      <a:lnTo>
                        <a:pt x="157162" y="14288"/>
                      </a:lnTo>
                      <a:lnTo>
                        <a:pt x="157162" y="114300"/>
                      </a:lnTo>
                      <a:close/>
                      <a:moveTo>
                        <a:pt x="200025" y="93806"/>
                      </a:moveTo>
                      <a:lnTo>
                        <a:pt x="171450" y="74759"/>
                      </a:lnTo>
                      <a:lnTo>
                        <a:pt x="171450" y="53828"/>
                      </a:lnTo>
                      <a:lnTo>
                        <a:pt x="200025" y="34826"/>
                      </a:lnTo>
                      <a:close/>
                    </a:path>
                  </a:pathLst>
                </a:custGeom>
                <a:solidFill>
                  <a:schemeClr val="accent1"/>
                </a:solidFill>
                <a:ln>
                  <a:noFill/>
                </a:ln>
              </p:spPr>
            </p:sp>
          </p:grpSp>
          <p:sp>
            <p:nvSpPr>
              <p:cNvPr id="91" name="TextBox 91"/>
              <p:cNvSpPr txBox="1"/>
              <p:nvPr/>
            </p:nvSpPr>
            <p:spPr>
              <a:xfrm>
                <a:off x="6718554" y="4013835"/>
                <a:ext cx="1102801"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WebRTC video</a:t>
                </a:r>
              </a:p>
            </p:txBody>
          </p:sp>
          <p:sp>
            <p:nvSpPr>
              <p:cNvPr id="92" name="TextBox 92"/>
              <p:cNvSpPr txBox="1"/>
              <p:nvPr/>
            </p:nvSpPr>
            <p:spPr>
              <a:xfrm>
                <a:off x="6395847" y="4333399"/>
                <a:ext cx="1447917" cy="190690"/>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live video to caregiver</a:t>
                </a:r>
              </a:p>
            </p:txBody>
          </p:sp>
        </p:grpSp>
        <p:sp>
          <p:nvSpPr>
            <p:cNvPr id="94" name="Line 94"/>
            <p:cNvSpPr/>
            <p:nvPr/>
          </p:nvSpPr>
          <p:spPr>
            <a:xfrm>
              <a:off x="10325100" y="3695700"/>
              <a:ext cx="1" cy="133350"/>
            </a:xfrm>
            <a:prstGeom prst="line">
              <a:avLst/>
            </a:prstGeom>
            <a:noFill/>
            <a:ln w="14288">
              <a:solidFill>
                <a:schemeClr val="accent2"/>
              </a:solidFill>
              <a:tailEnd type="triangle" w="lg" len="lg"/>
            </a:ln>
          </p:spPr>
        </p:sp>
        <p:grpSp>
          <p:nvGrpSpPr>
            <p:cNvPr id="101" name="Group 101"/>
            <p:cNvGrpSpPr/>
            <p:nvPr/>
          </p:nvGrpSpPr>
          <p:grpSpPr>
            <a:xfrm>
              <a:off x="9067800" y="3848100"/>
              <a:ext cx="2514600" cy="952500"/>
              <a:chOff x="9067800" y="3848100"/>
              <a:chExt cx="2514600" cy="952500"/>
            </a:xfrm>
          </p:grpSpPr>
          <p:sp>
            <p:nvSpPr>
              <p:cNvPr id="95" name="Rectangle 95"/>
              <p:cNvSpPr/>
              <p:nvPr/>
            </p:nvSpPr>
            <p:spPr>
              <a:xfrm>
                <a:off x="9067800" y="3848100"/>
                <a:ext cx="2514600" cy="952500"/>
              </a:xfrm>
              <a:prstGeom prst="roundRect">
                <a:avLst>
                  <a:gd name="adj" fmla="val 4000"/>
                </a:avLst>
              </a:prstGeom>
              <a:solidFill>
                <a:srgbClr val="FFFFFF"/>
              </a:solidFill>
              <a:ln w="14288">
                <a:solidFill>
                  <a:schemeClr val="accent1"/>
                </a:solidFill>
              </a:ln>
            </p:spPr>
          </p:sp>
          <p:grpSp>
            <p:nvGrpSpPr>
              <p:cNvPr id="98" name="Group 98"/>
              <p:cNvGrpSpPr/>
              <p:nvPr/>
            </p:nvGrpSpPr>
            <p:grpSpPr>
              <a:xfrm>
                <a:off x="9248136" y="4002881"/>
                <a:ext cx="172719" cy="185729"/>
                <a:chOff x="9248136" y="4002881"/>
                <a:chExt cx="172719" cy="185729"/>
              </a:xfrm>
            </p:grpSpPr>
            <p:sp>
              <p:nvSpPr>
                <p:cNvPr id="96" name="Freeform 96"/>
                <p:cNvSpPr/>
                <p:nvPr/>
              </p:nvSpPr>
              <p:spPr>
                <a:xfrm>
                  <a:off x="9255642" y="4010025"/>
                  <a:ext cx="157733" cy="142875"/>
                </a:xfrm>
                <a:custGeom>
                  <a:avLst/>
                  <a:gdLst/>
                  <a:ahLst/>
                  <a:cxnLst/>
                  <a:rect l="l" t="t" r="r" b="b"/>
                  <a:pathLst>
                    <a:path w="157733" h="142875">
                      <a:moveTo>
                        <a:pt x="150295" y="142875"/>
                      </a:moveTo>
                      <a:lnTo>
                        <a:pt x="7420" y="142875"/>
                      </a:lnTo>
                      <a:cubicBezTo>
                        <a:pt x="4876" y="142860"/>
                        <a:pt x="2531" y="141492"/>
                        <a:pt x="1266" y="139285"/>
                      </a:cubicBezTo>
                      <a:cubicBezTo>
                        <a:pt x="0" y="137077"/>
                        <a:pt x="4" y="134363"/>
                        <a:pt x="1276" y="132159"/>
                      </a:cubicBezTo>
                      <a:cubicBezTo>
                        <a:pt x="7161" y="121980"/>
                        <a:pt x="14564" y="96271"/>
                        <a:pt x="14564" y="64294"/>
                      </a:cubicBezTo>
                      <a:cubicBezTo>
                        <a:pt x="14564" y="28785"/>
                        <a:pt x="43349" y="0"/>
                        <a:pt x="78858" y="0"/>
                      </a:cubicBezTo>
                      <a:cubicBezTo>
                        <a:pt x="114366" y="0"/>
                        <a:pt x="143151" y="28785"/>
                        <a:pt x="143151" y="64294"/>
                      </a:cubicBezTo>
                      <a:cubicBezTo>
                        <a:pt x="143151" y="96280"/>
                        <a:pt x="150563" y="121980"/>
                        <a:pt x="156457" y="132159"/>
                      </a:cubicBezTo>
                      <a:cubicBezTo>
                        <a:pt x="157730" y="134366"/>
                        <a:pt x="157733" y="137084"/>
                        <a:pt x="156463" y="139292"/>
                      </a:cubicBezTo>
                      <a:cubicBezTo>
                        <a:pt x="155193" y="141501"/>
                        <a:pt x="152843" y="142866"/>
                        <a:pt x="150295" y="142875"/>
                      </a:cubicBezTo>
                      <a:close/>
                    </a:path>
                  </a:pathLst>
                </a:custGeom>
                <a:solidFill>
                  <a:schemeClr val="accent1">
                    <a:alpha val="20000"/>
                  </a:schemeClr>
                </a:solidFill>
                <a:ln>
                  <a:noFill/>
                </a:ln>
              </p:spPr>
            </p:sp>
            <p:sp>
              <p:nvSpPr>
                <p:cNvPr id="97" name="Freeform 97"/>
                <p:cNvSpPr/>
                <p:nvPr/>
              </p:nvSpPr>
              <p:spPr>
                <a:xfrm>
                  <a:off x="9248136" y="4002881"/>
                  <a:ext cx="172719" cy="185729"/>
                </a:xfrm>
                <a:custGeom>
                  <a:avLst/>
                  <a:gdLst/>
                  <a:ahLst/>
                  <a:cxnLst/>
                  <a:rect l="l" t="t" r="r" b="b"/>
                  <a:pathLst>
                    <a:path w="172719" h="185729">
                      <a:moveTo>
                        <a:pt x="170125" y="135678"/>
                      </a:moveTo>
                      <a:cubicBezTo>
                        <a:pt x="165169" y="127141"/>
                        <a:pt x="157802" y="102986"/>
                        <a:pt x="157802" y="71438"/>
                      </a:cubicBezTo>
                      <a:cubicBezTo>
                        <a:pt x="157802" y="31984"/>
                        <a:pt x="125818" y="0"/>
                        <a:pt x="86364" y="0"/>
                      </a:cubicBezTo>
                      <a:cubicBezTo>
                        <a:pt x="46910" y="0"/>
                        <a:pt x="14927" y="31984"/>
                        <a:pt x="14927" y="71438"/>
                      </a:cubicBezTo>
                      <a:cubicBezTo>
                        <a:pt x="14927" y="102995"/>
                        <a:pt x="7551" y="127141"/>
                        <a:pt x="2595" y="135678"/>
                      </a:cubicBezTo>
                      <a:cubicBezTo>
                        <a:pt x="19" y="140095"/>
                        <a:pt x="0" y="145552"/>
                        <a:pt x="2546" y="149987"/>
                      </a:cubicBezTo>
                      <a:cubicBezTo>
                        <a:pt x="5091" y="154422"/>
                        <a:pt x="9813" y="157159"/>
                        <a:pt x="14927" y="157162"/>
                      </a:cubicBezTo>
                      <a:lnTo>
                        <a:pt x="51369" y="157162"/>
                      </a:lnTo>
                      <a:cubicBezTo>
                        <a:pt x="54767" y="173789"/>
                        <a:pt x="69394" y="185729"/>
                        <a:pt x="86364" y="185729"/>
                      </a:cubicBezTo>
                      <a:cubicBezTo>
                        <a:pt x="103334" y="185729"/>
                        <a:pt x="117962" y="173789"/>
                        <a:pt x="121360" y="157162"/>
                      </a:cubicBezTo>
                      <a:lnTo>
                        <a:pt x="157802" y="157162"/>
                      </a:lnTo>
                      <a:cubicBezTo>
                        <a:pt x="162914" y="157156"/>
                        <a:pt x="167633" y="154418"/>
                        <a:pt x="170176" y="149984"/>
                      </a:cubicBezTo>
                      <a:cubicBezTo>
                        <a:pt x="172719" y="145549"/>
                        <a:pt x="172700" y="140094"/>
                        <a:pt x="170125" y="135678"/>
                      </a:cubicBezTo>
                      <a:close/>
                      <a:moveTo>
                        <a:pt x="86364" y="171450"/>
                      </a:moveTo>
                      <a:cubicBezTo>
                        <a:pt x="77284" y="171447"/>
                        <a:pt x="69192" y="165723"/>
                        <a:pt x="66165" y="157162"/>
                      </a:cubicBezTo>
                      <a:lnTo>
                        <a:pt x="106563" y="157162"/>
                      </a:lnTo>
                      <a:cubicBezTo>
                        <a:pt x="103537" y="165723"/>
                        <a:pt x="95444" y="171447"/>
                        <a:pt x="86364" y="171450"/>
                      </a:cubicBezTo>
                      <a:close/>
                      <a:moveTo>
                        <a:pt x="14927" y="142875"/>
                      </a:moveTo>
                      <a:cubicBezTo>
                        <a:pt x="21802" y="131052"/>
                        <a:pt x="29214" y="103656"/>
                        <a:pt x="29214" y="71438"/>
                      </a:cubicBezTo>
                      <a:cubicBezTo>
                        <a:pt x="29214" y="39874"/>
                        <a:pt x="54801" y="14288"/>
                        <a:pt x="86364" y="14288"/>
                      </a:cubicBezTo>
                      <a:cubicBezTo>
                        <a:pt x="117927" y="14288"/>
                        <a:pt x="143514" y="39874"/>
                        <a:pt x="143514" y="71438"/>
                      </a:cubicBezTo>
                      <a:cubicBezTo>
                        <a:pt x="143514" y="103629"/>
                        <a:pt x="150908" y="131025"/>
                        <a:pt x="157802" y="142875"/>
                      </a:cubicBezTo>
                      <a:close/>
                    </a:path>
                  </a:pathLst>
                </a:custGeom>
                <a:solidFill>
                  <a:schemeClr val="accent1"/>
                </a:solidFill>
                <a:ln>
                  <a:noFill/>
                </a:ln>
              </p:spPr>
            </p:sp>
          </p:grpSp>
          <p:sp>
            <p:nvSpPr>
              <p:cNvPr id="99" name="TextBox 99"/>
              <p:cNvSpPr txBox="1"/>
              <p:nvPr/>
            </p:nvSpPr>
            <p:spPr>
              <a:xfrm>
                <a:off x="9537954" y="4013835"/>
                <a:ext cx="1146079"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HTTP webhook</a:t>
                </a:r>
              </a:p>
            </p:txBody>
          </p:sp>
          <p:sp>
            <p:nvSpPr>
              <p:cNvPr id="100" name="TextBox 100"/>
              <p:cNvSpPr txBox="1"/>
              <p:nvPr/>
            </p:nvSpPr>
            <p:spPr>
              <a:xfrm>
                <a:off x="9215247" y="4333399"/>
                <a:ext cx="1296200" cy="190690"/>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notification service</a:t>
                </a:r>
              </a:p>
            </p:txBody>
          </p:sp>
        </p:grpSp>
        <p:grpSp>
          <p:nvGrpSpPr>
            <p:cNvPr id="109" name="Group 109"/>
            <p:cNvGrpSpPr/>
            <p:nvPr/>
          </p:nvGrpSpPr>
          <p:grpSpPr>
            <a:xfrm>
              <a:off x="609600" y="4857750"/>
              <a:ext cx="8162925" cy="447389"/>
              <a:chOff x="609600" y="4857750"/>
              <a:chExt cx="8162925" cy="447389"/>
            </a:xfrm>
          </p:grpSpPr>
          <p:sp>
            <p:nvSpPr>
              <p:cNvPr id="102" name="Line 102"/>
              <p:cNvSpPr/>
              <p:nvPr/>
            </p:nvSpPr>
            <p:spPr>
              <a:xfrm>
                <a:off x="609600" y="4857750"/>
                <a:ext cx="9525" cy="114300"/>
              </a:xfrm>
              <a:custGeom>
                <a:avLst/>
                <a:gdLst/>
                <a:ahLst/>
                <a:cxnLst/>
                <a:rect l="l" t="t" r="r" b="b"/>
                <a:pathLst>
                  <a:path w="9525" h="114300">
                    <a:moveTo>
                      <a:pt x="0" y="0"/>
                    </a:moveTo>
                    <a:lnTo>
                      <a:pt x="0" y="114300"/>
                    </a:lnTo>
                  </a:path>
                </a:pathLst>
              </a:custGeom>
              <a:noFill/>
              <a:ln w="14288">
                <a:solidFill>
                  <a:schemeClr val="accent3"/>
                </a:solidFill>
                <a:custDash>
                  <a:ds d="333333" sp="266667"/>
                </a:custDash>
              </a:ln>
            </p:spPr>
          </p:sp>
          <p:sp>
            <p:nvSpPr>
              <p:cNvPr id="103" name="Line 103"/>
              <p:cNvSpPr/>
              <p:nvPr/>
            </p:nvSpPr>
            <p:spPr>
              <a:xfrm>
                <a:off x="609600" y="4972050"/>
                <a:ext cx="8153400" cy="9525"/>
              </a:xfrm>
              <a:custGeom>
                <a:avLst/>
                <a:gdLst/>
                <a:ahLst/>
                <a:cxnLst/>
                <a:rect l="l" t="t" r="r" b="b"/>
                <a:pathLst>
                  <a:path w="8153400" h="9525">
                    <a:moveTo>
                      <a:pt x="0" y="0"/>
                    </a:moveTo>
                    <a:lnTo>
                      <a:pt x="8153400" y="0"/>
                    </a:lnTo>
                  </a:path>
                </a:pathLst>
              </a:custGeom>
              <a:noFill/>
              <a:ln w="14288">
                <a:solidFill>
                  <a:schemeClr val="accent3"/>
                </a:solidFill>
                <a:custDash>
                  <a:ds d="333333" sp="266667"/>
                </a:custDash>
              </a:ln>
            </p:spPr>
          </p:sp>
          <p:sp>
            <p:nvSpPr>
              <p:cNvPr id="104" name="Line 104"/>
              <p:cNvSpPr/>
              <p:nvPr/>
            </p:nvSpPr>
            <p:spPr>
              <a:xfrm>
                <a:off x="8763000" y="4857750"/>
                <a:ext cx="9525" cy="114300"/>
              </a:xfrm>
              <a:custGeom>
                <a:avLst/>
                <a:gdLst/>
                <a:ahLst/>
                <a:cxnLst/>
                <a:rect l="l" t="t" r="r" b="b"/>
                <a:pathLst>
                  <a:path w="9525" h="114300">
                    <a:moveTo>
                      <a:pt x="0" y="114300"/>
                    </a:moveTo>
                    <a:lnTo>
                      <a:pt x="0" y="0"/>
                    </a:lnTo>
                  </a:path>
                </a:pathLst>
              </a:custGeom>
              <a:noFill/>
              <a:ln w="14288">
                <a:solidFill>
                  <a:schemeClr val="accent3"/>
                </a:solidFill>
                <a:custDash>
                  <a:ds d="333333" sp="266667"/>
                </a:custDash>
              </a:ln>
            </p:spPr>
          </p:sp>
          <p:grpSp>
            <p:nvGrpSpPr>
              <p:cNvPr id="107" name="Group 107"/>
              <p:cNvGrpSpPr/>
              <p:nvPr/>
            </p:nvGrpSpPr>
            <p:grpSpPr>
              <a:xfrm>
                <a:off x="3692723" y="5102423"/>
                <a:ext cx="139303" cy="139303"/>
                <a:chOff x="3692723" y="5102423"/>
                <a:chExt cx="139303" cy="139303"/>
              </a:xfrm>
            </p:grpSpPr>
            <p:sp>
              <p:nvSpPr>
                <p:cNvPr id="105" name="Freeform 105"/>
                <p:cNvSpPr/>
                <p:nvPr/>
              </p:nvSpPr>
              <p:spPr>
                <a:xfrm>
                  <a:off x="3698081" y="5107781"/>
                  <a:ext cx="128588" cy="128588"/>
                </a:xfrm>
                <a:custGeom>
                  <a:avLst/>
                  <a:gdLst/>
                  <a:ahLst/>
                  <a:cxnLst/>
                  <a:rect l="l" t="t" r="r" b="b"/>
                  <a:pathLst>
                    <a:path w="128588" h="128588">
                      <a:moveTo>
                        <a:pt x="128588" y="64294"/>
                      </a:moveTo>
                      <a:cubicBezTo>
                        <a:pt x="128588" y="99802"/>
                        <a:pt x="99802" y="128588"/>
                        <a:pt x="64294" y="128588"/>
                      </a:cubicBezTo>
                      <a:cubicBezTo>
                        <a:pt x="28785" y="128588"/>
                        <a:pt x="0" y="99802"/>
                        <a:pt x="0" y="64294"/>
                      </a:cubicBezTo>
                      <a:cubicBezTo>
                        <a:pt x="0" y="28785"/>
                        <a:pt x="28785" y="0"/>
                        <a:pt x="64294" y="0"/>
                      </a:cubicBezTo>
                      <a:cubicBezTo>
                        <a:pt x="99802" y="0"/>
                        <a:pt x="128588" y="28785"/>
                        <a:pt x="128588" y="64294"/>
                      </a:cubicBezTo>
                      <a:close/>
                    </a:path>
                  </a:pathLst>
                </a:custGeom>
                <a:solidFill>
                  <a:schemeClr val="accent3">
                    <a:alpha val="20000"/>
                  </a:schemeClr>
                </a:solidFill>
                <a:ln>
                  <a:noFill/>
                </a:ln>
              </p:spPr>
            </p:sp>
            <p:sp>
              <p:nvSpPr>
                <p:cNvPr id="106" name="Freeform 106"/>
                <p:cNvSpPr/>
                <p:nvPr/>
              </p:nvSpPr>
              <p:spPr>
                <a:xfrm>
                  <a:off x="3692723" y="5102423"/>
                  <a:ext cx="139303" cy="139303"/>
                </a:xfrm>
                <a:custGeom>
                  <a:avLst/>
                  <a:gdLst/>
                  <a:ahLst/>
                  <a:cxnLst/>
                  <a:rect l="l" t="t" r="r" b="b"/>
                  <a:pathLst>
                    <a:path w="139303" h="139303">
                      <a:moveTo>
                        <a:pt x="69652" y="0"/>
                      </a:moveTo>
                      <a:lnTo>
                        <a:pt x="69652" y="0"/>
                      </a:lnTo>
                      <a:cubicBezTo>
                        <a:pt x="31184" y="0"/>
                        <a:pt x="0" y="31184"/>
                        <a:pt x="0" y="69652"/>
                      </a:cubicBezTo>
                      <a:cubicBezTo>
                        <a:pt x="0" y="108119"/>
                        <a:pt x="31184" y="139303"/>
                        <a:pt x="69652" y="139303"/>
                      </a:cubicBezTo>
                      <a:cubicBezTo>
                        <a:pt x="108119" y="139303"/>
                        <a:pt x="139303" y="108119"/>
                        <a:pt x="139303" y="69652"/>
                      </a:cubicBezTo>
                      <a:cubicBezTo>
                        <a:pt x="139259" y="31202"/>
                        <a:pt x="108101" y="44"/>
                        <a:pt x="69652" y="0"/>
                      </a:cubicBezTo>
                      <a:close/>
                      <a:moveTo>
                        <a:pt x="128588" y="69652"/>
                      </a:moveTo>
                      <a:cubicBezTo>
                        <a:pt x="128592" y="75087"/>
                        <a:pt x="127842" y="80496"/>
                        <a:pt x="126357" y="85725"/>
                      </a:cubicBezTo>
                      <a:lnTo>
                        <a:pt x="100566" y="85725"/>
                      </a:lnTo>
                      <a:cubicBezTo>
                        <a:pt x="102209" y="75072"/>
                        <a:pt x="102209" y="64231"/>
                        <a:pt x="100566" y="53578"/>
                      </a:cubicBezTo>
                      <a:lnTo>
                        <a:pt x="126357" y="53578"/>
                      </a:lnTo>
                      <a:cubicBezTo>
                        <a:pt x="127842" y="58807"/>
                        <a:pt x="128592" y="64216"/>
                        <a:pt x="128588" y="69652"/>
                      </a:cubicBezTo>
                      <a:close/>
                      <a:moveTo>
                        <a:pt x="52239" y="96441"/>
                      </a:moveTo>
                      <a:lnTo>
                        <a:pt x="87064" y="96441"/>
                      </a:lnTo>
                      <a:cubicBezTo>
                        <a:pt x="83634" y="107683"/>
                        <a:pt x="77677" y="117991"/>
                        <a:pt x="69652" y="126578"/>
                      </a:cubicBezTo>
                      <a:cubicBezTo>
                        <a:pt x="61629" y="117989"/>
                        <a:pt x="55673" y="107681"/>
                        <a:pt x="52239" y="96441"/>
                      </a:cubicBezTo>
                      <a:close/>
                      <a:moveTo>
                        <a:pt x="49627" y="85725"/>
                      </a:moveTo>
                      <a:cubicBezTo>
                        <a:pt x="47787" y="75088"/>
                        <a:pt x="47787" y="64215"/>
                        <a:pt x="49627" y="53578"/>
                      </a:cubicBezTo>
                      <a:lnTo>
                        <a:pt x="89730" y="53578"/>
                      </a:lnTo>
                      <a:cubicBezTo>
                        <a:pt x="91569" y="64215"/>
                        <a:pt x="91569" y="75088"/>
                        <a:pt x="89730" y="85725"/>
                      </a:cubicBezTo>
                      <a:close/>
                      <a:moveTo>
                        <a:pt x="10716" y="69652"/>
                      </a:moveTo>
                      <a:cubicBezTo>
                        <a:pt x="10711" y="64216"/>
                        <a:pt x="11462" y="58807"/>
                        <a:pt x="12946" y="53578"/>
                      </a:cubicBezTo>
                      <a:lnTo>
                        <a:pt x="38737" y="53578"/>
                      </a:lnTo>
                      <a:cubicBezTo>
                        <a:pt x="37094" y="64231"/>
                        <a:pt x="37094" y="75072"/>
                        <a:pt x="38737" y="85725"/>
                      </a:cubicBezTo>
                      <a:lnTo>
                        <a:pt x="12946" y="85725"/>
                      </a:lnTo>
                      <a:cubicBezTo>
                        <a:pt x="11462" y="80496"/>
                        <a:pt x="10711" y="75087"/>
                        <a:pt x="10716" y="69652"/>
                      </a:cubicBezTo>
                      <a:close/>
                      <a:moveTo>
                        <a:pt x="87064" y="42862"/>
                      </a:moveTo>
                      <a:lnTo>
                        <a:pt x="52239" y="42862"/>
                      </a:lnTo>
                      <a:cubicBezTo>
                        <a:pt x="55670" y="31621"/>
                        <a:pt x="61626" y="21312"/>
                        <a:pt x="69652" y="12725"/>
                      </a:cubicBezTo>
                      <a:cubicBezTo>
                        <a:pt x="77674" y="21314"/>
                        <a:pt x="83630" y="31622"/>
                        <a:pt x="87064" y="42862"/>
                      </a:cubicBezTo>
                      <a:close/>
                      <a:moveTo>
                        <a:pt x="122111" y="42862"/>
                      </a:moveTo>
                      <a:lnTo>
                        <a:pt x="98256" y="42862"/>
                      </a:lnTo>
                      <a:cubicBezTo>
                        <a:pt x="95249" y="31831"/>
                        <a:pt x="90181" y="21469"/>
                        <a:pt x="83321" y="12323"/>
                      </a:cubicBezTo>
                      <a:cubicBezTo>
                        <a:pt x="100095" y="16353"/>
                        <a:pt x="114274" y="27507"/>
                        <a:pt x="122138" y="42862"/>
                      </a:cubicBezTo>
                      <a:close/>
                      <a:moveTo>
                        <a:pt x="55982" y="12323"/>
                      </a:moveTo>
                      <a:cubicBezTo>
                        <a:pt x="49122" y="21469"/>
                        <a:pt x="44054" y="31831"/>
                        <a:pt x="41048" y="42862"/>
                      </a:cubicBezTo>
                      <a:lnTo>
                        <a:pt x="17165" y="42862"/>
                      </a:lnTo>
                      <a:cubicBezTo>
                        <a:pt x="25030" y="27507"/>
                        <a:pt x="39208" y="16353"/>
                        <a:pt x="55982" y="12323"/>
                      </a:cubicBezTo>
                      <a:close/>
                      <a:moveTo>
                        <a:pt x="17165" y="96441"/>
                      </a:moveTo>
                      <a:lnTo>
                        <a:pt x="41048" y="96441"/>
                      </a:lnTo>
                      <a:cubicBezTo>
                        <a:pt x="44054" y="107472"/>
                        <a:pt x="49122" y="117834"/>
                        <a:pt x="55982" y="126980"/>
                      </a:cubicBezTo>
                      <a:cubicBezTo>
                        <a:pt x="39208" y="122950"/>
                        <a:pt x="25030" y="111796"/>
                        <a:pt x="17165" y="96441"/>
                      </a:cubicBezTo>
                      <a:close/>
                      <a:moveTo>
                        <a:pt x="83321" y="126980"/>
                      </a:moveTo>
                      <a:cubicBezTo>
                        <a:pt x="90181" y="117834"/>
                        <a:pt x="95249" y="107472"/>
                        <a:pt x="98256" y="96441"/>
                      </a:cubicBezTo>
                      <a:lnTo>
                        <a:pt x="122138" y="96441"/>
                      </a:lnTo>
                      <a:cubicBezTo>
                        <a:pt x="114274" y="111796"/>
                        <a:pt x="100095" y="122950"/>
                        <a:pt x="83321" y="126980"/>
                      </a:cubicBezTo>
                      <a:close/>
                    </a:path>
                  </a:pathLst>
                </a:custGeom>
                <a:solidFill>
                  <a:schemeClr val="accent3"/>
                </a:solidFill>
                <a:ln>
                  <a:noFill/>
                </a:ln>
              </p:spPr>
            </p:sp>
          </p:grpSp>
          <p:sp>
            <p:nvSpPr>
              <p:cNvPr id="108" name="TextBox 108"/>
              <p:cNvSpPr txBox="1"/>
              <p:nvPr/>
            </p:nvSpPr>
            <p:spPr>
              <a:xfrm>
                <a:off x="3919347" y="5114449"/>
                <a:ext cx="1986517" cy="190690"/>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Tailscale — laboratory network</a:t>
                </a:r>
              </a:p>
            </p:txBody>
          </p:sp>
        </p:grpSp>
      </p:grpSp>
      <p:grpSp>
        <p:nvGrpSpPr>
          <p:cNvPr id="113" name="Group 113"/>
          <p:cNvGrpSpPr/>
          <p:nvPr/>
        </p:nvGrpSpPr>
        <p:grpSpPr>
          <a:xfrm>
            <a:off x="2733608" y="5486400"/>
            <a:ext cx="6724784" cy="436245"/>
            <a:chOff x="2733608" y="5486400"/>
            <a:chExt cx="6724784" cy="436245"/>
          </a:xfrm>
        </p:grpSpPr>
        <p:sp>
          <p:nvSpPr>
            <p:cNvPr id="111" name="Line 111"/>
            <p:cNvSpPr/>
            <p:nvPr/>
          </p:nvSpPr>
          <p:spPr>
            <a:xfrm>
              <a:off x="3238500" y="5486400"/>
              <a:ext cx="5715000" cy="9525"/>
            </a:xfrm>
            <a:custGeom>
              <a:avLst/>
              <a:gdLst/>
              <a:ahLst/>
              <a:cxnLst/>
              <a:rect l="l" t="t" r="r" b="b"/>
              <a:pathLst>
                <a:path w="5715000" h="9525">
                  <a:moveTo>
                    <a:pt x="0" y="0"/>
                  </a:moveTo>
                  <a:lnTo>
                    <a:pt x="5715000" y="0"/>
                  </a:lnTo>
                </a:path>
              </a:pathLst>
            </a:custGeom>
            <a:noFill/>
            <a:ln w="9525">
              <a:solidFill>
                <a:schemeClr val="accent6"/>
              </a:solidFill>
            </a:ln>
          </p:spPr>
        </p:sp>
        <p:sp>
          <p:nvSpPr>
            <p:cNvPr id="112" name="TextBox 112"/>
            <p:cNvSpPr txBox="1"/>
            <p:nvPr/>
          </p:nvSpPr>
          <p:spPr>
            <a:xfrm>
              <a:off x="2733608" y="5629275"/>
              <a:ext cx="6724784" cy="293370"/>
            </a:xfrm>
            <a:prstGeom prst="rect">
              <a:avLst/>
            </a:prstGeom>
            <a:noFill/>
            <a:ln>
              <a:noFill/>
            </a:ln>
          </p:spPr>
          <p:txBody>
            <a:bodyPr wrap="none" lIns="0" tIns="0" rIns="0" bIns="0" anchor="t" anchorCtr="0">
              <a:spAutoFit/>
            </a:bodyPr>
            <a:lstStyle/>
            <a:p>
              <a:pPr algn="ctr"/>
              <a:r>
                <a:rPr lang="en" sz="1500" i="1" dirty="0">
                  <a:solidFill>
                    <a:schemeClr val="accent1"/>
                  </a:solidFill>
                  <a:latin typeface="+mj-lt"/>
                  <a:ea typeface="+mj-ea"/>
                  <a:cs typeface="+mj-cs"/>
                </a:rPr>
                <a:t>“Signaling carries connection data; WebRTC carries the video.”</a:t>
              </a:r>
            </a:p>
          </p:txBody>
        </p:sp>
      </p:grpSp>
      <p:sp>
        <p:nvSpPr>
          <p:cNvPr id="114" name="TextBox 114"/>
          <p:cNvSpPr txBox="1"/>
          <p:nvPr/>
        </p:nvSpPr>
        <p:spPr>
          <a:xfrm>
            <a:off x="11432327" y="6562249"/>
            <a:ext cx="155026" cy="190690"/>
          </a:xfrm>
          <a:prstGeom prst="rect">
            <a:avLst/>
          </a:prstGeom>
          <a:noFill/>
          <a:ln>
            <a:noFill/>
          </a:ln>
        </p:spPr>
        <p:txBody>
          <a:bodyPr wrap="none" lIns="0" tIns="0" rIns="0" bIns="0" anchor="t" anchorCtr="0">
            <a:spAutoFit/>
          </a:bodyPr>
          <a:lstStyle/>
          <a:p>
            <a:pPr algn="r"/>
            <a:r>
              <a:rPr lang="en" sz="980" dirty="0">
                <a:solidFill>
                  <a:schemeClr val="accent3"/>
                </a:solidFill>
                <a:latin typeface="+mn-lt"/>
                <a:ea typeface="+mn-ea"/>
                <a:cs typeface="+mn-cs"/>
              </a:rPr>
              <a:t>04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fade">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xmlns:p="http://schemas.openxmlformats.org/presentationml/2006/main" id="15" presetID="10" presetClass="entr" presetSubtype="0" fill="hold" grpId="0" nodeType="clickEffect">
                                  <p:stCondLst>
                                    <p:cond delay="0"/>
                                  </p:stCondLst>
                                  <p:childTnLst>
                                    <p:set>
                                      <p:cBhvr>
                                        <p:cTn id="16" dur="1" fill="hold">
                                          <p:stCondLst>
                                            <p:cond delay="0"/>
                                          </p:stCondLst>
                                        </p:cTn>
                                        <p:tgtEl>
                                          <p:spTgt spid="110"/>
                                        </p:tgtEl>
                                        <p:attrNameLst>
                                          <p:attrName>style.visibility</p:attrName>
                                        </p:attrNameLst>
                                      </p:cBhvr>
                                      <p:to>
                                        <p:strVal val="visible"/>
                                      </p:to>
                                    </p:set>
                                    <p:animEffect transition="in" filter="fade">
                                      <p:cBhvr>
                                        <p:cTn id="17" dur="600"/>
                                        <p:tgtEl>
                                          <p:spTgt spid="110"/>
                                        </p:tgtEl>
                                      </p:cBhvr>
                                    </p:animEffect>
                                  </p:childTnLst>
                                </p:cTn>
                              </p:par>
                            </p:childTnLst>
                          </p:cTn>
                        </p:par>
                      </p:childTnLst>
                    </p:cTn>
                  </p:par>
                  <p:par>
                    <p:cTn id="18" fill="hold">
                      <p:stCondLst>
                        <p:cond delay="indefinite"/>
                      </p:stCondLst>
                      <p:childTnLst>
                        <p:par>
                          <p:cTn id="19" fill="hold">
                            <p:stCondLst>
                              <p:cond delay="0"/>
                            </p:stCondLst>
                            <p:childTnLst>
                              <p:par>
                                <p:cTn xmlns:p="http://schemas.openxmlformats.org/presentationml/2006/main" id="20" presetID="10" presetClass="entr" presetSubtype="0" fill="hold" grpId="0" nodeType="clickEffect">
                                  <p:stCondLst>
                                    <p:cond delay="0"/>
                                  </p:stCondLst>
                                  <p:childTnLst>
                                    <p:set>
                                      <p:cBhvr>
                                        <p:cTn id="21" dur="1" fill="hold">
                                          <p:stCondLst>
                                            <p:cond delay="0"/>
                                          </p:stCondLst>
                                        </p:cTn>
                                        <p:tgtEl>
                                          <p:spTgt spid="113"/>
                                        </p:tgtEl>
                                        <p:attrNameLst>
                                          <p:attrName>style.visibility</p:attrName>
                                        </p:attrNameLst>
                                      </p:cBhvr>
                                      <p:to>
                                        <p:strVal val="visible"/>
                                      </p:to>
                                    </p:set>
                                    <p:animEffect transition="in" filter="fade">
                                      <p:cBhvr>
                                        <p:cTn id="22"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5884" y="590074"/>
            <a:ext cx="10986516" cy="827627"/>
            <a:chOff x="595884" y="590074"/>
            <a:chExt cx="10986516" cy="827627"/>
          </a:xfrm>
        </p:grpSpPr>
        <p:sp>
          <p:nvSpPr>
            <p:cNvPr id="2" name="Rectangle 2"/>
            <p:cNvSpPr/>
            <p:nvPr/>
          </p:nvSpPr>
          <p:spPr>
            <a:xfrm>
              <a:off x="609600" y="590550"/>
              <a:ext cx="266700" cy="28575"/>
            </a:xfrm>
            <a:prstGeom prst="rect">
              <a:avLst/>
            </a:prstGeom>
            <a:solidFill>
              <a:schemeClr val="accent2"/>
            </a:solidFill>
            <a:ln>
              <a:noFill/>
            </a:ln>
          </p:spPr>
        </p:sp>
        <p:sp>
          <p:nvSpPr>
            <p:cNvPr id="3" name="TextBox 3"/>
            <p:cNvSpPr txBox="1"/>
            <p:nvPr/>
          </p:nvSpPr>
          <p:spPr>
            <a:xfrm>
              <a:off x="985647" y="590074"/>
              <a:ext cx="969599" cy="190690"/>
            </a:xfrm>
            <a:prstGeom prst="rect">
              <a:avLst/>
            </a:prstGeom>
            <a:noFill/>
            <a:ln>
              <a:noFill/>
            </a:ln>
          </p:spPr>
          <p:txBody>
            <a:bodyPr wrap="none" lIns="0" tIns="0" rIns="0" bIns="0" anchor="t" anchorCtr="0">
              <a:spAutoFit/>
            </a:bodyPr>
            <a:lstStyle/>
            <a:p>
              <a:pPr algn="l"/>
              <a:r>
                <a:rPr lang="en" sz="980" spc="188" dirty="0">
                  <a:solidFill>
                    <a:schemeClr val="accent2"/>
                  </a:solidFill>
                  <a:latin typeface="+mn-lt"/>
                  <a:ea typeface="+mn-ea"/>
                  <a:cs typeface="+mn-cs"/>
                </a:rPr>
                <a:t>PROTOTYPE</a:t>
              </a:r>
            </a:p>
          </p:txBody>
        </p:sp>
        <p:sp>
          <p:nvSpPr>
            <p:cNvPr id="4" name="TextBox 4"/>
            <p:cNvSpPr txBox="1"/>
            <p:nvPr/>
          </p:nvSpPr>
          <p:spPr>
            <a:xfrm>
              <a:off x="595884" y="889635"/>
              <a:ext cx="4462609" cy="528066"/>
            </a:xfrm>
            <a:prstGeom prst="rect">
              <a:avLst/>
            </a:prstGeom>
            <a:noFill/>
            <a:ln>
              <a:noFill/>
            </a:ln>
          </p:spPr>
          <p:txBody>
            <a:bodyPr wrap="none" lIns="0" tIns="0" rIns="0" bIns="0" anchor="t" anchorCtr="0">
              <a:spAutoFit/>
            </a:bodyPr>
            <a:lstStyle/>
            <a:p>
              <a:pPr algn="l"/>
              <a:r>
                <a:rPr lang="en" sz="2700" dirty="0">
                  <a:solidFill>
                    <a:schemeClr val="accent1"/>
                  </a:solidFill>
                  <a:latin typeface="+mj-lt"/>
                  <a:ea typeface="+mj-ea"/>
                  <a:cs typeface="+mj-cs"/>
                </a:rPr>
                <a:t>The Prototype We Built</a:t>
              </a:r>
            </a:p>
          </p:txBody>
        </p:sp>
        <p:sp>
          <p:nvSpPr>
            <p:cNvPr id="5" name="Line 5"/>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Group 10"/>
          <p:cNvGrpSpPr/>
          <p:nvPr/>
        </p:nvGrpSpPr>
        <p:grpSpPr>
          <a:xfrm>
            <a:off x="877228" y="1562100"/>
            <a:ext cx="2817543" cy="2123789"/>
            <a:chOff x="877228" y="1562100"/>
            <a:chExt cx="2817543" cy="2123789"/>
          </a:xfrm>
        </p:grpSpPr>
        <p:pic>
          <p:nvPicPr>
            <p:cNvPr id="7" name="Image 7"/>
            <p:cNvPicPr>
              <a:picLocks noChangeAspect="1"/>
            </p:cNvPicPr>
            <p:nvPr/>
          </p:nvPicPr>
          <p:blipFill>
            <a:blip r:embed="rId2"/>
            <a:stretch>
              <a:fillRect/>
            </a:stretch>
          </p:blipFill>
          <p:spPr>
            <a:xfrm>
              <a:off x="1600200" y="1562100"/>
              <a:ext cx="1371600" cy="1828800"/>
            </a:xfrm>
            <a:prstGeom prst="rect">
              <a:avLst/>
            </a:prstGeom>
          </p:spPr>
        </p:pic>
        <p:sp>
          <p:nvSpPr>
            <p:cNvPr id="8" name="Rectangle 8"/>
            <p:cNvSpPr/>
            <p:nvPr/>
          </p:nvSpPr>
          <p:spPr>
            <a:xfrm>
              <a:off x="1600200" y="1562100"/>
              <a:ext cx="1371600" cy="1828800"/>
            </a:xfrm>
            <a:prstGeom prst="rect">
              <a:avLst/>
            </a:prstGeom>
            <a:noFill/>
            <a:ln w="14288">
              <a:solidFill>
                <a:schemeClr val="accent1"/>
              </a:solidFill>
            </a:ln>
          </p:spPr>
        </p:sp>
        <p:sp>
          <p:nvSpPr>
            <p:cNvPr id="9" name="TextBox 9"/>
            <p:cNvSpPr txBox="1"/>
            <p:nvPr/>
          </p:nvSpPr>
          <p:spPr>
            <a:xfrm>
              <a:off x="877228" y="3495199"/>
              <a:ext cx="2817543" cy="190690"/>
            </a:xfrm>
            <a:prstGeom prst="rect">
              <a:avLst/>
            </a:prstGeom>
            <a:noFill/>
            <a:ln>
              <a:noFill/>
            </a:ln>
          </p:spPr>
          <p:txBody>
            <a:bodyPr wrap="none" lIns="0" tIns="0" rIns="0" bIns="0" anchor="t" anchorCtr="0">
              <a:spAutoFit/>
            </a:bodyPr>
            <a:lstStyle/>
            <a:p>
              <a:pPr algn="ctr"/>
              <a:r>
                <a:rPr lang="en" sz="980" dirty="0">
                  <a:solidFill>
                    <a:schemeClr val="accent5"/>
                  </a:solidFill>
                  <a:latin typeface="+mn-lt"/>
                  <a:ea typeface="+mn-ea"/>
                  <a:cs typeface="+mn-cs"/>
                </a:rPr>
                <a:t>Assembled wearable enclosure with belt clip</a:t>
              </a:r>
            </a:p>
          </p:txBody>
        </p:sp>
      </p:grpSp>
      <p:grpSp>
        <p:nvGrpSpPr>
          <p:cNvPr id="14" name="Group 14"/>
          <p:cNvGrpSpPr/>
          <p:nvPr/>
        </p:nvGrpSpPr>
        <p:grpSpPr>
          <a:xfrm>
            <a:off x="4257366" y="1562100"/>
            <a:ext cx="3220067" cy="2123789"/>
            <a:chOff x="4257366" y="1562100"/>
            <a:chExt cx="3220067" cy="2123789"/>
          </a:xfrm>
        </p:grpSpPr>
        <p:pic>
          <p:nvPicPr>
            <p:cNvPr id="11" name="Image 11"/>
            <p:cNvPicPr>
              <a:picLocks noChangeAspect="1"/>
            </p:cNvPicPr>
            <p:nvPr/>
          </p:nvPicPr>
          <p:blipFill>
            <a:blip r:embed="rId3"/>
            <a:stretch>
              <a:fillRect/>
            </a:stretch>
          </p:blipFill>
          <p:spPr>
            <a:xfrm>
              <a:off x="5181600" y="1562100"/>
              <a:ext cx="1371600" cy="1828800"/>
            </a:xfrm>
            <a:prstGeom prst="rect">
              <a:avLst/>
            </a:prstGeom>
          </p:spPr>
        </p:pic>
        <p:sp>
          <p:nvSpPr>
            <p:cNvPr id="12" name="Rectangle 12"/>
            <p:cNvSpPr/>
            <p:nvPr/>
          </p:nvSpPr>
          <p:spPr>
            <a:xfrm>
              <a:off x="5181600" y="1562100"/>
              <a:ext cx="1371600" cy="1828800"/>
            </a:xfrm>
            <a:prstGeom prst="rect">
              <a:avLst/>
            </a:prstGeom>
            <a:noFill/>
            <a:ln w="14288">
              <a:solidFill>
                <a:schemeClr val="accent1"/>
              </a:solidFill>
            </a:ln>
          </p:spPr>
        </p:sp>
        <p:sp>
          <p:nvSpPr>
            <p:cNvPr id="13" name="TextBox 13"/>
            <p:cNvSpPr txBox="1"/>
            <p:nvPr/>
          </p:nvSpPr>
          <p:spPr>
            <a:xfrm>
              <a:off x="4257366" y="3495199"/>
              <a:ext cx="3220067" cy="190690"/>
            </a:xfrm>
            <a:prstGeom prst="rect">
              <a:avLst/>
            </a:prstGeom>
            <a:noFill/>
            <a:ln>
              <a:noFill/>
            </a:ln>
          </p:spPr>
          <p:txBody>
            <a:bodyPr wrap="none" lIns="0" tIns="0" rIns="0" bIns="0" anchor="t" anchorCtr="0">
              <a:spAutoFit/>
            </a:bodyPr>
            <a:lstStyle/>
            <a:p>
              <a:pPr algn="ctr"/>
              <a:r>
                <a:rPr lang="en" sz="980" dirty="0">
                  <a:solidFill>
                    <a:schemeClr val="accent5"/>
                  </a:solidFill>
                  <a:latin typeface="+mn-lt"/>
                  <a:ea typeface="+mn-ea"/>
                  <a:cs typeface="+mn-cs"/>
                </a:rPr>
                <a:t>Opened enclosure with the prototype board inside</a:t>
              </a:r>
            </a:p>
          </p:txBody>
        </p:sp>
      </p:grpSp>
      <p:grpSp>
        <p:nvGrpSpPr>
          <p:cNvPr id="18" name="Group 18"/>
          <p:cNvGrpSpPr/>
          <p:nvPr/>
        </p:nvGrpSpPr>
        <p:grpSpPr>
          <a:xfrm>
            <a:off x="1440942" y="3943350"/>
            <a:ext cx="1690116" cy="2219040"/>
            <a:chOff x="1440942" y="3943350"/>
            <a:chExt cx="1690116" cy="2219040"/>
          </a:xfrm>
        </p:grpSpPr>
        <p:pic>
          <p:nvPicPr>
            <p:cNvPr id="15" name="Image 15"/>
            <p:cNvPicPr>
              <a:picLocks noChangeAspect="1"/>
            </p:cNvPicPr>
            <p:nvPr/>
          </p:nvPicPr>
          <p:blipFill>
            <a:blip r:embed="rId4"/>
            <a:stretch>
              <a:fillRect/>
            </a:stretch>
          </p:blipFill>
          <p:spPr>
            <a:xfrm>
              <a:off x="1600200" y="3943350"/>
              <a:ext cx="1371600" cy="1828800"/>
            </a:xfrm>
            <a:prstGeom prst="rect">
              <a:avLst/>
            </a:prstGeom>
          </p:spPr>
        </p:pic>
        <p:sp>
          <p:nvSpPr>
            <p:cNvPr id="16" name="Rectangle 16"/>
            <p:cNvSpPr/>
            <p:nvPr/>
          </p:nvSpPr>
          <p:spPr>
            <a:xfrm>
              <a:off x="1600200" y="3943350"/>
              <a:ext cx="1371600" cy="1828800"/>
            </a:xfrm>
            <a:prstGeom prst="rect">
              <a:avLst/>
            </a:prstGeom>
            <a:noFill/>
            <a:ln w="14288">
              <a:solidFill>
                <a:schemeClr val="accent1"/>
              </a:solidFill>
            </a:ln>
          </p:spPr>
        </p:sp>
        <p:sp>
          <p:nvSpPr>
            <p:cNvPr id="17" name="TextBox 17"/>
            <p:cNvSpPr txBox="1"/>
            <p:nvPr/>
          </p:nvSpPr>
          <p:spPr>
            <a:xfrm>
              <a:off x="1440942" y="5819299"/>
              <a:ext cx="1690116" cy="343091"/>
            </a:xfrm>
            <a:prstGeom prst="rect">
              <a:avLst/>
            </a:prstGeom>
            <a:noFill/>
            <a:ln>
              <a:noFill/>
            </a:ln>
          </p:spPr>
          <p:txBody>
            <a:bodyPr wrap="none" lIns="0" tIns="0" rIns="0" bIns="0" anchor="t" anchorCtr="0">
              <a:spAutoFit/>
            </a:bodyPr>
            <a:lstStyle/>
            <a:p>
              <a:pPr algn="ctr">
                <a:lnSpc>
                  <a:spcPts val="1200"/>
                </a:lnSpc>
              </a:pPr>
              <a:r>
                <a:rPr lang="en" sz="980" dirty="0">
                  <a:solidFill>
                    <a:schemeClr val="accent5"/>
                  </a:solidFill>
                  <a:latin typeface="+mn-lt"/>
                  <a:ea typeface="+mn-ea"/>
                  <a:cs typeface="+mn-cs"/>
                </a:rPr>
                <a:t>XIAO ESP32-S3, MPU-6050,</a:t>
              </a:r>
              <a:br/>
              <a:r>
                <a:rPr lang="en" sz="980" dirty="0">
                  <a:solidFill>
                    <a:schemeClr val="accent5"/>
                  </a:solidFill>
                  <a:latin typeface="+mn-lt"/>
                  <a:ea typeface="+mn-ea"/>
                  <a:cs typeface="+mn-cs"/>
                </a:rPr>
                <a:t>MAX30102, and LiPo battery</a:t>
              </a:r>
            </a:p>
          </p:txBody>
        </p:sp>
      </p:grpSp>
      <p:grpSp>
        <p:nvGrpSpPr>
          <p:cNvPr id="22" name="Group 22"/>
          <p:cNvGrpSpPr/>
          <p:nvPr/>
        </p:nvGrpSpPr>
        <p:grpSpPr>
          <a:xfrm>
            <a:off x="4590014" y="3943350"/>
            <a:ext cx="2554772" cy="2123789"/>
            <a:chOff x="4590014" y="3943350"/>
            <a:chExt cx="2554772" cy="2123789"/>
          </a:xfrm>
        </p:grpSpPr>
        <p:pic>
          <p:nvPicPr>
            <p:cNvPr id="19" name="Image 19"/>
            <p:cNvPicPr>
              <a:picLocks noChangeAspect="1"/>
            </p:cNvPicPr>
            <p:nvPr/>
          </p:nvPicPr>
          <p:blipFill>
            <a:blip r:embed="rId5"/>
            <a:stretch>
              <a:fillRect/>
            </a:stretch>
          </p:blipFill>
          <p:spPr>
            <a:xfrm>
              <a:off x="4648200" y="3943350"/>
              <a:ext cx="2438400" cy="1828800"/>
            </a:xfrm>
            <a:prstGeom prst="rect">
              <a:avLst/>
            </a:prstGeom>
          </p:spPr>
        </p:pic>
        <p:sp>
          <p:nvSpPr>
            <p:cNvPr id="20" name="Rectangle 20"/>
            <p:cNvSpPr/>
            <p:nvPr/>
          </p:nvSpPr>
          <p:spPr>
            <a:xfrm>
              <a:off x="4648200" y="3943350"/>
              <a:ext cx="2438400" cy="1828800"/>
            </a:xfrm>
            <a:prstGeom prst="rect">
              <a:avLst/>
            </a:prstGeom>
            <a:noFill/>
            <a:ln w="14288">
              <a:solidFill>
                <a:schemeClr val="accent1"/>
              </a:solidFill>
            </a:ln>
          </p:spPr>
        </p:sp>
        <p:sp>
          <p:nvSpPr>
            <p:cNvPr id="21" name="TextBox 21"/>
            <p:cNvSpPr txBox="1"/>
            <p:nvPr/>
          </p:nvSpPr>
          <p:spPr>
            <a:xfrm>
              <a:off x="4590014" y="5876449"/>
              <a:ext cx="2554772" cy="190690"/>
            </a:xfrm>
            <a:prstGeom prst="rect">
              <a:avLst/>
            </a:prstGeom>
            <a:noFill/>
            <a:ln>
              <a:noFill/>
            </a:ln>
          </p:spPr>
          <p:txBody>
            <a:bodyPr wrap="none" lIns="0" tIns="0" rIns="0" bIns="0" anchor="t" anchorCtr="0">
              <a:spAutoFit/>
            </a:bodyPr>
            <a:lstStyle/>
            <a:p>
              <a:pPr algn="ctr"/>
              <a:r>
                <a:rPr lang="en" sz="980" dirty="0">
                  <a:solidFill>
                    <a:schemeClr val="accent5"/>
                  </a:solidFill>
                  <a:latin typeface="+mn-lt"/>
                  <a:ea typeface="+mn-ea"/>
                  <a:cs typeface="+mn-cs"/>
                </a:rPr>
                <a:t>Jetson Orin Nano in its 3D-printed case</a:t>
              </a:r>
            </a:p>
          </p:txBody>
        </p:sp>
      </p:grpSp>
      <p:grpSp>
        <p:nvGrpSpPr>
          <p:cNvPr id="26" name="Group 26"/>
          <p:cNvGrpSpPr/>
          <p:nvPr/>
        </p:nvGrpSpPr>
        <p:grpSpPr>
          <a:xfrm>
            <a:off x="7934325" y="1562100"/>
            <a:ext cx="3486150" cy="4619339"/>
            <a:chOff x="7934325" y="1562100"/>
            <a:chExt cx="3486150" cy="4619339"/>
          </a:xfrm>
        </p:grpSpPr>
        <p:pic>
          <p:nvPicPr>
            <p:cNvPr id="23" name="Image 23"/>
            <p:cNvPicPr>
              <a:picLocks noChangeAspect="1"/>
            </p:cNvPicPr>
            <p:nvPr/>
          </p:nvPicPr>
          <p:blipFill>
            <a:blip r:embed="rId6"/>
            <a:stretch>
              <a:fillRect/>
            </a:stretch>
          </p:blipFill>
          <p:spPr>
            <a:xfrm>
              <a:off x="7934325" y="1562100"/>
              <a:ext cx="3486150" cy="4305300"/>
            </a:xfrm>
            <a:prstGeom prst="rect">
              <a:avLst/>
            </a:prstGeom>
          </p:spPr>
        </p:pic>
        <p:sp>
          <p:nvSpPr>
            <p:cNvPr id="24" name="Rectangle 24"/>
            <p:cNvSpPr/>
            <p:nvPr/>
          </p:nvSpPr>
          <p:spPr>
            <a:xfrm>
              <a:off x="7934325" y="1562100"/>
              <a:ext cx="3486150" cy="4305300"/>
            </a:xfrm>
            <a:prstGeom prst="rect">
              <a:avLst/>
            </a:prstGeom>
            <a:noFill/>
            <a:ln w="14288">
              <a:solidFill>
                <a:schemeClr val="accent1"/>
              </a:solidFill>
            </a:ln>
          </p:spPr>
        </p:sp>
        <p:sp>
          <p:nvSpPr>
            <p:cNvPr id="25" name="TextBox 25"/>
            <p:cNvSpPr txBox="1"/>
            <p:nvPr/>
          </p:nvSpPr>
          <p:spPr>
            <a:xfrm>
              <a:off x="8431508" y="5990749"/>
              <a:ext cx="2491785" cy="190690"/>
            </a:xfrm>
            <a:prstGeom prst="rect">
              <a:avLst/>
            </a:prstGeom>
            <a:noFill/>
            <a:ln>
              <a:noFill/>
            </a:ln>
          </p:spPr>
          <p:txBody>
            <a:bodyPr wrap="none" lIns="0" tIns="0" rIns="0" bIns="0" anchor="t" anchorCtr="0">
              <a:spAutoFit/>
            </a:bodyPr>
            <a:lstStyle/>
            <a:p>
              <a:pPr algn="ctr"/>
              <a:r>
                <a:rPr lang="en" sz="980" dirty="0">
                  <a:solidFill>
                    <a:schemeClr val="accent5"/>
                  </a:solidFill>
                  <a:latin typeface="+mn-lt"/>
                  <a:ea typeface="+mn-ea"/>
                  <a:cs typeface="+mn-cs"/>
                </a:rPr>
                <a:t>KineticPulse web monitoring dashboard</a:t>
              </a:r>
            </a:p>
          </p:txBody>
        </p:sp>
      </p:grpSp>
      <p:sp>
        <p:nvSpPr>
          <p:cNvPr id="27" name="TextBox 27"/>
          <p:cNvSpPr txBox="1"/>
          <p:nvPr/>
        </p:nvSpPr>
        <p:spPr>
          <a:xfrm>
            <a:off x="11432327" y="6562249"/>
            <a:ext cx="155026" cy="190690"/>
          </a:xfrm>
          <a:prstGeom prst="rect">
            <a:avLst/>
          </a:prstGeom>
          <a:noFill/>
          <a:ln>
            <a:noFill/>
          </a:ln>
        </p:spPr>
        <p:txBody>
          <a:bodyPr wrap="none" lIns="0" tIns="0" rIns="0" bIns="0" anchor="t" anchorCtr="0">
            <a:spAutoFit/>
          </a:bodyPr>
          <a:lstStyle/>
          <a:p>
            <a:pPr algn="r"/>
            <a:r>
              <a:rPr lang="en" sz="980" dirty="0">
                <a:solidFill>
                  <a:schemeClr val="accent3"/>
                </a:solidFill>
                <a:latin typeface="+mn-lt"/>
                <a:ea typeface="+mn-ea"/>
                <a:cs typeface="+mn-cs"/>
              </a:rPr>
              <a:t>05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xmlns:p="http://schemas.openxmlformats.org/presentationml/2006/mai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xmlns:p="http://schemas.openxmlformats.org/presentationml/2006/mai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xmlns:p="http://schemas.openxmlformats.org/presentationml/2006/main" id="25" presetID="10"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5884" y="590074"/>
            <a:ext cx="10986516" cy="827627"/>
            <a:chOff x="595884" y="590074"/>
            <a:chExt cx="10986516" cy="827627"/>
          </a:xfrm>
        </p:grpSpPr>
        <p:sp>
          <p:nvSpPr>
            <p:cNvPr id="2" name="Rectangle 2"/>
            <p:cNvSpPr/>
            <p:nvPr/>
          </p:nvSpPr>
          <p:spPr>
            <a:xfrm>
              <a:off x="609600" y="590550"/>
              <a:ext cx="266700" cy="28575"/>
            </a:xfrm>
            <a:prstGeom prst="rect">
              <a:avLst/>
            </a:prstGeom>
            <a:solidFill>
              <a:schemeClr val="accent2"/>
            </a:solidFill>
            <a:ln>
              <a:noFill/>
            </a:ln>
          </p:spPr>
        </p:sp>
        <p:sp>
          <p:nvSpPr>
            <p:cNvPr id="3" name="TextBox 3"/>
            <p:cNvSpPr txBox="1"/>
            <p:nvPr/>
          </p:nvSpPr>
          <p:spPr>
            <a:xfrm>
              <a:off x="985647" y="590074"/>
              <a:ext cx="1285657" cy="190690"/>
            </a:xfrm>
            <a:prstGeom prst="rect">
              <a:avLst/>
            </a:prstGeom>
            <a:noFill/>
            <a:ln>
              <a:noFill/>
            </a:ln>
          </p:spPr>
          <p:txBody>
            <a:bodyPr wrap="none" lIns="0" tIns="0" rIns="0" bIns="0" anchor="t" anchorCtr="0">
              <a:spAutoFit/>
            </a:bodyPr>
            <a:lstStyle/>
            <a:p>
              <a:pPr algn="l"/>
              <a:r>
                <a:rPr lang="en" sz="980" spc="188" dirty="0">
                  <a:solidFill>
                    <a:schemeClr val="accent2"/>
                  </a:solidFill>
                  <a:latin typeface="+mn-lt"/>
                  <a:ea typeface="+mn-ea"/>
                  <a:cs typeface="+mn-cs"/>
                </a:rPr>
                <a:t>WEARABLE LINK</a:t>
              </a:r>
            </a:p>
          </p:txBody>
        </p:sp>
        <p:sp>
          <p:nvSpPr>
            <p:cNvPr id="4" name="TextBox 4"/>
            <p:cNvSpPr txBox="1"/>
            <p:nvPr/>
          </p:nvSpPr>
          <p:spPr>
            <a:xfrm>
              <a:off x="595884" y="889635"/>
              <a:ext cx="6735470" cy="528066"/>
            </a:xfrm>
            <a:prstGeom prst="rect">
              <a:avLst/>
            </a:prstGeom>
            <a:noFill/>
            <a:ln>
              <a:noFill/>
            </a:ln>
          </p:spPr>
          <p:txBody>
            <a:bodyPr wrap="none" lIns="0" tIns="0" rIns="0" bIns="0" anchor="t" anchorCtr="0">
              <a:spAutoFit/>
            </a:bodyPr>
            <a:lstStyle/>
            <a:p>
              <a:pPr algn="l"/>
              <a:r>
                <a:rPr lang="en" sz="2700" dirty="0">
                  <a:solidFill>
                    <a:schemeClr val="accent1"/>
                  </a:solidFill>
                  <a:latin typeface="+mj-lt"/>
                  <a:ea typeface="+mj-ea"/>
                  <a:cs typeface="+mj-cs"/>
                </a:rPr>
                <a:t>Wearable Data, One Event per Line</a:t>
              </a:r>
            </a:p>
          </p:txBody>
        </p:sp>
        <p:sp>
          <p:nvSpPr>
            <p:cNvPr id="5" name="Line 5"/>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3" name="Group 23"/>
          <p:cNvGrpSpPr/>
          <p:nvPr/>
        </p:nvGrpSpPr>
        <p:grpSpPr>
          <a:xfrm>
            <a:off x="609600" y="1619250"/>
            <a:ext cx="3438803" cy="1966151"/>
            <a:chOff x="609600" y="1619250"/>
            <a:chExt cx="3438803" cy="1966151"/>
          </a:xfrm>
        </p:grpSpPr>
        <p:sp>
          <p:nvSpPr>
            <p:cNvPr id="7" name="Rectangle 7"/>
            <p:cNvSpPr/>
            <p:nvPr/>
          </p:nvSpPr>
          <p:spPr>
            <a:xfrm>
              <a:off x="609600" y="1619250"/>
              <a:ext cx="3390900" cy="609600"/>
            </a:xfrm>
            <a:prstGeom prst="roundRect">
              <a:avLst>
                <a:gd name="adj" fmla="val 6250"/>
              </a:avLst>
            </a:prstGeom>
            <a:solidFill>
              <a:srgbClr val="FFFFFF"/>
            </a:solidFill>
            <a:ln w="14288">
              <a:solidFill>
                <a:schemeClr val="accent1"/>
              </a:solidFill>
            </a:ln>
          </p:spPr>
        </p:sp>
        <p:grpSp>
          <p:nvGrpSpPr>
            <p:cNvPr id="10" name="Group 10"/>
            <p:cNvGrpSpPr/>
            <p:nvPr/>
          </p:nvGrpSpPr>
          <p:grpSpPr>
            <a:xfrm>
              <a:off x="804861" y="1824038"/>
              <a:ext cx="142877" cy="200025"/>
              <a:chOff x="804861" y="1824038"/>
              <a:chExt cx="142877" cy="200025"/>
            </a:xfrm>
          </p:grpSpPr>
          <p:sp>
            <p:nvSpPr>
              <p:cNvPr id="8" name="Freeform 8"/>
              <p:cNvSpPr/>
              <p:nvPr/>
            </p:nvSpPr>
            <p:spPr>
              <a:xfrm>
                <a:off x="812006" y="1859756"/>
                <a:ext cx="128588" cy="128588"/>
              </a:xfrm>
              <a:custGeom>
                <a:avLst/>
                <a:gdLst/>
                <a:ahLst/>
                <a:cxnLst/>
                <a:rect l="l" t="t" r="r" b="b"/>
                <a:pathLst>
                  <a:path w="128588" h="128588">
                    <a:moveTo>
                      <a:pt x="128588" y="64294"/>
                    </a:moveTo>
                    <a:cubicBezTo>
                      <a:pt x="128588" y="99802"/>
                      <a:pt x="99802" y="128588"/>
                      <a:pt x="64294" y="128588"/>
                    </a:cubicBezTo>
                    <a:cubicBezTo>
                      <a:pt x="28785" y="128588"/>
                      <a:pt x="0" y="99802"/>
                      <a:pt x="0" y="64294"/>
                    </a:cubicBezTo>
                    <a:cubicBezTo>
                      <a:pt x="0" y="28785"/>
                      <a:pt x="28785" y="0"/>
                      <a:pt x="64294" y="0"/>
                    </a:cubicBezTo>
                    <a:cubicBezTo>
                      <a:pt x="99802" y="0"/>
                      <a:pt x="128588" y="28785"/>
                      <a:pt x="128588" y="64294"/>
                    </a:cubicBezTo>
                    <a:close/>
                  </a:path>
                </a:pathLst>
              </a:custGeom>
              <a:solidFill>
                <a:schemeClr val="accent1">
                  <a:alpha val="20000"/>
                </a:schemeClr>
              </a:solidFill>
              <a:ln>
                <a:noFill/>
              </a:ln>
            </p:spPr>
          </p:sp>
          <p:sp>
            <p:nvSpPr>
              <p:cNvPr id="9" name="Freeform 9"/>
              <p:cNvSpPr/>
              <p:nvPr/>
            </p:nvSpPr>
            <p:spPr>
              <a:xfrm>
                <a:off x="804861" y="1824038"/>
                <a:ext cx="142877" cy="200025"/>
              </a:xfrm>
              <a:custGeom>
                <a:avLst/>
                <a:gdLst/>
                <a:ahLst/>
                <a:cxnLst/>
                <a:rect l="l" t="t" r="r" b="b"/>
                <a:pathLst>
                  <a:path w="142877" h="200025">
                    <a:moveTo>
                      <a:pt x="142877" y="100012"/>
                    </a:moveTo>
                    <a:cubicBezTo>
                      <a:pt x="142872" y="77266"/>
                      <a:pt x="132027" y="55884"/>
                      <a:pt x="113677" y="42443"/>
                    </a:cubicBezTo>
                    <a:lnTo>
                      <a:pt x="108105" y="11743"/>
                    </a:lnTo>
                    <a:cubicBezTo>
                      <a:pt x="106874" y="4945"/>
                      <a:pt x="100957" y="2"/>
                      <a:pt x="94049" y="0"/>
                    </a:cubicBezTo>
                    <a:lnTo>
                      <a:pt x="48830" y="0"/>
                    </a:lnTo>
                    <a:cubicBezTo>
                      <a:pt x="41922" y="2"/>
                      <a:pt x="36005" y="4945"/>
                      <a:pt x="34774" y="11743"/>
                    </a:cubicBezTo>
                    <a:lnTo>
                      <a:pt x="29202" y="42443"/>
                    </a:lnTo>
                    <a:cubicBezTo>
                      <a:pt x="10847" y="55880"/>
                      <a:pt x="0" y="77265"/>
                      <a:pt x="0" y="100012"/>
                    </a:cubicBezTo>
                    <a:cubicBezTo>
                      <a:pt x="0" y="122760"/>
                      <a:pt x="10847" y="144145"/>
                      <a:pt x="29202" y="157582"/>
                    </a:cubicBezTo>
                    <a:lnTo>
                      <a:pt x="34774" y="188282"/>
                    </a:lnTo>
                    <a:cubicBezTo>
                      <a:pt x="36005" y="195080"/>
                      <a:pt x="41922" y="200023"/>
                      <a:pt x="48830" y="200025"/>
                    </a:cubicBezTo>
                    <a:lnTo>
                      <a:pt x="94049" y="200025"/>
                    </a:lnTo>
                    <a:cubicBezTo>
                      <a:pt x="100957" y="200023"/>
                      <a:pt x="106874" y="195080"/>
                      <a:pt x="108105" y="188282"/>
                    </a:cubicBezTo>
                    <a:lnTo>
                      <a:pt x="113677" y="157582"/>
                    </a:lnTo>
                    <a:cubicBezTo>
                      <a:pt x="132027" y="144141"/>
                      <a:pt x="142872" y="122759"/>
                      <a:pt x="142877" y="100012"/>
                    </a:cubicBezTo>
                    <a:close/>
                    <a:moveTo>
                      <a:pt x="48830" y="14288"/>
                    </a:moveTo>
                    <a:lnTo>
                      <a:pt x="94049" y="14288"/>
                    </a:lnTo>
                    <a:lnTo>
                      <a:pt x="97541" y="33531"/>
                    </a:lnTo>
                    <a:cubicBezTo>
                      <a:pt x="80767" y="26923"/>
                      <a:pt x="62112" y="26923"/>
                      <a:pt x="45338" y="33531"/>
                    </a:cubicBezTo>
                    <a:close/>
                    <a:moveTo>
                      <a:pt x="14289" y="100012"/>
                    </a:moveTo>
                    <a:cubicBezTo>
                      <a:pt x="14289" y="68449"/>
                      <a:pt x="39876" y="42862"/>
                      <a:pt x="71439" y="42862"/>
                    </a:cubicBezTo>
                    <a:cubicBezTo>
                      <a:pt x="103003" y="42862"/>
                      <a:pt x="128589" y="68449"/>
                      <a:pt x="128589" y="100012"/>
                    </a:cubicBezTo>
                    <a:cubicBezTo>
                      <a:pt x="128589" y="131576"/>
                      <a:pt x="103003" y="157162"/>
                      <a:pt x="71439" y="157162"/>
                    </a:cubicBezTo>
                    <a:cubicBezTo>
                      <a:pt x="39891" y="157128"/>
                      <a:pt x="14324" y="131561"/>
                      <a:pt x="14289" y="100012"/>
                    </a:cubicBezTo>
                    <a:close/>
                    <a:moveTo>
                      <a:pt x="94049" y="185738"/>
                    </a:moveTo>
                    <a:lnTo>
                      <a:pt x="48830" y="185738"/>
                    </a:lnTo>
                    <a:lnTo>
                      <a:pt x="45338" y="166494"/>
                    </a:lnTo>
                    <a:cubicBezTo>
                      <a:pt x="62112" y="173102"/>
                      <a:pt x="80767" y="173102"/>
                      <a:pt x="97541" y="166494"/>
                    </a:cubicBezTo>
                    <a:close/>
                    <a:moveTo>
                      <a:pt x="64296" y="100012"/>
                    </a:moveTo>
                    <a:lnTo>
                      <a:pt x="64296" y="64294"/>
                    </a:lnTo>
                    <a:cubicBezTo>
                      <a:pt x="64296" y="60348"/>
                      <a:pt x="67494" y="57150"/>
                      <a:pt x="71439" y="57150"/>
                    </a:cubicBezTo>
                    <a:cubicBezTo>
                      <a:pt x="75385" y="57150"/>
                      <a:pt x="78583" y="60348"/>
                      <a:pt x="78583" y="64294"/>
                    </a:cubicBezTo>
                    <a:lnTo>
                      <a:pt x="78583" y="92869"/>
                    </a:lnTo>
                    <a:lnTo>
                      <a:pt x="107158" y="92869"/>
                    </a:lnTo>
                    <a:cubicBezTo>
                      <a:pt x="111104" y="92869"/>
                      <a:pt x="114302" y="96067"/>
                      <a:pt x="114302" y="100012"/>
                    </a:cubicBezTo>
                    <a:cubicBezTo>
                      <a:pt x="114302" y="103958"/>
                      <a:pt x="111104" y="107156"/>
                      <a:pt x="107158" y="107156"/>
                    </a:cubicBezTo>
                    <a:lnTo>
                      <a:pt x="71439" y="107156"/>
                    </a:lnTo>
                    <a:cubicBezTo>
                      <a:pt x="67494" y="107156"/>
                      <a:pt x="64296" y="103958"/>
                      <a:pt x="64296" y="100012"/>
                    </a:cubicBezTo>
                    <a:close/>
                  </a:path>
                </a:pathLst>
              </a:custGeom>
              <a:solidFill>
                <a:schemeClr val="accent1"/>
              </a:solidFill>
              <a:ln>
                <a:noFill/>
              </a:ln>
            </p:spPr>
          </p:sp>
        </p:grpSp>
        <p:sp>
          <p:nvSpPr>
            <p:cNvPr id="11" name="TextBox 11"/>
            <p:cNvSpPr txBox="1"/>
            <p:nvPr/>
          </p:nvSpPr>
          <p:spPr>
            <a:xfrm>
              <a:off x="1079754" y="1842135"/>
              <a:ext cx="1576227"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ESP32-S3 wearable</a:t>
              </a:r>
            </a:p>
          </p:txBody>
        </p:sp>
        <p:grpSp>
          <p:nvGrpSpPr>
            <p:cNvPr id="14" name="Group 14"/>
            <p:cNvGrpSpPr/>
            <p:nvPr/>
          </p:nvGrpSpPr>
          <p:grpSpPr>
            <a:xfrm>
              <a:off x="615257" y="2459116"/>
              <a:ext cx="179178" cy="145990"/>
              <a:chOff x="615257" y="2459116"/>
              <a:chExt cx="179178" cy="145990"/>
            </a:xfrm>
          </p:grpSpPr>
          <p:sp>
            <p:nvSpPr>
              <p:cNvPr id="12" name="Freeform 12"/>
              <p:cNvSpPr/>
              <p:nvPr/>
            </p:nvSpPr>
            <p:spPr>
              <a:xfrm>
                <a:off x="621360" y="2459116"/>
                <a:ext cx="166979" cy="140021"/>
              </a:xfrm>
              <a:custGeom>
                <a:avLst/>
                <a:gdLst/>
                <a:ahLst/>
                <a:cxnLst/>
                <a:rect l="l" t="t" r="r" b="b"/>
                <a:pathLst>
                  <a:path w="166979" h="140021">
                    <a:moveTo>
                      <a:pt x="165494" y="44538"/>
                    </a:moveTo>
                    <a:lnTo>
                      <a:pt x="88103" y="137875"/>
                    </a:lnTo>
                    <a:cubicBezTo>
                      <a:pt x="86972" y="139235"/>
                      <a:pt x="85295" y="140021"/>
                      <a:pt x="83527" y="140021"/>
                    </a:cubicBezTo>
                    <a:cubicBezTo>
                      <a:pt x="81758" y="140021"/>
                      <a:pt x="80081" y="139235"/>
                      <a:pt x="78950" y="137875"/>
                    </a:cubicBezTo>
                    <a:lnTo>
                      <a:pt x="1485" y="44538"/>
                    </a:lnTo>
                    <a:cubicBezTo>
                      <a:pt x="470" y="43318"/>
                      <a:pt x="0" y="41734"/>
                      <a:pt x="184" y="40158"/>
                    </a:cubicBezTo>
                    <a:cubicBezTo>
                      <a:pt x="368" y="38581"/>
                      <a:pt x="1191" y="37149"/>
                      <a:pt x="2460" y="36196"/>
                    </a:cubicBezTo>
                    <a:cubicBezTo>
                      <a:pt x="50416" y="0"/>
                      <a:pt x="116563" y="0"/>
                      <a:pt x="164519" y="36196"/>
                    </a:cubicBezTo>
                    <a:cubicBezTo>
                      <a:pt x="165788" y="37149"/>
                      <a:pt x="166611" y="38581"/>
                      <a:pt x="166795" y="40158"/>
                    </a:cubicBezTo>
                    <a:cubicBezTo>
                      <a:pt x="166979" y="41734"/>
                      <a:pt x="166509" y="43318"/>
                      <a:pt x="165494" y="44538"/>
                    </a:cubicBezTo>
                    <a:close/>
                  </a:path>
                </a:pathLst>
              </a:custGeom>
              <a:solidFill>
                <a:schemeClr val="accent2">
                  <a:alpha val="20000"/>
                </a:schemeClr>
              </a:solidFill>
              <a:ln>
                <a:noFill/>
              </a:ln>
            </p:spPr>
          </p:sp>
          <p:sp>
            <p:nvSpPr>
              <p:cNvPr id="13" name="Freeform 13"/>
              <p:cNvSpPr/>
              <p:nvPr/>
            </p:nvSpPr>
            <p:spPr>
              <a:xfrm>
                <a:off x="615257" y="2462098"/>
                <a:ext cx="179178" cy="143008"/>
              </a:xfrm>
              <a:custGeom>
                <a:avLst/>
                <a:gdLst/>
                <a:ahLst/>
                <a:cxnLst/>
                <a:rect l="l" t="t" r="r" b="b"/>
                <a:pathLst>
                  <a:path w="179178" h="143008">
                    <a:moveTo>
                      <a:pt x="178808" y="36511"/>
                    </a:moveTo>
                    <a:cubicBezTo>
                      <a:pt x="178432" y="33318"/>
                      <a:pt x="176775" y="30414"/>
                      <a:pt x="174217" y="28467"/>
                    </a:cubicBezTo>
                    <a:cubicBezTo>
                      <a:pt x="149896" y="9965"/>
                      <a:pt x="120152" y="0"/>
                      <a:pt x="89593" y="115"/>
                    </a:cubicBezTo>
                    <a:cubicBezTo>
                      <a:pt x="59035" y="0"/>
                      <a:pt x="29291" y="9965"/>
                      <a:pt x="4970" y="28467"/>
                    </a:cubicBezTo>
                    <a:cubicBezTo>
                      <a:pt x="2412" y="30414"/>
                      <a:pt x="754" y="33318"/>
                      <a:pt x="378" y="36511"/>
                    </a:cubicBezTo>
                    <a:cubicBezTo>
                      <a:pt x="0" y="39697"/>
                      <a:pt x="953" y="42898"/>
                      <a:pt x="3013" y="45359"/>
                    </a:cubicBezTo>
                    <a:lnTo>
                      <a:pt x="80403" y="138696"/>
                    </a:lnTo>
                    <a:cubicBezTo>
                      <a:pt x="82669" y="141432"/>
                      <a:pt x="86041" y="143008"/>
                      <a:pt x="89593" y="142990"/>
                    </a:cubicBezTo>
                    <a:lnTo>
                      <a:pt x="89593" y="142990"/>
                    </a:lnTo>
                    <a:cubicBezTo>
                      <a:pt x="93135" y="142999"/>
                      <a:pt x="96495" y="141424"/>
                      <a:pt x="98754" y="138696"/>
                    </a:cubicBezTo>
                    <a:lnTo>
                      <a:pt x="176144" y="45359"/>
                    </a:lnTo>
                    <a:cubicBezTo>
                      <a:pt x="178214" y="42903"/>
                      <a:pt x="179178" y="39701"/>
                      <a:pt x="178808" y="36511"/>
                    </a:cubicBezTo>
                    <a:close/>
                    <a:moveTo>
                      <a:pt x="89593" y="131084"/>
                    </a:moveTo>
                    <a:lnTo>
                      <a:pt x="12270" y="37873"/>
                    </a:lnTo>
                    <a:cubicBezTo>
                      <a:pt x="34505" y="20996"/>
                      <a:pt x="61679" y="11911"/>
                      <a:pt x="89593" y="12021"/>
                    </a:cubicBezTo>
                    <a:cubicBezTo>
                      <a:pt x="117508" y="11911"/>
                      <a:pt x="144682" y="20996"/>
                      <a:pt x="166917" y="37873"/>
                    </a:cubicBezTo>
                    <a:close/>
                  </a:path>
                </a:pathLst>
              </a:custGeom>
              <a:solidFill>
                <a:schemeClr val="accent2"/>
              </a:solidFill>
              <a:ln>
                <a:noFill/>
              </a:ln>
            </p:spPr>
          </p:sp>
        </p:grpSp>
        <p:sp>
          <p:nvSpPr>
            <p:cNvPr id="15" name="TextBox 15"/>
            <p:cNvSpPr txBox="1"/>
            <p:nvPr/>
          </p:nvSpPr>
          <p:spPr>
            <a:xfrm>
              <a:off x="890588" y="2484120"/>
              <a:ext cx="876193" cy="176212"/>
            </a:xfrm>
            <a:prstGeom prst="rect">
              <a:avLst/>
            </a:prstGeom>
            <a:noFill/>
            <a:ln>
              <a:noFill/>
            </a:ln>
          </p:spPr>
          <p:txBody>
            <a:bodyPr wrap="none" lIns="0" tIns="0" rIns="0" bIns="0" anchor="t" anchorCtr="0">
              <a:spAutoFit/>
            </a:bodyPr>
            <a:lstStyle/>
            <a:p>
              <a:pPr algn="l"/>
              <a:r>
                <a:rPr lang="en" sz="900" spc="112" dirty="0">
                  <a:solidFill>
                    <a:schemeClr val="accent5"/>
                  </a:solidFill>
                  <a:latin typeface="+mn-lt"/>
                  <a:ea typeface="+mn-ea"/>
                  <a:cs typeface="+mn-cs"/>
                </a:rPr>
                <a:t>CONNECTION</a:t>
              </a:r>
            </a:p>
          </p:txBody>
        </p:sp>
        <p:grpSp>
          <p:nvGrpSpPr>
            <p:cNvPr id="22" name="Group 22"/>
            <p:cNvGrpSpPr/>
            <p:nvPr/>
          </p:nvGrpSpPr>
          <p:grpSpPr>
            <a:xfrm>
              <a:off x="609600" y="2711768"/>
              <a:ext cx="3438803" cy="873633"/>
              <a:chOff x="609600" y="2711768"/>
              <a:chExt cx="3438803" cy="873633"/>
            </a:xfrm>
          </p:grpSpPr>
          <p:sp>
            <p:nvSpPr>
              <p:cNvPr id="16" name="Rectangle 16"/>
              <p:cNvSpPr/>
              <p:nvPr/>
            </p:nvSpPr>
            <p:spPr>
              <a:xfrm>
                <a:off x="609600" y="2781300"/>
                <a:ext cx="38100" cy="38100"/>
              </a:xfrm>
              <a:prstGeom prst="rect">
                <a:avLst/>
              </a:prstGeom>
              <a:solidFill>
                <a:schemeClr val="accent2"/>
              </a:solidFill>
              <a:ln>
                <a:noFill/>
              </a:ln>
            </p:spPr>
          </p:sp>
          <p:sp>
            <p:nvSpPr>
              <p:cNvPr id="17" name="TextBox 17"/>
              <p:cNvSpPr txBox="1"/>
              <p:nvPr/>
            </p:nvSpPr>
            <p:spPr>
              <a:xfrm>
                <a:off x="755142" y="2711768"/>
                <a:ext cx="2822909"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Jetson listens on TCP port 5555</a:t>
                </a:r>
              </a:p>
            </p:txBody>
          </p:sp>
          <p:sp>
            <p:nvSpPr>
              <p:cNvPr id="18" name="Rectangle 18"/>
              <p:cNvSpPr/>
              <p:nvPr/>
            </p:nvSpPr>
            <p:spPr>
              <a:xfrm>
                <a:off x="609600" y="3086100"/>
                <a:ext cx="38100" cy="38100"/>
              </a:xfrm>
              <a:prstGeom prst="rect">
                <a:avLst/>
              </a:prstGeom>
              <a:solidFill>
                <a:schemeClr val="accent2"/>
              </a:solidFill>
              <a:ln>
                <a:noFill/>
              </a:ln>
            </p:spPr>
          </p:sp>
          <p:sp>
            <p:nvSpPr>
              <p:cNvPr id="19" name="TextBox 19"/>
              <p:cNvSpPr txBox="1"/>
              <p:nvPr/>
            </p:nvSpPr>
            <p:spPr>
              <a:xfrm>
                <a:off x="755142" y="3016568"/>
                <a:ext cx="2559359"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ESP32 connects as the client</a:t>
                </a:r>
              </a:p>
            </p:txBody>
          </p:sp>
          <p:sp>
            <p:nvSpPr>
              <p:cNvPr id="20" name="Rectangle 20"/>
              <p:cNvSpPr/>
              <p:nvPr/>
            </p:nvSpPr>
            <p:spPr>
              <a:xfrm>
                <a:off x="609600" y="3390900"/>
                <a:ext cx="38100" cy="38100"/>
              </a:xfrm>
              <a:prstGeom prst="rect">
                <a:avLst/>
              </a:prstGeom>
              <a:solidFill>
                <a:schemeClr val="accent2"/>
              </a:solidFill>
              <a:ln>
                <a:noFill/>
              </a:ln>
            </p:spPr>
          </p:sp>
          <p:sp>
            <p:nvSpPr>
              <p:cNvPr id="21" name="TextBox 21"/>
              <p:cNvSpPr txBox="1"/>
              <p:nvPr/>
            </p:nvSpPr>
            <p:spPr>
              <a:xfrm>
                <a:off x="755142" y="3321368"/>
                <a:ext cx="3293261"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Wi-Fi carries newline-delimited JSON</a:t>
                </a:r>
              </a:p>
            </p:txBody>
          </p:sp>
        </p:grpSp>
      </p:grpSp>
      <p:grpSp>
        <p:nvGrpSpPr>
          <p:cNvPr id="34" name="Group 34"/>
          <p:cNvGrpSpPr/>
          <p:nvPr/>
        </p:nvGrpSpPr>
        <p:grpSpPr>
          <a:xfrm>
            <a:off x="4110038" y="2484120"/>
            <a:ext cx="3738562" cy="2164080"/>
            <a:chOff x="4110038" y="2484120"/>
            <a:chExt cx="3738562" cy="2164080"/>
          </a:xfrm>
        </p:grpSpPr>
        <p:sp>
          <p:nvSpPr>
            <p:cNvPr id="24" name="TextBox 24"/>
            <p:cNvSpPr txBox="1"/>
            <p:nvPr/>
          </p:nvSpPr>
          <p:spPr>
            <a:xfrm>
              <a:off x="4110038" y="2484120"/>
              <a:ext cx="1275888" cy="176212"/>
            </a:xfrm>
            <a:prstGeom prst="rect">
              <a:avLst/>
            </a:prstGeom>
            <a:noFill/>
            <a:ln>
              <a:noFill/>
            </a:ln>
          </p:spPr>
          <p:txBody>
            <a:bodyPr wrap="none" lIns="0" tIns="0" rIns="0" bIns="0" anchor="t" anchorCtr="0">
              <a:spAutoFit/>
            </a:bodyPr>
            <a:lstStyle/>
            <a:p>
              <a:pPr algn="l"/>
              <a:r>
                <a:rPr lang="en" sz="900" spc="112" dirty="0">
                  <a:solidFill>
                    <a:schemeClr val="accent5"/>
                  </a:solidFill>
                  <a:latin typeface="+mn-lt"/>
                  <a:ea typeface="+mn-ea"/>
                  <a:cs typeface="+mn-cs"/>
                </a:rPr>
                <a:t>NDJSON OVER TCP</a:t>
              </a:r>
            </a:p>
          </p:txBody>
        </p:sp>
        <p:grpSp>
          <p:nvGrpSpPr>
            <p:cNvPr id="33" name="Group 33"/>
            <p:cNvGrpSpPr/>
            <p:nvPr/>
          </p:nvGrpSpPr>
          <p:grpSpPr>
            <a:xfrm>
              <a:off x="4114800" y="2781300"/>
              <a:ext cx="3733800" cy="1866900"/>
              <a:chOff x="4114800" y="2781300"/>
              <a:chExt cx="3733800" cy="1866900"/>
            </a:xfrm>
          </p:grpSpPr>
          <p:sp>
            <p:nvSpPr>
              <p:cNvPr id="25" name="Rectangle 25"/>
              <p:cNvSpPr/>
              <p:nvPr/>
            </p:nvSpPr>
            <p:spPr>
              <a:xfrm>
                <a:off x="4114800" y="2781300"/>
                <a:ext cx="3733800" cy="495300"/>
              </a:xfrm>
              <a:prstGeom prst="roundRect">
                <a:avLst>
                  <a:gd name="adj" fmla="val 7692"/>
                </a:avLst>
              </a:prstGeom>
              <a:solidFill>
                <a:schemeClr val="lt2"/>
              </a:solidFill>
              <a:ln w="9525">
                <a:solidFill>
                  <a:schemeClr val="accent6"/>
                </a:solidFill>
              </a:ln>
            </p:spPr>
          </p:sp>
          <p:sp>
            <p:nvSpPr>
              <p:cNvPr id="26" name="TextBox 26"/>
              <p:cNvSpPr txBox="1"/>
              <p:nvPr/>
            </p:nvSpPr>
            <p:spPr>
              <a:xfrm>
                <a:off x="4262438" y="2988945"/>
                <a:ext cx="1318031" cy="176212"/>
              </a:xfrm>
              <a:prstGeom prst="rect">
                <a:avLst/>
              </a:prstGeom>
              <a:noFill/>
              <a:ln>
                <a:noFill/>
              </a:ln>
            </p:spPr>
            <p:txBody>
              <a:bodyPr wrap="none" lIns="0" tIns="0" rIns="0" bIns="0" anchor="t" anchorCtr="0">
                <a:spAutoFit/>
              </a:bodyPr>
              <a:lstStyle/>
              <a:p>
                <a:pPr algn="l"/>
                <a:r>
                  <a:rPr lang="en" sz="900" dirty="0">
                    <a:solidFill>
                      <a:schemeClr val="dk1"/>
                    </a:solidFill>
                    <a:latin typeface="Consolas"/>
                    <a:ea typeface="Consolas"/>
                    <a:cs typeface="Consolas"/>
                  </a:rPr>
                  <a:t>{"type":"hello", ...}</a:t>
                </a:r>
              </a:p>
            </p:txBody>
          </p:sp>
          <p:sp>
            <p:nvSpPr>
              <p:cNvPr id="27" name="Line 27"/>
              <p:cNvSpPr/>
              <p:nvPr/>
            </p:nvSpPr>
            <p:spPr>
              <a:xfrm>
                <a:off x="5981700" y="3314700"/>
                <a:ext cx="1" cy="114300"/>
              </a:xfrm>
              <a:prstGeom prst="line">
                <a:avLst/>
              </a:prstGeom>
              <a:noFill/>
              <a:ln w="14288">
                <a:solidFill>
                  <a:schemeClr val="accent2"/>
                </a:solidFill>
                <a:tailEnd type="triangle" w="lg" len="lg"/>
              </a:ln>
            </p:spPr>
          </p:sp>
          <p:sp>
            <p:nvSpPr>
              <p:cNvPr id="28" name="Rectangle 28"/>
              <p:cNvSpPr/>
              <p:nvPr/>
            </p:nvSpPr>
            <p:spPr>
              <a:xfrm>
                <a:off x="4114800" y="3467100"/>
                <a:ext cx="3733800" cy="495300"/>
              </a:xfrm>
              <a:prstGeom prst="roundRect">
                <a:avLst>
                  <a:gd name="adj" fmla="val 7692"/>
                </a:avLst>
              </a:prstGeom>
              <a:solidFill>
                <a:schemeClr val="lt2"/>
              </a:solidFill>
              <a:ln w="9525">
                <a:solidFill>
                  <a:schemeClr val="accent6"/>
                </a:solidFill>
              </a:ln>
            </p:spPr>
          </p:sp>
          <p:sp>
            <p:nvSpPr>
              <p:cNvPr id="29" name="TextBox 29"/>
              <p:cNvSpPr txBox="1"/>
              <p:nvPr/>
            </p:nvSpPr>
            <p:spPr>
              <a:xfrm>
                <a:off x="4262438" y="3674745"/>
                <a:ext cx="1178700" cy="176212"/>
              </a:xfrm>
              <a:prstGeom prst="rect">
                <a:avLst/>
              </a:prstGeom>
              <a:noFill/>
              <a:ln>
                <a:noFill/>
              </a:ln>
            </p:spPr>
            <p:txBody>
              <a:bodyPr wrap="none" lIns="0" tIns="0" rIns="0" bIns="0" anchor="t" anchorCtr="0">
                <a:spAutoFit/>
              </a:bodyPr>
              <a:lstStyle/>
              <a:p>
                <a:pPr algn="l"/>
                <a:r>
                  <a:rPr lang="en" sz="900" dirty="0">
                    <a:solidFill>
                      <a:schemeClr val="dk1"/>
                    </a:solidFill>
                    <a:latin typeface="Consolas"/>
                    <a:ea typeface="Consolas"/>
                    <a:cs typeface="Consolas"/>
                  </a:rPr>
                  <a:t>{"type":"hr", ...}</a:t>
                </a:r>
              </a:p>
            </p:txBody>
          </p:sp>
          <p:sp>
            <p:nvSpPr>
              <p:cNvPr id="30" name="Line 30"/>
              <p:cNvSpPr/>
              <p:nvPr/>
            </p:nvSpPr>
            <p:spPr>
              <a:xfrm>
                <a:off x="5981700" y="4000500"/>
                <a:ext cx="1" cy="114300"/>
              </a:xfrm>
              <a:prstGeom prst="line">
                <a:avLst/>
              </a:prstGeom>
              <a:noFill/>
              <a:ln w="14288">
                <a:solidFill>
                  <a:schemeClr val="accent2"/>
                </a:solidFill>
                <a:tailEnd type="triangle" w="lg" len="lg"/>
              </a:ln>
            </p:spPr>
          </p:sp>
          <p:sp>
            <p:nvSpPr>
              <p:cNvPr id="31" name="Rectangle 31"/>
              <p:cNvSpPr/>
              <p:nvPr/>
            </p:nvSpPr>
            <p:spPr>
              <a:xfrm>
                <a:off x="4114800" y="4152900"/>
                <a:ext cx="3733800" cy="495300"/>
              </a:xfrm>
              <a:prstGeom prst="roundRect">
                <a:avLst>
                  <a:gd name="adj" fmla="val 7692"/>
                </a:avLst>
              </a:prstGeom>
              <a:solidFill>
                <a:schemeClr val="lt2"/>
              </a:solidFill>
              <a:ln w="9525">
                <a:solidFill>
                  <a:schemeClr val="accent6"/>
                </a:solidFill>
              </a:ln>
            </p:spPr>
          </p:sp>
          <p:sp>
            <p:nvSpPr>
              <p:cNvPr id="32" name="TextBox 32"/>
              <p:cNvSpPr txBox="1"/>
              <p:nvPr/>
            </p:nvSpPr>
            <p:spPr>
              <a:xfrm>
                <a:off x="4262438" y="4360545"/>
                <a:ext cx="1348321" cy="176212"/>
              </a:xfrm>
              <a:prstGeom prst="rect">
                <a:avLst/>
              </a:prstGeom>
              <a:noFill/>
              <a:ln>
                <a:noFill/>
              </a:ln>
            </p:spPr>
            <p:txBody>
              <a:bodyPr wrap="none" lIns="0" tIns="0" rIns="0" bIns="0" anchor="t" anchorCtr="0">
                <a:spAutoFit/>
              </a:bodyPr>
              <a:lstStyle/>
              <a:p>
                <a:pPr algn="l"/>
                <a:r>
                  <a:rPr lang="en" sz="900" dirty="0">
                    <a:solidFill>
                      <a:schemeClr val="dk1"/>
                    </a:solidFill>
                    <a:latin typeface="Consolas"/>
                    <a:ea typeface="Consolas"/>
                    <a:cs typeface="Consolas"/>
                  </a:rPr>
                  <a:t>{"type":"accel", ...}</a:t>
                </a:r>
              </a:p>
            </p:txBody>
          </p:sp>
        </p:grpSp>
      </p:grpSp>
      <p:grpSp>
        <p:nvGrpSpPr>
          <p:cNvPr id="46" name="Group 46"/>
          <p:cNvGrpSpPr/>
          <p:nvPr/>
        </p:nvGrpSpPr>
        <p:grpSpPr>
          <a:xfrm>
            <a:off x="8071866" y="2484120"/>
            <a:ext cx="3510534" cy="2294191"/>
            <a:chOff x="8071866" y="2484120"/>
            <a:chExt cx="3510534" cy="2294191"/>
          </a:xfrm>
        </p:grpSpPr>
        <p:sp>
          <p:nvSpPr>
            <p:cNvPr id="35" name="TextBox 35"/>
            <p:cNvSpPr txBox="1"/>
            <p:nvPr/>
          </p:nvSpPr>
          <p:spPr>
            <a:xfrm>
              <a:off x="8072438" y="2484120"/>
              <a:ext cx="1368628" cy="176212"/>
            </a:xfrm>
            <a:prstGeom prst="rect">
              <a:avLst/>
            </a:prstGeom>
            <a:noFill/>
            <a:ln>
              <a:noFill/>
            </a:ln>
          </p:spPr>
          <p:txBody>
            <a:bodyPr wrap="none" lIns="0" tIns="0" rIns="0" bIns="0" anchor="t" anchorCtr="0">
              <a:spAutoFit/>
            </a:bodyPr>
            <a:lstStyle/>
            <a:p>
              <a:pPr algn="l"/>
              <a:r>
                <a:rPr lang="en" sz="900" spc="112" dirty="0">
                  <a:solidFill>
                    <a:schemeClr val="accent5"/>
                  </a:solidFill>
                  <a:latin typeface="+mn-lt"/>
                  <a:ea typeface="+mn-ea"/>
                  <a:cs typeface="+mn-cs"/>
                </a:rPr>
                <a:t>SUPPORTED EVENTS</a:t>
              </a:r>
            </a:p>
          </p:txBody>
        </p:sp>
        <p:grpSp>
          <p:nvGrpSpPr>
            <p:cNvPr id="45" name="Group 45"/>
            <p:cNvGrpSpPr/>
            <p:nvPr/>
          </p:nvGrpSpPr>
          <p:grpSpPr>
            <a:xfrm>
              <a:off x="8071866" y="2744152"/>
              <a:ext cx="3510534" cy="2034159"/>
              <a:chOff x="8071866" y="2744152"/>
              <a:chExt cx="3510534" cy="2034159"/>
            </a:xfrm>
          </p:grpSpPr>
          <p:sp>
            <p:nvSpPr>
              <p:cNvPr id="36" name="TextBox 36"/>
              <p:cNvSpPr txBox="1"/>
              <p:nvPr/>
            </p:nvSpPr>
            <p:spPr>
              <a:xfrm>
                <a:off x="8071866" y="2744152"/>
                <a:ext cx="2047889"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Consolas"/>
                    <a:ea typeface="Consolas"/>
                    <a:cs typeface="Consolas"/>
                  </a:rPr>
                  <a:t>hello</a:t>
                </a:r>
                <a:r>
                  <a:rPr lang="en" sz="1050" dirty="0">
                    <a:solidFill>
                      <a:schemeClr val="dk1"/>
                    </a:solidFill>
                    <a:latin typeface="+mn-lt"/>
                    <a:ea typeface="+mn-ea"/>
                    <a:cs typeface="+mn-cs"/>
                  </a:rPr>
                  <a:t xml:space="preserve"> — device and capabilities</a:t>
                </a:r>
              </a:p>
            </p:txBody>
          </p:sp>
          <p:sp>
            <p:nvSpPr>
              <p:cNvPr id="37" name="Line 37"/>
              <p:cNvSpPr/>
              <p:nvPr/>
            </p:nvSpPr>
            <p:spPr>
              <a:xfrm>
                <a:off x="8077200" y="299085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38" name="TextBox 38"/>
              <p:cNvSpPr txBox="1"/>
              <p:nvPr/>
            </p:nvSpPr>
            <p:spPr>
              <a:xfrm>
                <a:off x="8071866" y="3201352"/>
                <a:ext cx="1509695"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Consolas"/>
                    <a:ea typeface="Consolas"/>
                    <a:cs typeface="Consolas"/>
                  </a:rPr>
                  <a:t>hr</a:t>
                </a:r>
                <a:r>
                  <a:rPr lang="en" sz="1050" dirty="0">
                    <a:solidFill>
                      <a:schemeClr val="dk1"/>
                    </a:solidFill>
                    <a:latin typeface="+mn-lt"/>
                    <a:ea typeface="+mn-ea"/>
                    <a:cs typeface="+mn-cs"/>
                  </a:rPr>
                  <a:t xml:space="preserve"> — heart-rate value</a:t>
                </a:r>
              </a:p>
            </p:txBody>
          </p:sp>
          <p:sp>
            <p:nvSpPr>
              <p:cNvPr id="39" name="Line 39"/>
              <p:cNvSpPr/>
              <p:nvPr/>
            </p:nvSpPr>
            <p:spPr>
              <a:xfrm>
                <a:off x="8077200" y="344805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40" name="TextBox 40"/>
              <p:cNvSpPr txBox="1"/>
              <p:nvPr/>
            </p:nvSpPr>
            <p:spPr>
              <a:xfrm>
                <a:off x="8071866" y="3658552"/>
                <a:ext cx="2070859"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Consolas"/>
                    <a:ea typeface="Consolas"/>
                    <a:cs typeface="Consolas"/>
                  </a:rPr>
                  <a:t>accel</a:t>
                </a:r>
                <a:r>
                  <a:rPr lang="en" sz="1050" dirty="0">
                    <a:solidFill>
                      <a:schemeClr val="dk1"/>
                    </a:solidFill>
                    <a:latin typeface="+mn-lt"/>
                    <a:ea typeface="+mn-ea"/>
                    <a:cs typeface="+mn-cs"/>
                  </a:rPr>
                  <a:t xml:space="preserve"> — three-axis motion in g</a:t>
                </a:r>
              </a:p>
            </p:txBody>
          </p:sp>
          <p:sp>
            <p:nvSpPr>
              <p:cNvPr id="41" name="Line 41"/>
              <p:cNvSpPr/>
              <p:nvPr/>
            </p:nvSpPr>
            <p:spPr>
              <a:xfrm>
                <a:off x="8077200" y="390525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42" name="TextBox 42"/>
              <p:cNvSpPr txBox="1"/>
              <p:nvPr/>
            </p:nvSpPr>
            <p:spPr>
              <a:xfrm>
                <a:off x="8071866" y="4115752"/>
                <a:ext cx="2566647"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Consolas"/>
                    <a:ea typeface="Consolas"/>
                    <a:cs typeface="Consolas"/>
                  </a:rPr>
                  <a:t>ppg</a:t>
                </a:r>
                <a:r>
                  <a:rPr lang="en" sz="1050" dirty="0">
                    <a:solidFill>
                      <a:schemeClr val="dk1"/>
                    </a:solidFill>
                    <a:latin typeface="+mn-lt"/>
                    <a:ea typeface="+mn-ea"/>
                    <a:cs typeface="+mn-cs"/>
                  </a:rPr>
                  <a:t xml:space="preserve"> — infrared and red sample arrays</a:t>
                </a:r>
              </a:p>
            </p:txBody>
          </p:sp>
          <p:sp>
            <p:nvSpPr>
              <p:cNvPr id="43" name="Line 43"/>
              <p:cNvSpPr/>
              <p:nvPr/>
            </p:nvSpPr>
            <p:spPr>
              <a:xfrm>
                <a:off x="8077200" y="436245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44" name="TextBox 44"/>
              <p:cNvSpPr txBox="1"/>
              <p:nvPr/>
            </p:nvSpPr>
            <p:spPr>
              <a:xfrm>
                <a:off x="8071866" y="4572952"/>
                <a:ext cx="2477243"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Consolas"/>
                    <a:ea typeface="Consolas"/>
                    <a:cs typeface="Consolas"/>
                  </a:rPr>
                  <a:t>pulse_lost</a:t>
                </a:r>
                <a:r>
                  <a:rPr lang="en" sz="1050" dirty="0">
                    <a:solidFill>
                      <a:schemeClr val="dk1"/>
                    </a:solidFill>
                    <a:latin typeface="+mn-lt"/>
                    <a:ea typeface="+mn-ea"/>
                    <a:cs typeface="+mn-cs"/>
                  </a:rPr>
                  <a:t xml:space="preserve"> — loss-of-contact event</a:t>
                </a:r>
              </a:p>
            </p:txBody>
          </p:sp>
        </p:grpSp>
      </p:grpSp>
      <p:grpSp>
        <p:nvGrpSpPr>
          <p:cNvPr id="53" name="Group 53"/>
          <p:cNvGrpSpPr/>
          <p:nvPr/>
        </p:nvGrpSpPr>
        <p:grpSpPr>
          <a:xfrm>
            <a:off x="2281238" y="5122545"/>
            <a:ext cx="7624762" cy="592455"/>
            <a:chOff x="2281238" y="5122545"/>
            <a:chExt cx="7624762" cy="592455"/>
          </a:xfrm>
        </p:grpSpPr>
        <p:sp>
          <p:nvSpPr>
            <p:cNvPr id="47" name="TextBox 47"/>
            <p:cNvSpPr txBox="1"/>
            <p:nvPr/>
          </p:nvSpPr>
          <p:spPr>
            <a:xfrm>
              <a:off x="2281238" y="5122545"/>
              <a:ext cx="623575" cy="176212"/>
            </a:xfrm>
            <a:prstGeom prst="rect">
              <a:avLst/>
            </a:prstGeom>
            <a:noFill/>
            <a:ln>
              <a:noFill/>
            </a:ln>
          </p:spPr>
          <p:txBody>
            <a:bodyPr wrap="none" lIns="0" tIns="0" rIns="0" bIns="0" anchor="t" anchorCtr="0">
              <a:spAutoFit/>
            </a:bodyPr>
            <a:lstStyle/>
            <a:p>
              <a:pPr algn="l"/>
              <a:r>
                <a:rPr lang="en" sz="900" spc="112" dirty="0">
                  <a:solidFill>
                    <a:schemeClr val="accent5"/>
                  </a:solidFill>
                  <a:latin typeface="+mn-lt"/>
                  <a:ea typeface="+mn-ea"/>
                  <a:cs typeface="+mn-cs"/>
                </a:rPr>
                <a:t>EXAMPLE</a:t>
              </a:r>
            </a:p>
          </p:txBody>
        </p:sp>
        <p:sp>
          <p:nvSpPr>
            <p:cNvPr id="48" name="Rectangle 48"/>
            <p:cNvSpPr/>
            <p:nvPr/>
          </p:nvSpPr>
          <p:spPr>
            <a:xfrm>
              <a:off x="2286000" y="5295900"/>
              <a:ext cx="7620000" cy="419100"/>
            </a:xfrm>
            <a:prstGeom prst="roundRect">
              <a:avLst>
                <a:gd name="adj" fmla="val 9091"/>
              </a:avLst>
            </a:prstGeom>
            <a:solidFill>
              <a:schemeClr val="lt2"/>
            </a:solidFill>
            <a:ln w="14288">
              <a:solidFill>
                <a:schemeClr val="accent6"/>
              </a:solidFill>
            </a:ln>
          </p:spPr>
        </p:sp>
        <p:grpSp>
          <p:nvGrpSpPr>
            <p:cNvPr id="51" name="Group 51"/>
            <p:cNvGrpSpPr/>
            <p:nvPr/>
          </p:nvGrpSpPr>
          <p:grpSpPr>
            <a:xfrm>
              <a:off x="2444355" y="5433831"/>
              <a:ext cx="178590" cy="143057"/>
              <a:chOff x="2444355" y="5433831"/>
              <a:chExt cx="178590" cy="143057"/>
            </a:xfrm>
          </p:grpSpPr>
          <p:sp>
            <p:nvSpPr>
              <p:cNvPr id="49" name="Freeform 49"/>
              <p:cNvSpPr/>
              <p:nvPr/>
            </p:nvSpPr>
            <p:spPr>
              <a:xfrm>
                <a:off x="2450306" y="5475684"/>
                <a:ext cx="166688" cy="59531"/>
              </a:xfrm>
              <a:custGeom>
                <a:avLst/>
                <a:gdLst/>
                <a:ahLst/>
                <a:cxnLst/>
                <a:rect l="l" t="t" r="r" b="b"/>
                <a:pathLst>
                  <a:path w="166688" h="59531">
                    <a:moveTo>
                      <a:pt x="166688" y="29766"/>
                    </a:moveTo>
                    <a:lnTo>
                      <a:pt x="130969" y="59531"/>
                    </a:lnTo>
                    <a:lnTo>
                      <a:pt x="35719" y="59531"/>
                    </a:lnTo>
                    <a:lnTo>
                      <a:pt x="0" y="29766"/>
                    </a:lnTo>
                    <a:lnTo>
                      <a:pt x="35719" y="0"/>
                    </a:lnTo>
                    <a:lnTo>
                      <a:pt x="130969" y="0"/>
                    </a:lnTo>
                    <a:close/>
                  </a:path>
                </a:pathLst>
              </a:custGeom>
              <a:solidFill>
                <a:schemeClr val="accent1">
                  <a:alpha val="20000"/>
                </a:schemeClr>
              </a:solidFill>
              <a:ln>
                <a:noFill/>
              </a:ln>
            </p:spPr>
          </p:sp>
          <p:sp>
            <p:nvSpPr>
              <p:cNvPr id="50" name="Freeform 50"/>
              <p:cNvSpPr/>
              <p:nvPr/>
            </p:nvSpPr>
            <p:spPr>
              <a:xfrm>
                <a:off x="2444355" y="5433831"/>
                <a:ext cx="178590" cy="143057"/>
              </a:xfrm>
              <a:custGeom>
                <a:avLst/>
                <a:gdLst/>
                <a:ahLst/>
                <a:cxnLst/>
                <a:rect l="l" t="t" r="r" b="b"/>
                <a:pathLst>
                  <a:path w="178590" h="143057">
                    <a:moveTo>
                      <a:pt x="45480" y="46430"/>
                    </a:moveTo>
                    <a:lnTo>
                      <a:pt x="15253" y="71619"/>
                    </a:lnTo>
                    <a:lnTo>
                      <a:pt x="45480" y="96808"/>
                    </a:lnTo>
                    <a:cubicBezTo>
                      <a:pt x="47162" y="98155"/>
                      <a:pt x="47985" y="100305"/>
                      <a:pt x="47632" y="102431"/>
                    </a:cubicBezTo>
                    <a:cubicBezTo>
                      <a:pt x="47280" y="104556"/>
                      <a:pt x="45806" y="106325"/>
                      <a:pt x="43779" y="107056"/>
                    </a:cubicBezTo>
                    <a:cubicBezTo>
                      <a:pt x="41752" y="107787"/>
                      <a:pt x="39488" y="107365"/>
                      <a:pt x="37860" y="105954"/>
                    </a:cubicBezTo>
                    <a:lnTo>
                      <a:pt x="2141" y="76188"/>
                    </a:lnTo>
                    <a:cubicBezTo>
                      <a:pt x="784" y="75057"/>
                      <a:pt x="0" y="73382"/>
                      <a:pt x="0" y="71615"/>
                    </a:cubicBezTo>
                    <a:cubicBezTo>
                      <a:pt x="0" y="69849"/>
                      <a:pt x="784" y="68174"/>
                      <a:pt x="2141" y="67043"/>
                    </a:cubicBezTo>
                    <a:lnTo>
                      <a:pt x="37860" y="37277"/>
                    </a:lnTo>
                    <a:cubicBezTo>
                      <a:pt x="40388" y="35173"/>
                      <a:pt x="44142" y="35516"/>
                      <a:pt x="46247" y="38044"/>
                    </a:cubicBezTo>
                    <a:cubicBezTo>
                      <a:pt x="48351" y="40571"/>
                      <a:pt x="48008" y="44326"/>
                      <a:pt x="45480" y="46430"/>
                    </a:cubicBezTo>
                    <a:close/>
                    <a:moveTo>
                      <a:pt x="176449" y="67043"/>
                    </a:moveTo>
                    <a:lnTo>
                      <a:pt x="140730" y="37277"/>
                    </a:lnTo>
                    <a:cubicBezTo>
                      <a:pt x="138203" y="35173"/>
                      <a:pt x="134448" y="35516"/>
                      <a:pt x="132344" y="38044"/>
                    </a:cubicBezTo>
                    <a:cubicBezTo>
                      <a:pt x="130239" y="40571"/>
                      <a:pt x="130583" y="44326"/>
                      <a:pt x="133110" y="46430"/>
                    </a:cubicBezTo>
                    <a:lnTo>
                      <a:pt x="163337" y="71619"/>
                    </a:lnTo>
                    <a:lnTo>
                      <a:pt x="133110" y="96808"/>
                    </a:lnTo>
                    <a:cubicBezTo>
                      <a:pt x="131428" y="98155"/>
                      <a:pt x="130605" y="100305"/>
                      <a:pt x="130958" y="102431"/>
                    </a:cubicBezTo>
                    <a:cubicBezTo>
                      <a:pt x="131311" y="104556"/>
                      <a:pt x="132785" y="106325"/>
                      <a:pt x="134811" y="107056"/>
                    </a:cubicBezTo>
                    <a:cubicBezTo>
                      <a:pt x="136838" y="107787"/>
                      <a:pt x="139102" y="107365"/>
                      <a:pt x="140730" y="105954"/>
                    </a:cubicBezTo>
                    <a:lnTo>
                      <a:pt x="176449" y="76188"/>
                    </a:lnTo>
                    <a:cubicBezTo>
                      <a:pt x="177806" y="75057"/>
                      <a:pt x="178590" y="73382"/>
                      <a:pt x="178590" y="71615"/>
                    </a:cubicBezTo>
                    <a:cubicBezTo>
                      <a:pt x="178590" y="69849"/>
                      <a:pt x="177806" y="68174"/>
                      <a:pt x="176449" y="67043"/>
                    </a:cubicBezTo>
                    <a:close/>
                    <a:moveTo>
                      <a:pt x="115139" y="539"/>
                    </a:moveTo>
                    <a:cubicBezTo>
                      <a:pt x="113655" y="0"/>
                      <a:pt x="112018" y="73"/>
                      <a:pt x="110587" y="741"/>
                    </a:cubicBezTo>
                    <a:cubicBezTo>
                      <a:pt x="109157" y="1410"/>
                      <a:pt x="108050" y="2619"/>
                      <a:pt x="107512" y="4103"/>
                    </a:cubicBezTo>
                    <a:lnTo>
                      <a:pt x="59887" y="135072"/>
                    </a:lnTo>
                    <a:cubicBezTo>
                      <a:pt x="59346" y="136557"/>
                      <a:pt x="59417" y="138196"/>
                      <a:pt x="60086" y="139629"/>
                    </a:cubicBezTo>
                    <a:cubicBezTo>
                      <a:pt x="60754" y="141061"/>
                      <a:pt x="61965" y="142168"/>
                      <a:pt x="63451" y="142707"/>
                    </a:cubicBezTo>
                    <a:cubicBezTo>
                      <a:pt x="64103" y="142939"/>
                      <a:pt x="64790" y="143057"/>
                      <a:pt x="65483" y="143057"/>
                    </a:cubicBezTo>
                    <a:cubicBezTo>
                      <a:pt x="67987" y="143057"/>
                      <a:pt x="70224" y="141489"/>
                      <a:pt x="71079" y="139135"/>
                    </a:cubicBezTo>
                    <a:lnTo>
                      <a:pt x="118704" y="8166"/>
                    </a:lnTo>
                    <a:cubicBezTo>
                      <a:pt x="119242" y="6682"/>
                      <a:pt x="119170" y="5045"/>
                      <a:pt x="118501" y="3614"/>
                    </a:cubicBezTo>
                    <a:cubicBezTo>
                      <a:pt x="117833" y="2184"/>
                      <a:pt x="116623" y="1078"/>
                      <a:pt x="115139" y="539"/>
                    </a:cubicBezTo>
                    <a:close/>
                  </a:path>
                </a:pathLst>
              </a:custGeom>
              <a:solidFill>
                <a:schemeClr val="accent1"/>
              </a:solidFill>
              <a:ln>
                <a:noFill/>
              </a:ln>
            </p:spPr>
          </p:sp>
        </p:grpSp>
        <p:sp>
          <p:nvSpPr>
            <p:cNvPr id="52" name="TextBox 52"/>
            <p:cNvSpPr txBox="1"/>
            <p:nvPr/>
          </p:nvSpPr>
          <p:spPr>
            <a:xfrm>
              <a:off x="2738247" y="5457349"/>
              <a:ext cx="4185415" cy="190690"/>
            </a:xfrm>
            <a:prstGeom prst="rect">
              <a:avLst/>
            </a:prstGeom>
            <a:noFill/>
            <a:ln>
              <a:noFill/>
            </a:ln>
          </p:spPr>
          <p:txBody>
            <a:bodyPr wrap="none" lIns="0" tIns="0" rIns="0" bIns="0" anchor="t" anchorCtr="0">
              <a:spAutoFit/>
            </a:bodyPr>
            <a:lstStyle/>
            <a:p>
              <a:pPr algn="l"/>
              <a:r>
                <a:rPr lang="en" sz="980" dirty="0">
                  <a:solidFill>
                    <a:schemeClr val="accent1"/>
                  </a:solidFill>
                  <a:latin typeface="Consolas"/>
                  <a:ea typeface="Consolas"/>
                  <a:cs typeface="Consolas"/>
                </a:rPr>
                <a:t>{"type":"accel","ax":0.10,"ay":0.02,"az":0.99,"ts":123456}</a:t>
              </a:r>
            </a:p>
          </p:txBody>
        </p:sp>
      </p:grpSp>
      <p:grpSp>
        <p:nvGrpSpPr>
          <p:cNvPr id="56" name="Group 56"/>
          <p:cNvGrpSpPr/>
          <p:nvPr/>
        </p:nvGrpSpPr>
        <p:grpSpPr>
          <a:xfrm>
            <a:off x="1809577" y="5905500"/>
            <a:ext cx="8572846" cy="436245"/>
            <a:chOff x="1809577" y="5905500"/>
            <a:chExt cx="8572846" cy="436245"/>
          </a:xfrm>
        </p:grpSpPr>
        <p:sp>
          <p:nvSpPr>
            <p:cNvPr id="54" name="Line 54"/>
            <p:cNvSpPr/>
            <p:nvPr/>
          </p:nvSpPr>
          <p:spPr>
            <a:xfrm>
              <a:off x="3238500" y="5905500"/>
              <a:ext cx="5715000" cy="9525"/>
            </a:xfrm>
            <a:custGeom>
              <a:avLst/>
              <a:gdLst/>
              <a:ahLst/>
              <a:cxnLst/>
              <a:rect l="l" t="t" r="r" b="b"/>
              <a:pathLst>
                <a:path w="5715000" h="9525">
                  <a:moveTo>
                    <a:pt x="0" y="0"/>
                  </a:moveTo>
                  <a:lnTo>
                    <a:pt x="5715000" y="0"/>
                  </a:lnTo>
                </a:path>
              </a:pathLst>
            </a:custGeom>
            <a:noFill/>
            <a:ln w="9525">
              <a:solidFill>
                <a:schemeClr val="accent6"/>
              </a:solidFill>
            </a:ln>
          </p:spPr>
        </p:sp>
        <p:sp>
          <p:nvSpPr>
            <p:cNvPr id="55" name="TextBox 55"/>
            <p:cNvSpPr txBox="1"/>
            <p:nvPr/>
          </p:nvSpPr>
          <p:spPr>
            <a:xfrm>
              <a:off x="1809577" y="6048375"/>
              <a:ext cx="8572846" cy="293370"/>
            </a:xfrm>
            <a:prstGeom prst="rect">
              <a:avLst/>
            </a:prstGeom>
            <a:noFill/>
            <a:ln>
              <a:noFill/>
            </a:ln>
          </p:spPr>
          <p:txBody>
            <a:bodyPr wrap="none" lIns="0" tIns="0" rIns="0" bIns="0" anchor="t" anchorCtr="0">
              <a:spAutoFit/>
            </a:bodyPr>
            <a:lstStyle/>
            <a:p>
              <a:pPr algn="ctr"/>
              <a:r>
                <a:rPr lang="en" sz="1500" i="1" dirty="0">
                  <a:solidFill>
                    <a:schemeClr val="accent1"/>
                  </a:solidFill>
                  <a:latin typeface="+mj-lt"/>
                  <a:ea typeface="+mj-ea"/>
                  <a:cs typeface="+mj-cs"/>
                </a:rPr>
                <a:t>“A simple typed contract keeps the wearable and Jetson independently testable.”</a:t>
              </a:r>
            </a:p>
          </p:txBody>
        </p:sp>
      </p:grpSp>
      <p:sp>
        <p:nvSpPr>
          <p:cNvPr id="57" name="TextBox 57"/>
          <p:cNvSpPr txBox="1"/>
          <p:nvPr/>
        </p:nvSpPr>
        <p:spPr>
          <a:xfrm>
            <a:off x="11432327" y="6562249"/>
            <a:ext cx="155026" cy="190690"/>
          </a:xfrm>
          <a:prstGeom prst="rect">
            <a:avLst/>
          </a:prstGeom>
          <a:noFill/>
          <a:ln>
            <a:noFill/>
          </a:ln>
        </p:spPr>
        <p:txBody>
          <a:bodyPr wrap="none" lIns="0" tIns="0" rIns="0" bIns="0" anchor="t" anchorCtr="0">
            <a:spAutoFit/>
          </a:bodyPr>
          <a:lstStyle/>
          <a:p>
            <a:pPr algn="r"/>
            <a:r>
              <a:rPr lang="en" sz="980" dirty="0">
                <a:solidFill>
                  <a:schemeClr val="accent3"/>
                </a:solidFill>
                <a:latin typeface="+mn-lt"/>
                <a:ea typeface="+mn-ea"/>
                <a:cs typeface="+mn-cs"/>
              </a:rPr>
              <a:t>06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500"/>
                                        <p:tgtEl>
                                          <p:spTgt spid="34"/>
                                        </p:tgtEl>
                                      </p:cBhvr>
                                    </p:animEffect>
                                  </p:childTnLst>
                                </p:cTn>
                              </p:par>
                            </p:childTnLst>
                          </p:cTn>
                        </p:par>
                      </p:childTnLst>
                    </p:cTn>
                  </p:par>
                  <p:par>
                    <p:cTn id="12" fill="hold">
                      <p:stCondLst>
                        <p:cond delay="indefinite"/>
                      </p:stCondLst>
                      <p:childTnLst>
                        <p:par>
                          <p:cTn id="13" fill="hold">
                            <p:stCondLst>
                              <p:cond delay="0"/>
                            </p:stCondLst>
                            <p:childTnLst>
                              <p:par>
                                <p:cTn xmlns:p="http://schemas.openxmlformats.org/presentationml/2006/main" id="14" presetID="10" presetClass="entr" presetSubtype="0" fill="hold" grpId="0" nodeType="click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childTnLst>
                          </p:cTn>
                        </p:par>
                        <p:par>
                          <p:cTn id="17" fill="hold">
                            <p:stCondLst>
                              <p:cond delay="500"/>
                            </p:stCondLst>
                            <p:childTnLst>
                              <p:par>
                                <p:cTn xmlns:p="http://schemas.openxmlformats.org/presentationml/2006/main" id="18" presetID="22" presetClass="entr" presetSubtype="2" fill="hold" grpId="0" nodeType="afterEffect">
                                  <p:stCondLst>
                                    <p:cond delay="150"/>
                                  </p:stCondLst>
                                  <p:childTnLst>
                                    <p:set>
                                      <p:cBhvr>
                                        <p:cTn id="19" dur="1" fill="hold">
                                          <p:stCondLst>
                                            <p:cond delay="0"/>
                                          </p:stCondLst>
                                        </p:cTn>
                                        <p:tgtEl>
                                          <p:spTgt spid="53"/>
                                        </p:tgtEl>
                                        <p:attrNameLst>
                                          <p:attrName>style.visibility</p:attrName>
                                        </p:attrNameLst>
                                      </p:cBhvr>
                                      <p:to>
                                        <p:strVal val="visible"/>
                                      </p:to>
                                    </p:set>
                                    <p:animEffect transition="in" filter="wipe(right)">
                                      <p:cBhvr>
                                        <p:cTn id="20" dur="500"/>
                                        <p:tgtEl>
                                          <p:spTgt spid="53"/>
                                        </p:tgtEl>
                                      </p:cBhvr>
                                    </p:animEffect>
                                  </p:childTnLst>
                                </p:cTn>
                              </p:par>
                            </p:childTnLst>
                          </p:cTn>
                        </p:par>
                      </p:childTnLst>
                    </p:cTn>
                  </p:par>
                  <p:par>
                    <p:cTn id="21" fill="hold">
                      <p:stCondLst>
                        <p:cond delay="indefinite"/>
                      </p:stCondLst>
                      <p:childTnLst>
                        <p:par>
                          <p:cTn id="22" fill="hold">
                            <p:stCondLst>
                              <p:cond delay="0"/>
                            </p:stCondLst>
                            <p:childTnLst>
                              <p:par>
                                <p:cTn xmlns:p="http://schemas.openxmlformats.org/presentationml/2006/main" id="23" presetID="10" presetClass="entr" presetSubtype="0" fill="hold" grpId="0" nodeType="clickEffect">
                                  <p:stCondLst>
                                    <p:cond delay="0"/>
                                  </p:stCondLst>
                                  <p:childTnLst>
                                    <p:set>
                                      <p:cBhvr>
                                        <p:cTn id="24" dur="1" fill="hold">
                                          <p:stCondLst>
                                            <p:cond delay="0"/>
                                          </p:stCondLst>
                                        </p:cTn>
                                        <p:tgtEl>
                                          <p:spTgt spid="56"/>
                                        </p:tgtEl>
                                        <p:attrNameLst>
                                          <p:attrName>style.visibility</p:attrName>
                                        </p:attrNameLst>
                                      </p:cBhvr>
                                      <p:to>
                                        <p:strVal val="visible"/>
                                      </p:to>
                                    </p:set>
                                    <p:animEffect transition="in" filter="fade">
                                      <p:cBhvr>
                                        <p:cTn id="25"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5884" y="590074"/>
            <a:ext cx="10986516" cy="827627"/>
            <a:chOff x="595884" y="590074"/>
            <a:chExt cx="10986516" cy="827627"/>
          </a:xfrm>
        </p:grpSpPr>
        <p:sp>
          <p:nvSpPr>
            <p:cNvPr id="2" name="Rectangle 2"/>
            <p:cNvSpPr/>
            <p:nvPr/>
          </p:nvSpPr>
          <p:spPr>
            <a:xfrm>
              <a:off x="609600" y="590550"/>
              <a:ext cx="266700" cy="28575"/>
            </a:xfrm>
            <a:prstGeom prst="rect">
              <a:avLst/>
            </a:prstGeom>
            <a:solidFill>
              <a:schemeClr val="accent2"/>
            </a:solidFill>
            <a:ln>
              <a:noFill/>
            </a:ln>
          </p:spPr>
        </p:sp>
        <p:sp>
          <p:nvSpPr>
            <p:cNvPr id="3" name="TextBox 3"/>
            <p:cNvSpPr txBox="1"/>
            <p:nvPr/>
          </p:nvSpPr>
          <p:spPr>
            <a:xfrm>
              <a:off x="985647" y="590074"/>
              <a:ext cx="1394897" cy="190690"/>
            </a:xfrm>
            <a:prstGeom prst="rect">
              <a:avLst/>
            </a:prstGeom>
            <a:noFill/>
            <a:ln>
              <a:noFill/>
            </a:ln>
          </p:spPr>
          <p:txBody>
            <a:bodyPr wrap="none" lIns="0" tIns="0" rIns="0" bIns="0" anchor="t" anchorCtr="0">
              <a:spAutoFit/>
            </a:bodyPr>
            <a:lstStyle/>
            <a:p>
              <a:pPr algn="l"/>
              <a:r>
                <a:rPr lang="en" sz="980" spc="188" dirty="0">
                  <a:solidFill>
                    <a:schemeClr val="accent2"/>
                  </a:solidFill>
                  <a:latin typeface="+mn-lt"/>
                  <a:ea typeface="+mn-ea"/>
                  <a:cs typeface="+mn-cs"/>
                </a:rPr>
                <a:t>VISUAL PIPELINE</a:t>
              </a:r>
            </a:p>
          </p:txBody>
        </p:sp>
        <p:sp>
          <p:nvSpPr>
            <p:cNvPr id="4" name="TextBox 4"/>
            <p:cNvSpPr txBox="1"/>
            <p:nvPr/>
          </p:nvSpPr>
          <p:spPr>
            <a:xfrm>
              <a:off x="595884" y="889635"/>
              <a:ext cx="5865549" cy="528066"/>
            </a:xfrm>
            <a:prstGeom prst="rect">
              <a:avLst/>
            </a:prstGeom>
            <a:noFill/>
            <a:ln>
              <a:noFill/>
            </a:ln>
          </p:spPr>
          <p:txBody>
            <a:bodyPr wrap="none" lIns="0" tIns="0" rIns="0" bIns="0" anchor="t" anchorCtr="0">
              <a:spAutoFit/>
            </a:bodyPr>
            <a:lstStyle/>
            <a:p>
              <a:pPr algn="l"/>
              <a:r>
                <a:rPr lang="en" sz="2700" dirty="0">
                  <a:solidFill>
                    <a:schemeClr val="accent1"/>
                  </a:solidFill>
                  <a:latin typeface="+mj-lt"/>
                  <a:ea typeface="+mj-ea"/>
                  <a:cs typeface="+mj-cs"/>
                </a:rPr>
                <a:t>Visual Intelligence Across Time</a:t>
              </a:r>
            </a:p>
          </p:txBody>
        </p:sp>
        <p:sp>
          <p:nvSpPr>
            <p:cNvPr id="5" name="Line 5"/>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53" name="Group 53"/>
          <p:cNvGrpSpPr/>
          <p:nvPr/>
        </p:nvGrpSpPr>
        <p:grpSpPr>
          <a:xfrm>
            <a:off x="609600" y="1638300"/>
            <a:ext cx="10972800" cy="838200"/>
            <a:chOff x="609600" y="1638300"/>
            <a:chExt cx="10972800" cy="838200"/>
          </a:xfrm>
        </p:grpSpPr>
        <p:grpSp>
          <p:nvGrpSpPr>
            <p:cNvPr id="9" name="Group 9"/>
            <p:cNvGrpSpPr/>
            <p:nvPr/>
          </p:nvGrpSpPr>
          <p:grpSpPr>
            <a:xfrm>
              <a:off x="609600" y="1638300"/>
              <a:ext cx="2400300" cy="838200"/>
              <a:chOff x="609600" y="1638300"/>
              <a:chExt cx="2400300" cy="838200"/>
            </a:xfrm>
          </p:grpSpPr>
          <p:sp>
            <p:nvSpPr>
              <p:cNvPr id="7" name="Rectangle 7"/>
              <p:cNvSpPr/>
              <p:nvPr/>
            </p:nvSpPr>
            <p:spPr>
              <a:xfrm>
                <a:off x="609600" y="1638300"/>
                <a:ext cx="2400300" cy="838200"/>
              </a:xfrm>
              <a:prstGeom prst="roundRect">
                <a:avLst>
                  <a:gd name="adj" fmla="val 4545"/>
                </a:avLst>
              </a:prstGeom>
              <a:solidFill>
                <a:srgbClr val="FFFFFF"/>
              </a:solidFill>
              <a:ln w="14288">
                <a:solidFill>
                  <a:schemeClr val="accent1"/>
                </a:solidFill>
              </a:ln>
            </p:spPr>
          </p:sp>
          <p:sp>
            <p:nvSpPr>
              <p:cNvPr id="8" name="TextBox 8"/>
              <p:cNvSpPr txBox="1"/>
              <p:nvPr/>
            </p:nvSpPr>
            <p:spPr>
              <a:xfrm>
                <a:off x="1266979" y="2040731"/>
                <a:ext cx="1085542" cy="220028"/>
              </a:xfrm>
              <a:prstGeom prst="rect">
                <a:avLst/>
              </a:prstGeom>
              <a:noFill/>
              <a:ln>
                <a:noFill/>
              </a:ln>
            </p:spPr>
            <p:txBody>
              <a:bodyPr wrap="none" lIns="0" tIns="0" rIns="0" bIns="0" anchor="t" anchorCtr="0">
                <a:spAutoFit/>
              </a:bodyPr>
              <a:lstStyle/>
              <a:p>
                <a:pPr algn="ctr"/>
                <a:r>
                  <a:rPr lang="en" sz="1120" b="1" dirty="0">
                    <a:solidFill>
                      <a:schemeClr val="accent1"/>
                    </a:solidFill>
                    <a:latin typeface="+mn-lt"/>
                    <a:ea typeface="+mn-ea"/>
                    <a:cs typeface="+mn-cs"/>
                  </a:rPr>
                  <a:t>Camera frame</a:t>
                </a:r>
              </a:p>
            </p:txBody>
          </p:sp>
        </p:grpSp>
        <p:sp>
          <p:nvSpPr>
            <p:cNvPr id="10" name="Line 10"/>
            <p:cNvSpPr/>
            <p:nvPr/>
          </p:nvSpPr>
          <p:spPr>
            <a:xfrm>
              <a:off x="3028950" y="2057400"/>
              <a:ext cx="381000" cy="1"/>
            </a:xfrm>
            <a:prstGeom prst="line">
              <a:avLst/>
            </a:prstGeom>
            <a:noFill/>
            <a:ln w="14288">
              <a:solidFill>
                <a:schemeClr val="accent2"/>
              </a:solidFill>
              <a:tailEnd type="triangle" w="lg" len="lg"/>
            </a:ln>
          </p:spPr>
        </p:sp>
        <p:grpSp>
          <p:nvGrpSpPr>
            <p:cNvPr id="13" name="Group 13"/>
            <p:cNvGrpSpPr/>
            <p:nvPr/>
          </p:nvGrpSpPr>
          <p:grpSpPr>
            <a:xfrm>
              <a:off x="3467100" y="1638300"/>
              <a:ext cx="2400300" cy="838200"/>
              <a:chOff x="3467100" y="1638300"/>
              <a:chExt cx="2400300" cy="838200"/>
            </a:xfrm>
          </p:grpSpPr>
          <p:sp>
            <p:nvSpPr>
              <p:cNvPr id="11" name="Rectangle 11"/>
              <p:cNvSpPr/>
              <p:nvPr/>
            </p:nvSpPr>
            <p:spPr>
              <a:xfrm>
                <a:off x="3467100" y="1638300"/>
                <a:ext cx="2400300" cy="838200"/>
              </a:xfrm>
              <a:prstGeom prst="roundRect">
                <a:avLst>
                  <a:gd name="adj" fmla="val 4545"/>
                </a:avLst>
              </a:prstGeom>
              <a:solidFill>
                <a:srgbClr val="FFFFFF"/>
              </a:solidFill>
              <a:ln w="14288">
                <a:solidFill>
                  <a:schemeClr val="accent1"/>
                </a:solidFill>
              </a:ln>
            </p:spPr>
          </p:sp>
          <p:sp>
            <p:nvSpPr>
              <p:cNvPr id="12" name="TextBox 12"/>
              <p:cNvSpPr txBox="1"/>
              <p:nvPr/>
            </p:nvSpPr>
            <p:spPr>
              <a:xfrm>
                <a:off x="3633406" y="2040731"/>
                <a:ext cx="2067687" cy="220028"/>
              </a:xfrm>
              <a:prstGeom prst="rect">
                <a:avLst/>
              </a:prstGeom>
              <a:noFill/>
              <a:ln>
                <a:noFill/>
              </a:ln>
            </p:spPr>
            <p:txBody>
              <a:bodyPr wrap="none" lIns="0" tIns="0" rIns="0" bIns="0" anchor="t" anchorCtr="0">
                <a:spAutoFit/>
              </a:bodyPr>
              <a:lstStyle/>
              <a:p>
                <a:pPr algn="ctr"/>
                <a:r>
                  <a:rPr lang="en" sz="1120" b="1" dirty="0">
                    <a:solidFill>
                      <a:schemeClr val="accent1"/>
                    </a:solidFill>
                    <a:latin typeface="+mn-lt"/>
                    <a:ea typeface="+mn-ea"/>
                    <a:cs typeface="+mn-cs"/>
                  </a:rPr>
                  <a:t>YOLOv8 posture detection</a:t>
                </a:r>
              </a:p>
            </p:txBody>
          </p:sp>
        </p:grpSp>
        <p:sp>
          <p:nvSpPr>
            <p:cNvPr id="14" name="Line 14"/>
            <p:cNvSpPr/>
            <p:nvPr/>
          </p:nvSpPr>
          <p:spPr>
            <a:xfrm>
              <a:off x="5886450" y="2057400"/>
              <a:ext cx="381000" cy="1"/>
            </a:xfrm>
            <a:prstGeom prst="line">
              <a:avLst/>
            </a:prstGeom>
            <a:noFill/>
            <a:ln w="14288">
              <a:solidFill>
                <a:schemeClr val="accent2"/>
              </a:solidFill>
              <a:tailEnd type="triangle" w="lg" len="lg"/>
            </a:ln>
          </p:spPr>
        </p:sp>
        <p:grpSp>
          <p:nvGrpSpPr>
            <p:cNvPr id="17" name="Group 17"/>
            <p:cNvGrpSpPr/>
            <p:nvPr/>
          </p:nvGrpSpPr>
          <p:grpSpPr>
            <a:xfrm>
              <a:off x="6324600" y="1638300"/>
              <a:ext cx="2400300" cy="838200"/>
              <a:chOff x="6324600" y="1638300"/>
              <a:chExt cx="2400300" cy="838200"/>
            </a:xfrm>
          </p:grpSpPr>
          <p:sp>
            <p:nvSpPr>
              <p:cNvPr id="15" name="Rectangle 15"/>
              <p:cNvSpPr/>
              <p:nvPr/>
            </p:nvSpPr>
            <p:spPr>
              <a:xfrm>
                <a:off x="6324600" y="1638300"/>
                <a:ext cx="2400300" cy="838200"/>
              </a:xfrm>
              <a:prstGeom prst="roundRect">
                <a:avLst>
                  <a:gd name="adj" fmla="val 4545"/>
                </a:avLst>
              </a:prstGeom>
              <a:solidFill>
                <a:srgbClr val="FFFFFF"/>
              </a:solidFill>
              <a:ln w="14288">
                <a:solidFill>
                  <a:schemeClr val="accent1"/>
                </a:solidFill>
              </a:ln>
            </p:spPr>
          </p:sp>
          <p:sp>
            <p:nvSpPr>
              <p:cNvPr id="16" name="TextBox 16"/>
              <p:cNvSpPr txBox="1"/>
              <p:nvPr/>
            </p:nvSpPr>
            <p:spPr>
              <a:xfrm>
                <a:off x="6531000" y="2040731"/>
                <a:ext cx="1987500" cy="220028"/>
              </a:xfrm>
              <a:prstGeom prst="rect">
                <a:avLst/>
              </a:prstGeom>
              <a:noFill/>
              <a:ln>
                <a:noFill/>
              </a:ln>
            </p:spPr>
            <p:txBody>
              <a:bodyPr wrap="none" lIns="0" tIns="0" rIns="0" bIns="0" anchor="t" anchorCtr="0">
                <a:spAutoFit/>
              </a:bodyPr>
              <a:lstStyle/>
              <a:p>
                <a:pPr algn="ctr"/>
                <a:r>
                  <a:rPr lang="en" sz="1120" b="1" dirty="0">
                    <a:solidFill>
                      <a:schemeClr val="accent1"/>
                    </a:solidFill>
                    <a:latin typeface="+mn-lt"/>
                    <a:ea typeface="+mn-ea"/>
                    <a:cs typeface="+mn-cs"/>
                  </a:rPr>
                  <a:t>Seventeen pose keypoints</a:t>
                </a:r>
              </a:p>
            </p:txBody>
          </p:sp>
        </p:grpSp>
        <p:sp>
          <p:nvSpPr>
            <p:cNvPr id="18" name="Line 18"/>
            <p:cNvSpPr/>
            <p:nvPr/>
          </p:nvSpPr>
          <p:spPr>
            <a:xfrm>
              <a:off x="8743950" y="2057400"/>
              <a:ext cx="381000" cy="1"/>
            </a:xfrm>
            <a:prstGeom prst="line">
              <a:avLst/>
            </a:prstGeom>
            <a:noFill/>
            <a:ln w="14288">
              <a:solidFill>
                <a:schemeClr val="accent2"/>
              </a:solidFill>
              <a:tailEnd type="triangle" w="lg" len="lg"/>
            </a:ln>
          </p:spPr>
        </p:sp>
        <p:grpSp>
          <p:nvGrpSpPr>
            <p:cNvPr id="52" name="Group 52"/>
            <p:cNvGrpSpPr/>
            <p:nvPr/>
          </p:nvGrpSpPr>
          <p:grpSpPr>
            <a:xfrm>
              <a:off x="9182100" y="1638300"/>
              <a:ext cx="2400300" cy="838200"/>
              <a:chOff x="9182100" y="1638300"/>
              <a:chExt cx="2400300" cy="838200"/>
            </a:xfrm>
          </p:grpSpPr>
          <p:sp>
            <p:nvSpPr>
              <p:cNvPr id="19" name="Rectangle 19"/>
              <p:cNvSpPr/>
              <p:nvPr/>
            </p:nvSpPr>
            <p:spPr>
              <a:xfrm>
                <a:off x="9182100" y="1638300"/>
                <a:ext cx="2400300" cy="838200"/>
              </a:xfrm>
              <a:prstGeom prst="roundRect">
                <a:avLst>
                  <a:gd name="adj" fmla="val 4545"/>
                </a:avLst>
              </a:prstGeom>
              <a:solidFill>
                <a:srgbClr val="FFFFFF"/>
              </a:solidFill>
              <a:ln w="14288">
                <a:solidFill>
                  <a:schemeClr val="accent1"/>
                </a:solidFill>
              </a:ln>
            </p:spPr>
          </p:sp>
          <p:grpSp>
            <p:nvGrpSpPr>
              <p:cNvPr id="50" name="Group 50"/>
              <p:cNvGrpSpPr/>
              <p:nvPr/>
            </p:nvGrpSpPr>
            <p:grpSpPr>
              <a:xfrm>
                <a:off x="10153650" y="1733550"/>
                <a:ext cx="466725" cy="133350"/>
                <a:chOff x="10153650" y="1733550"/>
                <a:chExt cx="466725" cy="133350"/>
              </a:xfrm>
            </p:grpSpPr>
            <p:sp>
              <p:nvSpPr>
                <p:cNvPr id="20" name="Rectangle 20"/>
                <p:cNvSpPr/>
                <p:nvPr/>
              </p:nvSpPr>
              <p:spPr>
                <a:xfrm>
                  <a:off x="10153650" y="1733550"/>
                  <a:ext cx="38100" cy="38100"/>
                </a:xfrm>
                <a:prstGeom prst="rect">
                  <a:avLst/>
                </a:prstGeom>
                <a:solidFill>
                  <a:schemeClr val="accent2"/>
                </a:solidFill>
                <a:ln>
                  <a:noFill/>
                </a:ln>
              </p:spPr>
            </p:sp>
            <p:sp>
              <p:nvSpPr>
                <p:cNvPr id="21" name="Rectangle 21"/>
                <p:cNvSpPr/>
                <p:nvPr/>
              </p:nvSpPr>
              <p:spPr>
                <a:xfrm>
                  <a:off x="10201275" y="1733550"/>
                  <a:ext cx="38100" cy="38100"/>
                </a:xfrm>
                <a:prstGeom prst="rect">
                  <a:avLst/>
                </a:prstGeom>
                <a:solidFill>
                  <a:schemeClr val="accent2"/>
                </a:solidFill>
                <a:ln>
                  <a:noFill/>
                </a:ln>
              </p:spPr>
            </p:sp>
            <p:sp>
              <p:nvSpPr>
                <p:cNvPr id="22" name="Rectangle 22"/>
                <p:cNvSpPr/>
                <p:nvPr/>
              </p:nvSpPr>
              <p:spPr>
                <a:xfrm>
                  <a:off x="10248900" y="1733550"/>
                  <a:ext cx="38100" cy="38100"/>
                </a:xfrm>
                <a:prstGeom prst="rect">
                  <a:avLst/>
                </a:prstGeom>
                <a:solidFill>
                  <a:schemeClr val="accent2"/>
                </a:solidFill>
                <a:ln>
                  <a:noFill/>
                </a:ln>
              </p:spPr>
            </p:sp>
            <p:sp>
              <p:nvSpPr>
                <p:cNvPr id="23" name="Rectangle 23"/>
                <p:cNvSpPr/>
                <p:nvPr/>
              </p:nvSpPr>
              <p:spPr>
                <a:xfrm>
                  <a:off x="10296525" y="1733550"/>
                  <a:ext cx="38100" cy="38100"/>
                </a:xfrm>
                <a:prstGeom prst="rect">
                  <a:avLst/>
                </a:prstGeom>
                <a:solidFill>
                  <a:schemeClr val="accent2"/>
                </a:solidFill>
                <a:ln>
                  <a:noFill/>
                </a:ln>
              </p:spPr>
            </p:sp>
            <p:sp>
              <p:nvSpPr>
                <p:cNvPr id="24" name="Rectangle 24"/>
                <p:cNvSpPr/>
                <p:nvPr/>
              </p:nvSpPr>
              <p:spPr>
                <a:xfrm>
                  <a:off x="10344150" y="1733550"/>
                  <a:ext cx="38100" cy="38100"/>
                </a:xfrm>
                <a:prstGeom prst="rect">
                  <a:avLst/>
                </a:prstGeom>
                <a:solidFill>
                  <a:schemeClr val="accent2"/>
                </a:solidFill>
                <a:ln>
                  <a:noFill/>
                </a:ln>
              </p:spPr>
            </p:sp>
            <p:sp>
              <p:nvSpPr>
                <p:cNvPr id="25" name="Rectangle 25"/>
                <p:cNvSpPr/>
                <p:nvPr/>
              </p:nvSpPr>
              <p:spPr>
                <a:xfrm>
                  <a:off x="10391775" y="1733550"/>
                  <a:ext cx="38100" cy="38100"/>
                </a:xfrm>
                <a:prstGeom prst="rect">
                  <a:avLst/>
                </a:prstGeom>
                <a:solidFill>
                  <a:schemeClr val="accent2"/>
                </a:solidFill>
                <a:ln>
                  <a:noFill/>
                </a:ln>
              </p:spPr>
            </p:sp>
            <p:sp>
              <p:nvSpPr>
                <p:cNvPr id="26" name="Rectangle 26"/>
                <p:cNvSpPr/>
                <p:nvPr/>
              </p:nvSpPr>
              <p:spPr>
                <a:xfrm>
                  <a:off x="10439400" y="1733550"/>
                  <a:ext cx="38100" cy="38100"/>
                </a:xfrm>
                <a:prstGeom prst="rect">
                  <a:avLst/>
                </a:prstGeom>
                <a:solidFill>
                  <a:schemeClr val="accent2"/>
                </a:solidFill>
                <a:ln>
                  <a:noFill/>
                </a:ln>
              </p:spPr>
            </p:sp>
            <p:sp>
              <p:nvSpPr>
                <p:cNvPr id="27" name="Rectangle 27"/>
                <p:cNvSpPr/>
                <p:nvPr/>
              </p:nvSpPr>
              <p:spPr>
                <a:xfrm>
                  <a:off x="10487025" y="1733550"/>
                  <a:ext cx="38100" cy="38100"/>
                </a:xfrm>
                <a:prstGeom prst="rect">
                  <a:avLst/>
                </a:prstGeom>
                <a:solidFill>
                  <a:schemeClr val="accent2"/>
                </a:solidFill>
                <a:ln>
                  <a:noFill/>
                </a:ln>
              </p:spPr>
            </p:sp>
            <p:sp>
              <p:nvSpPr>
                <p:cNvPr id="28" name="Rectangle 28"/>
                <p:cNvSpPr/>
                <p:nvPr/>
              </p:nvSpPr>
              <p:spPr>
                <a:xfrm>
                  <a:off x="10534650" y="1733550"/>
                  <a:ext cx="38100" cy="38100"/>
                </a:xfrm>
                <a:prstGeom prst="rect">
                  <a:avLst/>
                </a:prstGeom>
                <a:solidFill>
                  <a:schemeClr val="accent2"/>
                </a:solidFill>
                <a:ln>
                  <a:noFill/>
                </a:ln>
              </p:spPr>
            </p:sp>
            <p:sp>
              <p:nvSpPr>
                <p:cNvPr id="29" name="Rectangle 29"/>
                <p:cNvSpPr/>
                <p:nvPr/>
              </p:nvSpPr>
              <p:spPr>
                <a:xfrm>
                  <a:off x="10582275" y="1733550"/>
                  <a:ext cx="38100" cy="38100"/>
                </a:xfrm>
                <a:prstGeom prst="rect">
                  <a:avLst/>
                </a:prstGeom>
                <a:solidFill>
                  <a:schemeClr val="accent2"/>
                </a:solidFill>
                <a:ln>
                  <a:noFill/>
                </a:ln>
              </p:spPr>
            </p:sp>
            <p:sp>
              <p:nvSpPr>
                <p:cNvPr id="30" name="Rectangle 30"/>
                <p:cNvSpPr/>
                <p:nvPr/>
              </p:nvSpPr>
              <p:spPr>
                <a:xfrm>
                  <a:off x="10153650" y="1781175"/>
                  <a:ext cx="38100" cy="38100"/>
                </a:xfrm>
                <a:prstGeom prst="rect">
                  <a:avLst/>
                </a:prstGeom>
                <a:solidFill>
                  <a:schemeClr val="accent2"/>
                </a:solidFill>
                <a:ln>
                  <a:noFill/>
                </a:ln>
              </p:spPr>
            </p:sp>
            <p:sp>
              <p:nvSpPr>
                <p:cNvPr id="31" name="Rectangle 31"/>
                <p:cNvSpPr/>
                <p:nvPr/>
              </p:nvSpPr>
              <p:spPr>
                <a:xfrm>
                  <a:off x="10201275" y="1781175"/>
                  <a:ext cx="38100" cy="38100"/>
                </a:xfrm>
                <a:prstGeom prst="rect">
                  <a:avLst/>
                </a:prstGeom>
                <a:solidFill>
                  <a:schemeClr val="accent2"/>
                </a:solidFill>
                <a:ln>
                  <a:noFill/>
                </a:ln>
              </p:spPr>
            </p:sp>
            <p:sp>
              <p:nvSpPr>
                <p:cNvPr id="32" name="Rectangle 32"/>
                <p:cNvSpPr/>
                <p:nvPr/>
              </p:nvSpPr>
              <p:spPr>
                <a:xfrm>
                  <a:off x="10248900" y="1781175"/>
                  <a:ext cx="38100" cy="38100"/>
                </a:xfrm>
                <a:prstGeom prst="rect">
                  <a:avLst/>
                </a:prstGeom>
                <a:solidFill>
                  <a:schemeClr val="accent2"/>
                </a:solidFill>
                <a:ln>
                  <a:noFill/>
                </a:ln>
              </p:spPr>
            </p:sp>
            <p:sp>
              <p:nvSpPr>
                <p:cNvPr id="33" name="Rectangle 33"/>
                <p:cNvSpPr/>
                <p:nvPr/>
              </p:nvSpPr>
              <p:spPr>
                <a:xfrm>
                  <a:off x="10296525" y="1781175"/>
                  <a:ext cx="38100" cy="38100"/>
                </a:xfrm>
                <a:prstGeom prst="rect">
                  <a:avLst/>
                </a:prstGeom>
                <a:solidFill>
                  <a:schemeClr val="accent2"/>
                </a:solidFill>
                <a:ln>
                  <a:noFill/>
                </a:ln>
              </p:spPr>
            </p:sp>
            <p:sp>
              <p:nvSpPr>
                <p:cNvPr id="34" name="Rectangle 34"/>
                <p:cNvSpPr/>
                <p:nvPr/>
              </p:nvSpPr>
              <p:spPr>
                <a:xfrm>
                  <a:off x="10344150" y="1781175"/>
                  <a:ext cx="38100" cy="38100"/>
                </a:xfrm>
                <a:prstGeom prst="rect">
                  <a:avLst/>
                </a:prstGeom>
                <a:solidFill>
                  <a:schemeClr val="accent2"/>
                </a:solidFill>
                <a:ln>
                  <a:noFill/>
                </a:ln>
              </p:spPr>
            </p:sp>
            <p:sp>
              <p:nvSpPr>
                <p:cNvPr id="35" name="Rectangle 35"/>
                <p:cNvSpPr/>
                <p:nvPr/>
              </p:nvSpPr>
              <p:spPr>
                <a:xfrm>
                  <a:off x="10391775" y="1781175"/>
                  <a:ext cx="38100" cy="38100"/>
                </a:xfrm>
                <a:prstGeom prst="rect">
                  <a:avLst/>
                </a:prstGeom>
                <a:solidFill>
                  <a:schemeClr val="accent2"/>
                </a:solidFill>
                <a:ln>
                  <a:noFill/>
                </a:ln>
              </p:spPr>
            </p:sp>
            <p:sp>
              <p:nvSpPr>
                <p:cNvPr id="36" name="Rectangle 36"/>
                <p:cNvSpPr/>
                <p:nvPr/>
              </p:nvSpPr>
              <p:spPr>
                <a:xfrm>
                  <a:off x="10439400" y="1781175"/>
                  <a:ext cx="38100" cy="38100"/>
                </a:xfrm>
                <a:prstGeom prst="rect">
                  <a:avLst/>
                </a:prstGeom>
                <a:solidFill>
                  <a:schemeClr val="accent2"/>
                </a:solidFill>
                <a:ln>
                  <a:noFill/>
                </a:ln>
              </p:spPr>
            </p:sp>
            <p:sp>
              <p:nvSpPr>
                <p:cNvPr id="37" name="Rectangle 37"/>
                <p:cNvSpPr/>
                <p:nvPr/>
              </p:nvSpPr>
              <p:spPr>
                <a:xfrm>
                  <a:off x="10487025" y="1781175"/>
                  <a:ext cx="38100" cy="38100"/>
                </a:xfrm>
                <a:prstGeom prst="rect">
                  <a:avLst/>
                </a:prstGeom>
                <a:solidFill>
                  <a:schemeClr val="accent2"/>
                </a:solidFill>
                <a:ln>
                  <a:noFill/>
                </a:ln>
              </p:spPr>
            </p:sp>
            <p:sp>
              <p:nvSpPr>
                <p:cNvPr id="38" name="Rectangle 38"/>
                <p:cNvSpPr/>
                <p:nvPr/>
              </p:nvSpPr>
              <p:spPr>
                <a:xfrm>
                  <a:off x="10534650" y="1781175"/>
                  <a:ext cx="38100" cy="38100"/>
                </a:xfrm>
                <a:prstGeom prst="rect">
                  <a:avLst/>
                </a:prstGeom>
                <a:solidFill>
                  <a:schemeClr val="accent2"/>
                </a:solidFill>
                <a:ln>
                  <a:noFill/>
                </a:ln>
              </p:spPr>
            </p:sp>
            <p:sp>
              <p:nvSpPr>
                <p:cNvPr id="39" name="Rectangle 39"/>
                <p:cNvSpPr/>
                <p:nvPr/>
              </p:nvSpPr>
              <p:spPr>
                <a:xfrm>
                  <a:off x="10582275" y="1781175"/>
                  <a:ext cx="38100" cy="38100"/>
                </a:xfrm>
                <a:prstGeom prst="rect">
                  <a:avLst/>
                </a:prstGeom>
                <a:solidFill>
                  <a:schemeClr val="accent2"/>
                </a:solidFill>
                <a:ln>
                  <a:noFill/>
                </a:ln>
              </p:spPr>
            </p:sp>
            <p:sp>
              <p:nvSpPr>
                <p:cNvPr id="40" name="Rectangle 40"/>
                <p:cNvSpPr/>
                <p:nvPr/>
              </p:nvSpPr>
              <p:spPr>
                <a:xfrm>
                  <a:off x="10153650" y="1828800"/>
                  <a:ext cx="38100" cy="38100"/>
                </a:xfrm>
                <a:prstGeom prst="rect">
                  <a:avLst/>
                </a:prstGeom>
                <a:solidFill>
                  <a:schemeClr val="accent2"/>
                </a:solidFill>
                <a:ln>
                  <a:noFill/>
                </a:ln>
              </p:spPr>
            </p:sp>
            <p:sp>
              <p:nvSpPr>
                <p:cNvPr id="41" name="Rectangle 41"/>
                <p:cNvSpPr/>
                <p:nvPr/>
              </p:nvSpPr>
              <p:spPr>
                <a:xfrm>
                  <a:off x="10201275" y="1828800"/>
                  <a:ext cx="38100" cy="38100"/>
                </a:xfrm>
                <a:prstGeom prst="rect">
                  <a:avLst/>
                </a:prstGeom>
                <a:solidFill>
                  <a:schemeClr val="accent2"/>
                </a:solidFill>
                <a:ln>
                  <a:noFill/>
                </a:ln>
              </p:spPr>
            </p:sp>
            <p:sp>
              <p:nvSpPr>
                <p:cNvPr id="42" name="Rectangle 42"/>
                <p:cNvSpPr/>
                <p:nvPr/>
              </p:nvSpPr>
              <p:spPr>
                <a:xfrm>
                  <a:off x="10248900" y="1828800"/>
                  <a:ext cx="38100" cy="38100"/>
                </a:xfrm>
                <a:prstGeom prst="rect">
                  <a:avLst/>
                </a:prstGeom>
                <a:solidFill>
                  <a:schemeClr val="accent2"/>
                </a:solidFill>
                <a:ln>
                  <a:noFill/>
                </a:ln>
              </p:spPr>
            </p:sp>
            <p:sp>
              <p:nvSpPr>
                <p:cNvPr id="43" name="Rectangle 43"/>
                <p:cNvSpPr/>
                <p:nvPr/>
              </p:nvSpPr>
              <p:spPr>
                <a:xfrm>
                  <a:off x="10296525" y="1828800"/>
                  <a:ext cx="38100" cy="38100"/>
                </a:xfrm>
                <a:prstGeom prst="rect">
                  <a:avLst/>
                </a:prstGeom>
                <a:solidFill>
                  <a:schemeClr val="accent2"/>
                </a:solidFill>
                <a:ln>
                  <a:noFill/>
                </a:ln>
              </p:spPr>
            </p:sp>
            <p:sp>
              <p:nvSpPr>
                <p:cNvPr id="44" name="Rectangle 44"/>
                <p:cNvSpPr/>
                <p:nvPr/>
              </p:nvSpPr>
              <p:spPr>
                <a:xfrm>
                  <a:off x="10344150" y="1828800"/>
                  <a:ext cx="38100" cy="38100"/>
                </a:xfrm>
                <a:prstGeom prst="rect">
                  <a:avLst/>
                </a:prstGeom>
                <a:solidFill>
                  <a:schemeClr val="accent2"/>
                </a:solidFill>
                <a:ln>
                  <a:noFill/>
                </a:ln>
              </p:spPr>
            </p:sp>
            <p:sp>
              <p:nvSpPr>
                <p:cNvPr id="45" name="Rectangle 45"/>
                <p:cNvSpPr/>
                <p:nvPr/>
              </p:nvSpPr>
              <p:spPr>
                <a:xfrm>
                  <a:off x="10391775" y="1828800"/>
                  <a:ext cx="38100" cy="38100"/>
                </a:xfrm>
                <a:prstGeom prst="rect">
                  <a:avLst/>
                </a:prstGeom>
                <a:solidFill>
                  <a:schemeClr val="accent2"/>
                </a:solidFill>
                <a:ln>
                  <a:noFill/>
                </a:ln>
              </p:spPr>
            </p:sp>
            <p:sp>
              <p:nvSpPr>
                <p:cNvPr id="46" name="Rectangle 46"/>
                <p:cNvSpPr/>
                <p:nvPr/>
              </p:nvSpPr>
              <p:spPr>
                <a:xfrm>
                  <a:off x="10439400" y="1828800"/>
                  <a:ext cx="38100" cy="38100"/>
                </a:xfrm>
                <a:prstGeom prst="rect">
                  <a:avLst/>
                </a:prstGeom>
                <a:solidFill>
                  <a:schemeClr val="accent2"/>
                </a:solidFill>
                <a:ln>
                  <a:noFill/>
                </a:ln>
              </p:spPr>
            </p:sp>
            <p:sp>
              <p:nvSpPr>
                <p:cNvPr id="47" name="Rectangle 47"/>
                <p:cNvSpPr/>
                <p:nvPr/>
              </p:nvSpPr>
              <p:spPr>
                <a:xfrm>
                  <a:off x="10487025" y="1828800"/>
                  <a:ext cx="38100" cy="38100"/>
                </a:xfrm>
                <a:prstGeom prst="rect">
                  <a:avLst/>
                </a:prstGeom>
                <a:solidFill>
                  <a:schemeClr val="accent2"/>
                </a:solidFill>
                <a:ln>
                  <a:noFill/>
                </a:ln>
              </p:spPr>
            </p:sp>
            <p:sp>
              <p:nvSpPr>
                <p:cNvPr id="48" name="Rectangle 48"/>
                <p:cNvSpPr/>
                <p:nvPr/>
              </p:nvSpPr>
              <p:spPr>
                <a:xfrm>
                  <a:off x="10534650" y="1828800"/>
                  <a:ext cx="38100" cy="38100"/>
                </a:xfrm>
                <a:prstGeom prst="rect">
                  <a:avLst/>
                </a:prstGeom>
                <a:solidFill>
                  <a:schemeClr val="accent2"/>
                </a:solidFill>
                <a:ln>
                  <a:noFill/>
                </a:ln>
              </p:spPr>
            </p:sp>
            <p:sp>
              <p:nvSpPr>
                <p:cNvPr id="49" name="Rectangle 49"/>
                <p:cNvSpPr/>
                <p:nvPr/>
              </p:nvSpPr>
              <p:spPr>
                <a:xfrm>
                  <a:off x="10582275" y="1828800"/>
                  <a:ext cx="38100" cy="38100"/>
                </a:xfrm>
                <a:prstGeom prst="rect">
                  <a:avLst/>
                </a:prstGeom>
                <a:solidFill>
                  <a:schemeClr val="accent2"/>
                </a:solidFill>
                <a:ln>
                  <a:noFill/>
                </a:ln>
              </p:spPr>
            </p:sp>
          </p:grpSp>
          <p:sp>
            <p:nvSpPr>
              <p:cNvPr id="51" name="TextBox 51"/>
              <p:cNvSpPr txBox="1"/>
              <p:nvPr/>
            </p:nvSpPr>
            <p:spPr>
              <a:xfrm>
                <a:off x="9224732" y="2050256"/>
                <a:ext cx="2315035" cy="220028"/>
              </a:xfrm>
              <a:prstGeom prst="rect">
                <a:avLst/>
              </a:prstGeom>
              <a:noFill/>
              <a:ln>
                <a:noFill/>
              </a:ln>
            </p:spPr>
            <p:txBody>
              <a:bodyPr wrap="none" lIns="0" tIns="0" rIns="0" bIns="0" anchor="t" anchorCtr="0">
                <a:spAutoFit/>
              </a:bodyPr>
              <a:lstStyle/>
              <a:p>
                <a:pPr algn="ctr"/>
                <a:r>
                  <a:rPr lang="en" sz="1120" b="1" dirty="0">
                    <a:solidFill>
                      <a:schemeClr val="accent1"/>
                    </a:solidFill>
                    <a:latin typeface="+mn-lt"/>
                    <a:ea typeface="+mn-ea"/>
                    <a:cs typeface="+mn-cs"/>
                  </a:rPr>
                  <a:t>TSSTG temporal classification</a:t>
                </a:r>
              </a:p>
            </p:txBody>
          </p:sp>
        </p:grpSp>
      </p:grpSp>
      <p:grpSp>
        <p:nvGrpSpPr>
          <p:cNvPr id="63" name="Group 63"/>
          <p:cNvGrpSpPr/>
          <p:nvPr/>
        </p:nvGrpSpPr>
        <p:grpSpPr>
          <a:xfrm>
            <a:off x="2705100" y="2665095"/>
            <a:ext cx="6781800" cy="516255"/>
            <a:chOff x="2705100" y="2665095"/>
            <a:chExt cx="6781800" cy="516255"/>
          </a:xfrm>
        </p:grpSpPr>
        <p:sp>
          <p:nvSpPr>
            <p:cNvPr id="54" name="TextBox 54"/>
            <p:cNvSpPr txBox="1"/>
            <p:nvPr/>
          </p:nvSpPr>
          <p:spPr>
            <a:xfrm>
              <a:off x="5242207" y="2665095"/>
              <a:ext cx="1707586" cy="176212"/>
            </a:xfrm>
            <a:prstGeom prst="rect">
              <a:avLst/>
            </a:prstGeom>
            <a:noFill/>
            <a:ln>
              <a:noFill/>
            </a:ln>
          </p:spPr>
          <p:txBody>
            <a:bodyPr wrap="none" lIns="0" tIns="0" rIns="0" bIns="0" anchor="t" anchorCtr="0">
              <a:spAutoFit/>
            </a:bodyPr>
            <a:lstStyle/>
            <a:p>
              <a:pPr algn="ctr"/>
              <a:r>
                <a:rPr lang="en" sz="900" spc="112" dirty="0">
                  <a:solidFill>
                    <a:schemeClr val="accent5"/>
                  </a:solidFill>
                  <a:latin typeface="+mn-lt"/>
                  <a:ea typeface="+mn-ea"/>
                  <a:cs typeface="+mn-cs"/>
                </a:rPr>
                <a:t>FOUR POSTURE CLASSES</a:t>
              </a:r>
            </a:p>
          </p:txBody>
        </p:sp>
        <p:sp>
          <p:nvSpPr>
            <p:cNvPr id="55" name="Rectangle 55"/>
            <p:cNvSpPr/>
            <p:nvPr/>
          </p:nvSpPr>
          <p:spPr>
            <a:xfrm>
              <a:off x="2705100" y="2838450"/>
              <a:ext cx="1524000" cy="342900"/>
            </a:xfrm>
            <a:prstGeom prst="roundRect">
              <a:avLst>
                <a:gd name="adj" fmla="val 47222"/>
              </a:avLst>
            </a:prstGeom>
            <a:solidFill>
              <a:schemeClr val="lt2"/>
            </a:solidFill>
            <a:ln>
              <a:noFill/>
            </a:ln>
          </p:spPr>
        </p:sp>
        <p:sp>
          <p:nvSpPr>
            <p:cNvPr id="56" name="TextBox 56"/>
            <p:cNvSpPr txBox="1"/>
            <p:nvPr/>
          </p:nvSpPr>
          <p:spPr>
            <a:xfrm>
              <a:off x="3239747" y="2936081"/>
              <a:ext cx="454707" cy="220028"/>
            </a:xfrm>
            <a:prstGeom prst="rect">
              <a:avLst/>
            </a:prstGeom>
            <a:noFill/>
            <a:ln>
              <a:noFill/>
            </a:ln>
          </p:spPr>
          <p:txBody>
            <a:bodyPr wrap="none" lIns="0" tIns="0" rIns="0" bIns="0" anchor="t" anchorCtr="0">
              <a:spAutoFit/>
            </a:bodyPr>
            <a:lstStyle/>
            <a:p>
              <a:pPr algn="ctr"/>
              <a:r>
                <a:rPr lang="en" sz="1120" b="1" dirty="0">
                  <a:solidFill>
                    <a:schemeClr val="accent1"/>
                  </a:solidFill>
                  <a:latin typeface="+mn-lt"/>
                  <a:ea typeface="+mn-ea"/>
                  <a:cs typeface="+mn-cs"/>
                </a:rPr>
                <a:t>fallen</a:t>
              </a:r>
            </a:p>
          </p:txBody>
        </p:sp>
        <p:sp>
          <p:nvSpPr>
            <p:cNvPr id="57" name="Rectangle 57"/>
            <p:cNvSpPr/>
            <p:nvPr/>
          </p:nvSpPr>
          <p:spPr>
            <a:xfrm>
              <a:off x="4457700" y="2838450"/>
              <a:ext cx="1524000" cy="342900"/>
            </a:xfrm>
            <a:prstGeom prst="roundRect">
              <a:avLst>
                <a:gd name="adj" fmla="val 47222"/>
              </a:avLst>
            </a:prstGeom>
            <a:solidFill>
              <a:schemeClr val="lt2"/>
            </a:solidFill>
            <a:ln>
              <a:noFill/>
            </a:ln>
          </p:spPr>
        </p:sp>
        <p:sp>
          <p:nvSpPr>
            <p:cNvPr id="58" name="TextBox 58"/>
            <p:cNvSpPr txBox="1"/>
            <p:nvPr/>
          </p:nvSpPr>
          <p:spPr>
            <a:xfrm>
              <a:off x="4968600" y="2936081"/>
              <a:ext cx="502201" cy="220028"/>
            </a:xfrm>
            <a:prstGeom prst="rect">
              <a:avLst/>
            </a:prstGeom>
            <a:noFill/>
            <a:ln>
              <a:noFill/>
            </a:ln>
          </p:spPr>
          <p:txBody>
            <a:bodyPr wrap="none" lIns="0" tIns="0" rIns="0" bIns="0" anchor="t" anchorCtr="0">
              <a:spAutoFit/>
            </a:bodyPr>
            <a:lstStyle/>
            <a:p>
              <a:pPr algn="ctr"/>
              <a:r>
                <a:rPr lang="en" sz="1120" b="1" dirty="0">
                  <a:solidFill>
                    <a:schemeClr val="accent1"/>
                  </a:solidFill>
                  <a:latin typeface="+mn-lt"/>
                  <a:ea typeface="+mn-ea"/>
                  <a:cs typeface="+mn-cs"/>
                </a:rPr>
                <a:t>falling</a:t>
              </a:r>
            </a:p>
          </p:txBody>
        </p:sp>
        <p:sp>
          <p:nvSpPr>
            <p:cNvPr id="59" name="Rectangle 59"/>
            <p:cNvSpPr/>
            <p:nvPr/>
          </p:nvSpPr>
          <p:spPr>
            <a:xfrm>
              <a:off x="6210300" y="2838450"/>
              <a:ext cx="1524000" cy="342900"/>
            </a:xfrm>
            <a:prstGeom prst="roundRect">
              <a:avLst>
                <a:gd name="adj" fmla="val 47222"/>
              </a:avLst>
            </a:prstGeom>
            <a:solidFill>
              <a:schemeClr val="lt2"/>
            </a:solidFill>
            <a:ln>
              <a:noFill/>
            </a:ln>
          </p:spPr>
        </p:sp>
        <p:sp>
          <p:nvSpPr>
            <p:cNvPr id="60" name="TextBox 60"/>
            <p:cNvSpPr txBox="1"/>
            <p:nvPr/>
          </p:nvSpPr>
          <p:spPr>
            <a:xfrm>
              <a:off x="6748904" y="2936081"/>
              <a:ext cx="446791" cy="220028"/>
            </a:xfrm>
            <a:prstGeom prst="rect">
              <a:avLst/>
            </a:prstGeom>
            <a:noFill/>
            <a:ln>
              <a:noFill/>
            </a:ln>
          </p:spPr>
          <p:txBody>
            <a:bodyPr wrap="none" lIns="0" tIns="0" rIns="0" bIns="0" anchor="t" anchorCtr="0">
              <a:spAutoFit/>
            </a:bodyPr>
            <a:lstStyle/>
            <a:p>
              <a:pPr algn="ctr"/>
              <a:r>
                <a:rPr lang="en" sz="1120" b="1" dirty="0">
                  <a:solidFill>
                    <a:schemeClr val="accent1"/>
                  </a:solidFill>
                  <a:latin typeface="+mn-lt"/>
                  <a:ea typeface="+mn-ea"/>
                  <a:cs typeface="+mn-cs"/>
                </a:rPr>
                <a:t>stand</a:t>
              </a:r>
            </a:p>
          </p:txBody>
        </p:sp>
        <p:sp>
          <p:nvSpPr>
            <p:cNvPr id="61" name="Rectangle 61"/>
            <p:cNvSpPr/>
            <p:nvPr/>
          </p:nvSpPr>
          <p:spPr>
            <a:xfrm>
              <a:off x="7962900" y="2838450"/>
              <a:ext cx="1524000" cy="342900"/>
            </a:xfrm>
            <a:prstGeom prst="roundRect">
              <a:avLst>
                <a:gd name="adj" fmla="val 47222"/>
              </a:avLst>
            </a:prstGeom>
            <a:solidFill>
              <a:schemeClr val="lt2"/>
            </a:solidFill>
            <a:ln>
              <a:noFill/>
            </a:ln>
          </p:spPr>
        </p:sp>
        <p:sp>
          <p:nvSpPr>
            <p:cNvPr id="62" name="TextBox 62"/>
            <p:cNvSpPr txBox="1"/>
            <p:nvPr/>
          </p:nvSpPr>
          <p:spPr>
            <a:xfrm>
              <a:off x="8454011" y="2936081"/>
              <a:ext cx="541779" cy="220028"/>
            </a:xfrm>
            <a:prstGeom prst="rect">
              <a:avLst/>
            </a:prstGeom>
            <a:noFill/>
            <a:ln>
              <a:noFill/>
            </a:ln>
          </p:spPr>
          <p:txBody>
            <a:bodyPr wrap="none" lIns="0" tIns="0" rIns="0" bIns="0" anchor="t" anchorCtr="0">
              <a:spAutoFit/>
            </a:bodyPr>
            <a:lstStyle/>
            <a:p>
              <a:pPr algn="ctr"/>
              <a:r>
                <a:rPr lang="en" sz="1120" b="1" dirty="0">
                  <a:solidFill>
                    <a:schemeClr val="accent1"/>
                  </a:solidFill>
                  <a:latin typeface="+mn-lt"/>
                  <a:ea typeface="+mn-ea"/>
                  <a:cs typeface="+mn-cs"/>
                </a:rPr>
                <a:t>sitting</a:t>
              </a:r>
            </a:p>
          </p:txBody>
        </p:sp>
      </p:grpSp>
      <p:grpSp>
        <p:nvGrpSpPr>
          <p:cNvPr id="74" name="Group 74"/>
          <p:cNvGrpSpPr/>
          <p:nvPr/>
        </p:nvGrpSpPr>
        <p:grpSpPr>
          <a:xfrm>
            <a:off x="604838" y="3674745"/>
            <a:ext cx="3840880" cy="1568006"/>
            <a:chOff x="604838" y="3674745"/>
            <a:chExt cx="3840880" cy="1568006"/>
          </a:xfrm>
        </p:grpSpPr>
        <p:sp>
          <p:nvSpPr>
            <p:cNvPr id="64" name="TextBox 64"/>
            <p:cNvSpPr txBox="1"/>
            <p:nvPr/>
          </p:nvSpPr>
          <p:spPr>
            <a:xfrm>
              <a:off x="604838" y="3674745"/>
              <a:ext cx="2471842" cy="176212"/>
            </a:xfrm>
            <a:prstGeom prst="rect">
              <a:avLst/>
            </a:prstGeom>
            <a:noFill/>
            <a:ln>
              <a:noFill/>
            </a:ln>
          </p:spPr>
          <p:txBody>
            <a:bodyPr wrap="none" lIns="0" tIns="0" rIns="0" bIns="0" anchor="t" anchorCtr="0">
              <a:spAutoFit/>
            </a:bodyPr>
            <a:lstStyle/>
            <a:p>
              <a:pPr algn="l"/>
              <a:r>
                <a:rPr lang="en" sz="900" spc="112" dirty="0">
                  <a:solidFill>
                    <a:schemeClr val="accent5"/>
                  </a:solidFill>
                  <a:latin typeface="+mn-lt"/>
                  <a:ea typeface="+mn-ea"/>
                  <a:cs typeface="+mn-cs"/>
                </a:rPr>
                <a:t>WHY TEMPORAL ANALYSIS MATTERS</a:t>
              </a:r>
            </a:p>
          </p:txBody>
        </p:sp>
        <p:grpSp>
          <p:nvGrpSpPr>
            <p:cNvPr id="73" name="Group 73"/>
            <p:cNvGrpSpPr/>
            <p:nvPr/>
          </p:nvGrpSpPr>
          <p:grpSpPr>
            <a:xfrm>
              <a:off x="609600" y="3950018"/>
              <a:ext cx="3836118" cy="1292733"/>
              <a:chOff x="609600" y="3950018"/>
              <a:chExt cx="3836118" cy="1292733"/>
            </a:xfrm>
          </p:grpSpPr>
          <p:sp>
            <p:nvSpPr>
              <p:cNvPr id="65" name="Rectangle 65"/>
              <p:cNvSpPr/>
              <p:nvPr/>
            </p:nvSpPr>
            <p:spPr>
              <a:xfrm>
                <a:off x="609600" y="4019550"/>
                <a:ext cx="38100" cy="38100"/>
              </a:xfrm>
              <a:prstGeom prst="rect">
                <a:avLst/>
              </a:prstGeom>
              <a:solidFill>
                <a:schemeClr val="accent2"/>
              </a:solidFill>
              <a:ln>
                <a:noFill/>
              </a:ln>
            </p:spPr>
          </p:sp>
          <p:sp>
            <p:nvSpPr>
              <p:cNvPr id="66" name="TextBox 66"/>
              <p:cNvSpPr txBox="1"/>
              <p:nvPr/>
            </p:nvSpPr>
            <p:spPr>
              <a:xfrm>
                <a:off x="755142" y="3950018"/>
                <a:ext cx="2936492"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A single frame describes posture</a:t>
                </a:r>
              </a:p>
            </p:txBody>
          </p:sp>
          <p:sp>
            <p:nvSpPr>
              <p:cNvPr id="67" name="Rectangle 67"/>
              <p:cNvSpPr/>
              <p:nvPr/>
            </p:nvSpPr>
            <p:spPr>
              <a:xfrm>
                <a:off x="609600" y="4362450"/>
                <a:ext cx="38100" cy="38100"/>
              </a:xfrm>
              <a:prstGeom prst="rect">
                <a:avLst/>
              </a:prstGeom>
              <a:solidFill>
                <a:schemeClr val="accent2"/>
              </a:solidFill>
              <a:ln>
                <a:noFill/>
              </a:ln>
            </p:spPr>
          </p:sp>
          <p:sp>
            <p:nvSpPr>
              <p:cNvPr id="68" name="TextBox 68"/>
              <p:cNvSpPr txBox="1"/>
              <p:nvPr/>
            </p:nvSpPr>
            <p:spPr>
              <a:xfrm>
                <a:off x="755142" y="4292918"/>
                <a:ext cx="2809452"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A sequence describes movement</a:t>
                </a:r>
              </a:p>
            </p:txBody>
          </p:sp>
          <p:sp>
            <p:nvSpPr>
              <p:cNvPr id="69" name="Rectangle 69"/>
              <p:cNvSpPr/>
              <p:nvPr/>
            </p:nvSpPr>
            <p:spPr>
              <a:xfrm>
                <a:off x="609600" y="4705350"/>
                <a:ext cx="38100" cy="38100"/>
              </a:xfrm>
              <a:prstGeom prst="rect">
                <a:avLst/>
              </a:prstGeom>
              <a:solidFill>
                <a:schemeClr val="accent2"/>
              </a:solidFill>
              <a:ln>
                <a:noFill/>
              </a:ln>
            </p:spPr>
          </p:sp>
          <p:sp>
            <p:nvSpPr>
              <p:cNvPr id="70" name="TextBox 70"/>
              <p:cNvSpPr txBox="1"/>
              <p:nvPr/>
            </p:nvSpPr>
            <p:spPr>
              <a:xfrm>
                <a:off x="755142" y="4635818"/>
                <a:ext cx="3690576"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Smoothing reduces unstable label changes</a:t>
                </a:r>
              </a:p>
            </p:txBody>
          </p:sp>
          <p:sp>
            <p:nvSpPr>
              <p:cNvPr id="71" name="Rectangle 71"/>
              <p:cNvSpPr/>
              <p:nvPr/>
            </p:nvSpPr>
            <p:spPr>
              <a:xfrm>
                <a:off x="609600" y="5048250"/>
                <a:ext cx="38100" cy="38100"/>
              </a:xfrm>
              <a:prstGeom prst="rect">
                <a:avLst/>
              </a:prstGeom>
              <a:solidFill>
                <a:schemeClr val="accent2"/>
              </a:solidFill>
              <a:ln>
                <a:noFill/>
              </a:ln>
            </p:spPr>
          </p:sp>
          <p:sp>
            <p:nvSpPr>
              <p:cNvPr id="72" name="TextBox 72"/>
              <p:cNvSpPr txBox="1"/>
              <p:nvPr/>
            </p:nvSpPr>
            <p:spPr>
              <a:xfrm>
                <a:off x="755142" y="4978718"/>
                <a:ext cx="3472642" cy="264033"/>
              </a:xfrm>
              <a:prstGeom prst="rect">
                <a:avLst/>
              </a:prstGeom>
              <a:noFill/>
              <a:ln>
                <a:noFill/>
              </a:ln>
            </p:spPr>
            <p:txBody>
              <a:bodyPr wrap="none" lIns="0" tIns="0" rIns="0" bIns="0" anchor="t" anchorCtr="0">
                <a:spAutoFit/>
              </a:bodyPr>
              <a:lstStyle/>
              <a:p>
                <a:pPr algn="l"/>
                <a:r>
                  <a:rPr lang="en" sz="1350" dirty="0">
                    <a:solidFill>
                      <a:schemeClr val="dk1"/>
                    </a:solidFill>
                    <a:latin typeface="+mn-lt"/>
                    <a:ea typeface="+mn-ea"/>
                    <a:cs typeface="+mn-cs"/>
                  </a:rPr>
                  <a:t>The final action state is sent to fusion</a:t>
                </a:r>
              </a:p>
            </p:txBody>
          </p:sp>
        </p:grpSp>
      </p:grpSp>
      <p:grpSp>
        <p:nvGrpSpPr>
          <p:cNvPr id="84" name="Group 84"/>
          <p:cNvGrpSpPr/>
          <p:nvPr/>
        </p:nvGrpSpPr>
        <p:grpSpPr>
          <a:xfrm>
            <a:off x="6286500" y="3619500"/>
            <a:ext cx="5295900" cy="2422779"/>
            <a:chOff x="6286500" y="3619500"/>
            <a:chExt cx="5295900" cy="2422779"/>
          </a:xfrm>
        </p:grpSpPr>
        <p:sp>
          <p:nvSpPr>
            <p:cNvPr id="75" name="Line 75"/>
            <p:cNvSpPr/>
            <p:nvPr/>
          </p:nvSpPr>
          <p:spPr>
            <a:xfrm>
              <a:off x="6286500" y="3619500"/>
              <a:ext cx="9525" cy="2324100"/>
            </a:xfrm>
            <a:custGeom>
              <a:avLst/>
              <a:gdLst/>
              <a:ahLst/>
              <a:cxnLst/>
              <a:rect l="l" t="t" r="r" b="b"/>
              <a:pathLst>
                <a:path w="9525" h="2324100">
                  <a:moveTo>
                    <a:pt x="0" y="0"/>
                  </a:moveTo>
                  <a:lnTo>
                    <a:pt x="0" y="2324100"/>
                  </a:lnTo>
                </a:path>
              </a:pathLst>
            </a:custGeom>
            <a:noFill/>
            <a:ln w="9525">
              <a:solidFill>
                <a:schemeClr val="accent6"/>
              </a:solidFill>
            </a:ln>
          </p:spPr>
        </p:sp>
        <p:grpSp>
          <p:nvGrpSpPr>
            <p:cNvPr id="79" name="Group 79"/>
            <p:cNvGrpSpPr/>
            <p:nvPr/>
          </p:nvGrpSpPr>
          <p:grpSpPr>
            <a:xfrm>
              <a:off x="6667500" y="3619500"/>
              <a:ext cx="4914900" cy="1165479"/>
              <a:chOff x="6667500" y="3619500"/>
              <a:chExt cx="4914900" cy="1165479"/>
            </a:xfrm>
          </p:grpSpPr>
          <p:sp>
            <p:nvSpPr>
              <p:cNvPr id="76" name="Rectangle 76"/>
              <p:cNvSpPr/>
              <p:nvPr/>
            </p:nvSpPr>
            <p:spPr>
              <a:xfrm>
                <a:off x="6667500" y="3619500"/>
                <a:ext cx="4914900" cy="1066800"/>
              </a:xfrm>
              <a:prstGeom prst="roundRect">
                <a:avLst>
                  <a:gd name="adj" fmla="val 3571"/>
                </a:avLst>
              </a:prstGeom>
              <a:solidFill>
                <a:srgbClr val="FFFFFF"/>
              </a:solidFill>
              <a:ln w="14288">
                <a:solidFill>
                  <a:schemeClr val="accent6"/>
                </a:solidFill>
              </a:ln>
            </p:spPr>
          </p:sp>
          <p:sp>
            <p:nvSpPr>
              <p:cNvPr id="77" name="TextBox 77"/>
              <p:cNvSpPr txBox="1"/>
              <p:nvPr/>
            </p:nvSpPr>
            <p:spPr>
              <a:xfrm>
                <a:off x="6890766" y="3887152"/>
                <a:ext cx="1156247"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Validation mAP50</a:t>
                </a:r>
              </a:p>
            </p:txBody>
          </p:sp>
          <p:sp>
            <p:nvSpPr>
              <p:cNvPr id="78" name="TextBox 78"/>
              <p:cNvSpPr txBox="1"/>
              <p:nvPr/>
            </p:nvSpPr>
            <p:spPr>
              <a:xfrm>
                <a:off x="6879336" y="4139565"/>
                <a:ext cx="1324356" cy="645414"/>
              </a:xfrm>
              <a:prstGeom prst="rect">
                <a:avLst/>
              </a:prstGeom>
              <a:noFill/>
              <a:ln>
                <a:noFill/>
              </a:ln>
            </p:spPr>
            <p:txBody>
              <a:bodyPr wrap="none" lIns="0" tIns="0" rIns="0" bIns="0" anchor="t" anchorCtr="0">
                <a:spAutoFit/>
              </a:bodyPr>
              <a:lstStyle/>
              <a:p>
                <a:pPr algn="l"/>
                <a:r>
                  <a:rPr lang="en" sz="3300" dirty="0">
                    <a:solidFill>
                      <a:schemeClr val="accent2"/>
                    </a:solidFill>
                    <a:latin typeface="+mj-lt"/>
                    <a:ea typeface="+mj-ea"/>
                    <a:cs typeface="+mj-cs"/>
                  </a:rPr>
                  <a:t>0.885</a:t>
                </a:r>
              </a:p>
            </p:txBody>
          </p:sp>
        </p:grpSp>
        <p:grpSp>
          <p:nvGrpSpPr>
            <p:cNvPr id="83" name="Group 83"/>
            <p:cNvGrpSpPr/>
            <p:nvPr/>
          </p:nvGrpSpPr>
          <p:grpSpPr>
            <a:xfrm>
              <a:off x="6667500" y="4876800"/>
              <a:ext cx="4914900" cy="1165479"/>
              <a:chOff x="6667500" y="4876800"/>
              <a:chExt cx="4914900" cy="1165479"/>
            </a:xfrm>
          </p:grpSpPr>
          <p:sp>
            <p:nvSpPr>
              <p:cNvPr id="80" name="Rectangle 80"/>
              <p:cNvSpPr/>
              <p:nvPr/>
            </p:nvSpPr>
            <p:spPr>
              <a:xfrm>
                <a:off x="6667500" y="4876800"/>
                <a:ext cx="4914900" cy="1066800"/>
              </a:xfrm>
              <a:prstGeom prst="roundRect">
                <a:avLst>
                  <a:gd name="adj" fmla="val 3571"/>
                </a:avLst>
              </a:prstGeom>
              <a:solidFill>
                <a:srgbClr val="FFFFFF"/>
              </a:solidFill>
              <a:ln w="14288">
                <a:solidFill>
                  <a:schemeClr val="accent6"/>
                </a:solidFill>
              </a:ln>
            </p:spPr>
          </p:sp>
          <p:sp>
            <p:nvSpPr>
              <p:cNvPr id="81" name="TextBox 81"/>
              <p:cNvSpPr txBox="1"/>
              <p:nvPr/>
            </p:nvSpPr>
            <p:spPr>
              <a:xfrm>
                <a:off x="6890766" y="5144452"/>
                <a:ext cx="1392523"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Validation mAP50–95</a:t>
                </a:r>
              </a:p>
            </p:txBody>
          </p:sp>
          <p:sp>
            <p:nvSpPr>
              <p:cNvPr id="82" name="TextBox 82"/>
              <p:cNvSpPr txBox="1"/>
              <p:nvPr/>
            </p:nvSpPr>
            <p:spPr>
              <a:xfrm>
                <a:off x="6879336" y="5396865"/>
                <a:ext cx="1324356" cy="645414"/>
              </a:xfrm>
              <a:prstGeom prst="rect">
                <a:avLst/>
              </a:prstGeom>
              <a:noFill/>
              <a:ln>
                <a:noFill/>
              </a:ln>
            </p:spPr>
            <p:txBody>
              <a:bodyPr wrap="none" lIns="0" tIns="0" rIns="0" bIns="0" anchor="t" anchorCtr="0">
                <a:spAutoFit/>
              </a:bodyPr>
              <a:lstStyle/>
              <a:p>
                <a:pPr algn="l"/>
                <a:r>
                  <a:rPr lang="en" sz="3300" dirty="0">
                    <a:solidFill>
                      <a:schemeClr val="accent2"/>
                    </a:solidFill>
                    <a:latin typeface="+mj-lt"/>
                    <a:ea typeface="+mj-ea"/>
                    <a:cs typeface="+mj-cs"/>
                  </a:rPr>
                  <a:t>0.556</a:t>
                </a:r>
              </a:p>
            </p:txBody>
          </p:sp>
        </p:grpSp>
      </p:grpSp>
      <p:sp>
        <p:nvSpPr>
          <p:cNvPr id="85" name="TextBox 85"/>
          <p:cNvSpPr txBox="1"/>
          <p:nvPr/>
        </p:nvSpPr>
        <p:spPr>
          <a:xfrm>
            <a:off x="11432327" y="6562249"/>
            <a:ext cx="155026" cy="190690"/>
          </a:xfrm>
          <a:prstGeom prst="rect">
            <a:avLst/>
          </a:prstGeom>
          <a:noFill/>
          <a:ln>
            <a:noFill/>
          </a:ln>
        </p:spPr>
        <p:txBody>
          <a:bodyPr wrap="none" lIns="0" tIns="0" rIns="0" bIns="0" anchor="t" anchorCtr="0">
            <a:spAutoFit/>
          </a:bodyPr>
          <a:lstStyle/>
          <a:p>
            <a:pPr algn="r"/>
            <a:r>
              <a:rPr lang="en" sz="980" dirty="0">
                <a:solidFill>
                  <a:schemeClr val="accent3"/>
                </a:solidFill>
                <a:latin typeface="+mn-lt"/>
                <a:ea typeface="+mn-ea"/>
                <a:cs typeface="+mn-cs"/>
              </a:rPr>
              <a:t>07</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22" presetClass="entr" presetSubtype="2"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right)">
                                      <p:cBhvr>
                                        <p:cTn id="7" dur="700"/>
                                        <p:tgtEl>
                                          <p:spTgt spid="53"/>
                                        </p:tgtEl>
                                      </p:cBhvr>
                                    </p:animEffect>
                                  </p:childTnLst>
                                </p:cTn>
                              </p:par>
                            </p:childTnLst>
                          </p:cTn>
                        </p:par>
                        <p:par>
                          <p:cTn id="8" fill="hold">
                            <p:stCondLst>
                              <p:cond delay="7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63"/>
                                        </p:tgtEl>
                                        <p:attrNameLst>
                                          <p:attrName>style.visibility</p:attrName>
                                        </p:attrNameLst>
                                      </p:cBhvr>
                                      <p:to>
                                        <p:strVal val="visible"/>
                                      </p:to>
                                    </p:set>
                                    <p:animEffect transition="in" filter="fade">
                                      <p:cBhvr>
                                        <p:cTn id="11" dur="500"/>
                                        <p:tgtEl>
                                          <p:spTgt spid="63"/>
                                        </p:tgtEl>
                                      </p:cBhvr>
                                    </p:animEffect>
                                  </p:childTnLst>
                                </p:cTn>
                              </p:par>
                            </p:childTnLst>
                          </p:cTn>
                        </p:par>
                      </p:childTnLst>
                    </p:cTn>
                  </p:par>
                  <p:par>
                    <p:cTn id="12" fill="hold">
                      <p:stCondLst>
                        <p:cond delay="indefinite"/>
                      </p:stCondLst>
                      <p:childTnLst>
                        <p:par>
                          <p:cTn id="13" fill="hold">
                            <p:stCondLst>
                              <p:cond delay="0"/>
                            </p:stCondLst>
                            <p:childTnLst>
                              <p:par>
                                <p:cTn xmlns:p="http://schemas.openxmlformats.org/presentationml/2006/main" id="14" presetID="10" presetClass="entr" presetSubtype="0" fill="hold" grpId="0" nodeType="clickEffect">
                                  <p:stCondLst>
                                    <p:cond delay="0"/>
                                  </p:stCondLst>
                                  <p:childTnLst>
                                    <p:set>
                                      <p:cBhvr>
                                        <p:cTn id="15" dur="1" fill="hold">
                                          <p:stCondLst>
                                            <p:cond delay="0"/>
                                          </p:stCondLst>
                                        </p:cTn>
                                        <p:tgtEl>
                                          <p:spTgt spid="74"/>
                                        </p:tgtEl>
                                        <p:attrNameLst>
                                          <p:attrName>style.visibility</p:attrName>
                                        </p:attrNameLst>
                                      </p:cBhvr>
                                      <p:to>
                                        <p:strVal val="visible"/>
                                      </p:to>
                                    </p:set>
                                    <p:animEffect transition="in" filter="fade">
                                      <p:cBhvr>
                                        <p:cTn id="16" dur="500"/>
                                        <p:tgtEl>
                                          <p:spTgt spid="74"/>
                                        </p:tgtEl>
                                      </p:cBhvr>
                                    </p:animEffect>
                                  </p:childTnLst>
                                </p:cTn>
                              </p:par>
                            </p:childTnLst>
                          </p:cTn>
                        </p:par>
                      </p:childTnLst>
                    </p:cTn>
                  </p:par>
                  <p:par>
                    <p:cTn id="17" fill="hold">
                      <p:stCondLst>
                        <p:cond delay="indefinite"/>
                      </p:stCondLst>
                      <p:childTnLst>
                        <p:par>
                          <p:cTn id="18" fill="hold">
                            <p:stCondLst>
                              <p:cond delay="0"/>
                            </p:stCondLst>
                            <p:childTnLst>
                              <p:par>
                                <p:cTn xmlns:p="http://schemas.openxmlformats.org/presentationml/2006/main" id="19" presetID="10" presetClass="entr" presetSubtype="0" fill="hold" grpId="0" nodeType="clickEffect">
                                  <p:stCondLst>
                                    <p:cond delay="0"/>
                                  </p:stCondLst>
                                  <p:childTnLst>
                                    <p:set>
                                      <p:cBhvr>
                                        <p:cTn id="20" dur="1" fill="hold">
                                          <p:stCondLst>
                                            <p:cond delay="0"/>
                                          </p:stCondLst>
                                        </p:cTn>
                                        <p:tgtEl>
                                          <p:spTgt spid="84"/>
                                        </p:tgtEl>
                                        <p:attrNameLst>
                                          <p:attrName>style.visibility</p:attrName>
                                        </p:attrNameLst>
                                      </p:cBhvr>
                                      <p:to>
                                        <p:strVal val="visible"/>
                                      </p:to>
                                    </p:set>
                                    <p:animEffect transition="in" filter="fade">
                                      <p:cBhvr>
                                        <p:cTn id="21" dur="6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5884" y="590074"/>
            <a:ext cx="10986516" cy="827627"/>
            <a:chOff x="595884" y="590074"/>
            <a:chExt cx="10986516" cy="827627"/>
          </a:xfrm>
        </p:grpSpPr>
        <p:sp>
          <p:nvSpPr>
            <p:cNvPr id="2" name="Rectangle 2"/>
            <p:cNvSpPr/>
            <p:nvPr/>
          </p:nvSpPr>
          <p:spPr>
            <a:xfrm>
              <a:off x="609600" y="590550"/>
              <a:ext cx="266700" cy="28575"/>
            </a:xfrm>
            <a:prstGeom prst="rect">
              <a:avLst/>
            </a:prstGeom>
            <a:solidFill>
              <a:schemeClr val="accent2"/>
            </a:solidFill>
            <a:ln>
              <a:noFill/>
            </a:ln>
          </p:spPr>
        </p:sp>
        <p:sp>
          <p:nvSpPr>
            <p:cNvPr id="3" name="TextBox 3"/>
            <p:cNvSpPr txBox="1"/>
            <p:nvPr/>
          </p:nvSpPr>
          <p:spPr>
            <a:xfrm>
              <a:off x="985647" y="590074"/>
              <a:ext cx="1864289" cy="190690"/>
            </a:xfrm>
            <a:prstGeom prst="rect">
              <a:avLst/>
            </a:prstGeom>
            <a:noFill/>
            <a:ln>
              <a:noFill/>
            </a:ln>
          </p:spPr>
          <p:txBody>
            <a:bodyPr wrap="none" lIns="0" tIns="0" rIns="0" bIns="0" anchor="t" anchorCtr="0">
              <a:spAutoFit/>
            </a:bodyPr>
            <a:lstStyle/>
            <a:p>
              <a:pPr algn="l"/>
              <a:r>
                <a:rPr lang="en" sz="980" spc="188" dirty="0">
                  <a:solidFill>
                    <a:schemeClr val="accent2"/>
                  </a:solidFill>
                  <a:latin typeface="+mn-lt"/>
                  <a:ea typeface="+mn-ea"/>
                  <a:cs typeface="+mn-cs"/>
                </a:rPr>
                <a:t>FUSION &amp; ESCALATION</a:t>
              </a:r>
            </a:p>
          </p:txBody>
        </p:sp>
        <p:sp>
          <p:nvSpPr>
            <p:cNvPr id="4" name="TextBox 4"/>
            <p:cNvSpPr txBox="1"/>
            <p:nvPr/>
          </p:nvSpPr>
          <p:spPr>
            <a:xfrm>
              <a:off x="595884" y="889635"/>
              <a:ext cx="6709678" cy="528066"/>
            </a:xfrm>
            <a:prstGeom prst="rect">
              <a:avLst/>
            </a:prstGeom>
            <a:noFill/>
            <a:ln>
              <a:noFill/>
            </a:ln>
          </p:spPr>
          <p:txBody>
            <a:bodyPr wrap="none" lIns="0" tIns="0" rIns="0" bIns="0" anchor="t" anchorCtr="0">
              <a:spAutoFit/>
            </a:bodyPr>
            <a:lstStyle/>
            <a:p>
              <a:pPr algn="l"/>
              <a:r>
                <a:rPr lang="en" sz="2700" dirty="0">
                  <a:solidFill>
                    <a:schemeClr val="accent1"/>
                  </a:solidFill>
                  <a:latin typeface="+mj-lt"/>
                  <a:ea typeface="+mj-ea"/>
                  <a:cs typeface="+mj-cs"/>
                </a:rPr>
                <a:t>Transparent Fusion, Three Actions</a:t>
              </a:r>
            </a:p>
          </p:txBody>
        </p:sp>
        <p:sp>
          <p:nvSpPr>
            <p:cNvPr id="5" name="Line 5"/>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1" name="Group 31"/>
          <p:cNvGrpSpPr/>
          <p:nvPr/>
        </p:nvGrpSpPr>
        <p:grpSpPr>
          <a:xfrm>
            <a:off x="604838" y="1579245"/>
            <a:ext cx="2824162" cy="3409283"/>
            <a:chOff x="604838" y="1579245"/>
            <a:chExt cx="2824162" cy="3409283"/>
          </a:xfrm>
        </p:grpSpPr>
        <p:sp>
          <p:nvSpPr>
            <p:cNvPr id="7" name="TextBox 7"/>
            <p:cNvSpPr txBox="1"/>
            <p:nvPr/>
          </p:nvSpPr>
          <p:spPr>
            <a:xfrm>
              <a:off x="604838" y="1579245"/>
              <a:ext cx="879323" cy="176212"/>
            </a:xfrm>
            <a:prstGeom prst="rect">
              <a:avLst/>
            </a:prstGeom>
            <a:noFill/>
            <a:ln>
              <a:noFill/>
            </a:ln>
          </p:spPr>
          <p:txBody>
            <a:bodyPr wrap="none" lIns="0" tIns="0" rIns="0" bIns="0" anchor="t" anchorCtr="0">
              <a:spAutoFit/>
            </a:bodyPr>
            <a:lstStyle/>
            <a:p>
              <a:pPr algn="l"/>
              <a:r>
                <a:rPr lang="en" sz="900" spc="112" dirty="0">
                  <a:solidFill>
                    <a:schemeClr val="accent5"/>
                  </a:solidFill>
                  <a:latin typeface="+mn-lt"/>
                  <a:ea typeface="+mn-ea"/>
                  <a:cs typeface="+mn-cs"/>
                </a:rPr>
                <a:t>INPUT LAYER</a:t>
              </a:r>
            </a:p>
          </p:txBody>
        </p:sp>
        <p:grpSp>
          <p:nvGrpSpPr>
            <p:cNvPr id="12" name="Group 12"/>
            <p:cNvGrpSpPr/>
            <p:nvPr/>
          </p:nvGrpSpPr>
          <p:grpSpPr>
            <a:xfrm>
              <a:off x="615960" y="1995964"/>
              <a:ext cx="1641008" cy="249364"/>
              <a:chOff x="615960" y="1995964"/>
              <a:chExt cx="1641008" cy="249364"/>
            </a:xfrm>
          </p:grpSpPr>
          <p:grpSp>
            <p:nvGrpSpPr>
              <p:cNvPr id="10" name="Group 10"/>
              <p:cNvGrpSpPr/>
              <p:nvPr/>
            </p:nvGrpSpPr>
            <p:grpSpPr>
              <a:xfrm>
                <a:off x="615960" y="2010966"/>
                <a:ext cx="196829" cy="130969"/>
                <a:chOff x="615960" y="2010966"/>
                <a:chExt cx="196829" cy="130969"/>
              </a:xfrm>
            </p:grpSpPr>
            <p:sp>
              <p:nvSpPr>
                <p:cNvPr id="8" name="Freeform 8"/>
                <p:cNvSpPr/>
                <p:nvPr/>
              </p:nvSpPr>
              <p:spPr>
                <a:xfrm>
                  <a:off x="622697" y="2017514"/>
                  <a:ext cx="183356" cy="117872"/>
                </a:xfrm>
                <a:custGeom>
                  <a:avLst/>
                  <a:gdLst/>
                  <a:ahLst/>
                  <a:cxnLst/>
                  <a:rect l="l" t="t" r="r" b="b"/>
                  <a:pathLst>
                    <a:path w="183356" h="117872">
                      <a:moveTo>
                        <a:pt x="91678" y="0"/>
                      </a:moveTo>
                      <a:cubicBezTo>
                        <a:pt x="26194" y="0"/>
                        <a:pt x="0" y="58936"/>
                        <a:pt x="0" y="58936"/>
                      </a:cubicBezTo>
                      <a:cubicBezTo>
                        <a:pt x="0" y="58936"/>
                        <a:pt x="26194" y="117872"/>
                        <a:pt x="91678" y="117872"/>
                      </a:cubicBezTo>
                      <a:cubicBezTo>
                        <a:pt x="157162" y="117872"/>
                        <a:pt x="183356" y="58936"/>
                        <a:pt x="183356" y="58936"/>
                      </a:cubicBezTo>
                      <a:cubicBezTo>
                        <a:pt x="183356" y="58936"/>
                        <a:pt x="157162" y="0"/>
                        <a:pt x="91678" y="0"/>
                      </a:cubicBezTo>
                      <a:close/>
                      <a:moveTo>
                        <a:pt x="91678" y="91678"/>
                      </a:moveTo>
                      <a:cubicBezTo>
                        <a:pt x="73595" y="91678"/>
                        <a:pt x="58936" y="77019"/>
                        <a:pt x="58936" y="58936"/>
                      </a:cubicBezTo>
                      <a:cubicBezTo>
                        <a:pt x="58936" y="40853"/>
                        <a:pt x="73595" y="26194"/>
                        <a:pt x="91678" y="26194"/>
                      </a:cubicBezTo>
                      <a:cubicBezTo>
                        <a:pt x="109761" y="26194"/>
                        <a:pt x="124420" y="40853"/>
                        <a:pt x="124420" y="58936"/>
                      </a:cubicBezTo>
                      <a:cubicBezTo>
                        <a:pt x="124420" y="77019"/>
                        <a:pt x="109761" y="91678"/>
                        <a:pt x="91678" y="91678"/>
                      </a:cubicBezTo>
                      <a:close/>
                    </a:path>
                  </a:pathLst>
                </a:custGeom>
                <a:solidFill>
                  <a:schemeClr val="accent1">
                    <a:alpha val="20000"/>
                  </a:schemeClr>
                </a:solidFill>
                <a:ln>
                  <a:noFill/>
                </a:ln>
              </p:spPr>
            </p:sp>
            <p:sp>
              <p:nvSpPr>
                <p:cNvPr id="9" name="Freeform 9"/>
                <p:cNvSpPr/>
                <p:nvPr/>
              </p:nvSpPr>
              <p:spPr>
                <a:xfrm>
                  <a:off x="615960" y="2010966"/>
                  <a:ext cx="196829" cy="130969"/>
                </a:xfrm>
                <a:custGeom>
                  <a:avLst/>
                  <a:gdLst/>
                  <a:ahLst/>
                  <a:cxnLst/>
                  <a:rect l="l" t="t" r="r" b="b"/>
                  <a:pathLst>
                    <a:path w="196829" h="130969">
                      <a:moveTo>
                        <a:pt x="196076" y="62832"/>
                      </a:moveTo>
                      <a:cubicBezTo>
                        <a:pt x="195790" y="62186"/>
                        <a:pt x="188857" y="46805"/>
                        <a:pt x="173443" y="31392"/>
                      </a:cubicBezTo>
                      <a:cubicBezTo>
                        <a:pt x="152906" y="10854"/>
                        <a:pt x="126966" y="0"/>
                        <a:pt x="98415" y="0"/>
                      </a:cubicBezTo>
                      <a:cubicBezTo>
                        <a:pt x="69864" y="0"/>
                        <a:pt x="43924" y="10854"/>
                        <a:pt x="23386" y="31392"/>
                      </a:cubicBezTo>
                      <a:cubicBezTo>
                        <a:pt x="7973" y="46805"/>
                        <a:pt x="1007" y="62210"/>
                        <a:pt x="753" y="62832"/>
                      </a:cubicBezTo>
                      <a:cubicBezTo>
                        <a:pt x="0" y="64526"/>
                        <a:pt x="0" y="66459"/>
                        <a:pt x="753" y="68153"/>
                      </a:cubicBezTo>
                      <a:cubicBezTo>
                        <a:pt x="1039" y="68800"/>
                        <a:pt x="7973" y="84172"/>
                        <a:pt x="23386" y="99585"/>
                      </a:cubicBezTo>
                      <a:cubicBezTo>
                        <a:pt x="43924" y="120115"/>
                        <a:pt x="69864" y="130969"/>
                        <a:pt x="98415" y="130969"/>
                      </a:cubicBezTo>
                      <a:cubicBezTo>
                        <a:pt x="126966" y="130969"/>
                        <a:pt x="152906" y="120115"/>
                        <a:pt x="173443" y="99585"/>
                      </a:cubicBezTo>
                      <a:cubicBezTo>
                        <a:pt x="188857" y="84172"/>
                        <a:pt x="195790" y="68800"/>
                        <a:pt x="196076" y="68153"/>
                      </a:cubicBezTo>
                      <a:cubicBezTo>
                        <a:pt x="196829" y="66459"/>
                        <a:pt x="196829" y="64526"/>
                        <a:pt x="196076" y="62832"/>
                      </a:cubicBezTo>
                      <a:close/>
                      <a:moveTo>
                        <a:pt x="98415" y="117872"/>
                      </a:moveTo>
                      <a:cubicBezTo>
                        <a:pt x="73220" y="117872"/>
                        <a:pt x="51209" y="108712"/>
                        <a:pt x="32988" y="90655"/>
                      </a:cubicBezTo>
                      <a:cubicBezTo>
                        <a:pt x="25511" y="83220"/>
                        <a:pt x="19151" y="74742"/>
                        <a:pt x="14104" y="65484"/>
                      </a:cubicBezTo>
                      <a:cubicBezTo>
                        <a:pt x="19149" y="56226"/>
                        <a:pt x="25510" y="47748"/>
                        <a:pt x="32988" y="40314"/>
                      </a:cubicBezTo>
                      <a:cubicBezTo>
                        <a:pt x="51209" y="22257"/>
                        <a:pt x="73220" y="13097"/>
                        <a:pt x="98415" y="13097"/>
                      </a:cubicBezTo>
                      <a:cubicBezTo>
                        <a:pt x="123610" y="13097"/>
                        <a:pt x="145621" y="22257"/>
                        <a:pt x="163842" y="40314"/>
                      </a:cubicBezTo>
                      <a:cubicBezTo>
                        <a:pt x="171333" y="47746"/>
                        <a:pt x="177707" y="56224"/>
                        <a:pt x="182767" y="65484"/>
                      </a:cubicBezTo>
                      <a:cubicBezTo>
                        <a:pt x="176865" y="76502"/>
                        <a:pt x="151154" y="117872"/>
                        <a:pt x="98415" y="117872"/>
                      </a:cubicBezTo>
                      <a:close/>
                      <a:moveTo>
                        <a:pt x="98415" y="26194"/>
                      </a:moveTo>
                      <a:cubicBezTo>
                        <a:pt x="76715" y="26194"/>
                        <a:pt x="59124" y="43785"/>
                        <a:pt x="59124" y="65484"/>
                      </a:cubicBezTo>
                      <a:cubicBezTo>
                        <a:pt x="59124" y="87184"/>
                        <a:pt x="76715" y="104775"/>
                        <a:pt x="98415" y="104775"/>
                      </a:cubicBezTo>
                      <a:cubicBezTo>
                        <a:pt x="120114" y="104775"/>
                        <a:pt x="137705" y="87184"/>
                        <a:pt x="137705" y="65484"/>
                      </a:cubicBezTo>
                      <a:cubicBezTo>
                        <a:pt x="137683" y="43794"/>
                        <a:pt x="120105" y="26216"/>
                        <a:pt x="98415" y="26194"/>
                      </a:cubicBezTo>
                      <a:close/>
                      <a:moveTo>
                        <a:pt x="98415" y="91678"/>
                      </a:moveTo>
                      <a:cubicBezTo>
                        <a:pt x="83948" y="91678"/>
                        <a:pt x="72221" y="79951"/>
                        <a:pt x="72221" y="65484"/>
                      </a:cubicBezTo>
                      <a:cubicBezTo>
                        <a:pt x="72221" y="51018"/>
                        <a:pt x="83948" y="39291"/>
                        <a:pt x="98415" y="39291"/>
                      </a:cubicBezTo>
                      <a:cubicBezTo>
                        <a:pt x="112881" y="39291"/>
                        <a:pt x="124608" y="51018"/>
                        <a:pt x="124608" y="65484"/>
                      </a:cubicBezTo>
                      <a:cubicBezTo>
                        <a:pt x="124608" y="79951"/>
                        <a:pt x="112881" y="91678"/>
                        <a:pt x="98415" y="91678"/>
                      </a:cubicBezTo>
                      <a:close/>
                    </a:path>
                  </a:pathLst>
                </a:custGeom>
                <a:solidFill>
                  <a:schemeClr val="accent1"/>
                </a:solidFill>
                <a:ln>
                  <a:noFill/>
                </a:ln>
              </p:spPr>
            </p:sp>
          </p:grpSp>
          <p:sp>
            <p:nvSpPr>
              <p:cNvPr id="11" name="TextBox 11"/>
              <p:cNvSpPr txBox="1"/>
              <p:nvPr/>
            </p:nvSpPr>
            <p:spPr>
              <a:xfrm>
                <a:off x="926973" y="1995964"/>
                <a:ext cx="1329995" cy="249364"/>
              </a:xfrm>
              <a:prstGeom prst="rect">
                <a:avLst/>
              </a:prstGeom>
              <a:noFill/>
              <a:ln>
                <a:noFill/>
              </a:ln>
            </p:spPr>
            <p:txBody>
              <a:bodyPr wrap="none" lIns="0" tIns="0" rIns="0" bIns="0" anchor="t" anchorCtr="0">
                <a:spAutoFit/>
              </a:bodyPr>
              <a:lstStyle/>
              <a:p>
                <a:pPr algn="l"/>
                <a:r>
                  <a:rPr lang="en" sz="1280" b="1" dirty="0">
                    <a:solidFill>
                      <a:schemeClr val="accent1"/>
                    </a:solidFill>
                    <a:latin typeface="+mn-lt"/>
                    <a:ea typeface="+mn-ea"/>
                    <a:cs typeface="+mn-cs"/>
                  </a:rPr>
                  <a:t>Vision evidence</a:t>
                </a:r>
              </a:p>
            </p:txBody>
          </p:sp>
        </p:grpSp>
        <p:sp>
          <p:nvSpPr>
            <p:cNvPr id="13" name="Line 13"/>
            <p:cNvSpPr/>
            <p:nvPr/>
          </p:nvSpPr>
          <p:spPr>
            <a:xfrm>
              <a:off x="609600" y="2381250"/>
              <a:ext cx="2819400" cy="9525"/>
            </a:xfrm>
            <a:custGeom>
              <a:avLst/>
              <a:gdLst/>
              <a:ahLst/>
              <a:cxnLst/>
              <a:rect l="l" t="t" r="r" b="b"/>
              <a:pathLst>
                <a:path w="2819400" h="9525">
                  <a:moveTo>
                    <a:pt x="0" y="0"/>
                  </a:moveTo>
                  <a:lnTo>
                    <a:pt x="2819400" y="0"/>
                  </a:lnTo>
                </a:path>
              </a:pathLst>
            </a:custGeom>
            <a:noFill/>
            <a:ln w="9525">
              <a:solidFill>
                <a:schemeClr val="accent6"/>
              </a:solidFill>
            </a:ln>
          </p:spPr>
        </p:sp>
        <p:grpSp>
          <p:nvGrpSpPr>
            <p:cNvPr id="18" name="Group 18"/>
            <p:cNvGrpSpPr/>
            <p:nvPr/>
          </p:nvGrpSpPr>
          <p:grpSpPr>
            <a:xfrm>
              <a:off x="626918" y="2902964"/>
              <a:ext cx="1711797" cy="256764"/>
              <a:chOff x="626918" y="2902964"/>
              <a:chExt cx="1711797" cy="256764"/>
            </a:xfrm>
          </p:grpSpPr>
          <p:grpSp>
            <p:nvGrpSpPr>
              <p:cNvPr id="16" name="Group 16"/>
              <p:cNvGrpSpPr/>
              <p:nvPr/>
            </p:nvGrpSpPr>
            <p:grpSpPr>
              <a:xfrm>
                <a:off x="626918" y="2902964"/>
                <a:ext cx="175206" cy="169419"/>
                <a:chOff x="626918" y="2902964"/>
                <a:chExt cx="175206" cy="169419"/>
              </a:xfrm>
            </p:grpSpPr>
            <p:sp>
              <p:nvSpPr>
                <p:cNvPr id="14" name="Freeform 14"/>
                <p:cNvSpPr/>
                <p:nvPr/>
              </p:nvSpPr>
              <p:spPr>
                <a:xfrm>
                  <a:off x="694730" y="2971205"/>
                  <a:ext cx="39291" cy="39291"/>
                </a:xfrm>
                <a:custGeom>
                  <a:avLst/>
                  <a:gdLst/>
                  <a:ahLst/>
                  <a:cxnLst/>
                  <a:rect l="l" t="t" r="r" b="b"/>
                  <a:pathLst>
                    <a:path w="39291" h="39291">
                      <a:moveTo>
                        <a:pt x="39291" y="19645"/>
                      </a:moveTo>
                      <a:cubicBezTo>
                        <a:pt x="39291" y="30495"/>
                        <a:pt x="30495" y="39291"/>
                        <a:pt x="19645" y="39291"/>
                      </a:cubicBezTo>
                      <a:cubicBezTo>
                        <a:pt x="8796" y="39291"/>
                        <a:pt x="0" y="30495"/>
                        <a:pt x="0" y="19645"/>
                      </a:cubicBezTo>
                      <a:cubicBezTo>
                        <a:pt x="0" y="8796"/>
                        <a:pt x="8796" y="0"/>
                        <a:pt x="19645" y="0"/>
                      </a:cubicBezTo>
                      <a:cubicBezTo>
                        <a:pt x="30495" y="0"/>
                        <a:pt x="39291" y="8796"/>
                        <a:pt x="39291" y="19645"/>
                      </a:cubicBezTo>
                      <a:close/>
                    </a:path>
                  </a:pathLst>
                </a:custGeom>
                <a:solidFill>
                  <a:schemeClr val="accent1">
                    <a:alpha val="20000"/>
                  </a:schemeClr>
                </a:solidFill>
                <a:ln>
                  <a:noFill/>
                </a:ln>
              </p:spPr>
            </p:sp>
            <p:sp>
              <p:nvSpPr>
                <p:cNvPr id="15" name="Freeform 15"/>
                <p:cNvSpPr/>
                <p:nvPr/>
              </p:nvSpPr>
              <p:spPr>
                <a:xfrm>
                  <a:off x="626918" y="2902964"/>
                  <a:ext cx="175206" cy="169419"/>
                </a:xfrm>
                <a:custGeom>
                  <a:avLst/>
                  <a:gdLst/>
                  <a:ahLst/>
                  <a:cxnLst/>
                  <a:rect l="l" t="t" r="r" b="b"/>
                  <a:pathLst>
                    <a:path w="175206" h="169419">
                      <a:moveTo>
                        <a:pt x="146393" y="107531"/>
                      </a:moveTo>
                      <a:cubicBezTo>
                        <a:pt x="140605" y="107528"/>
                        <a:pt x="134981" y="109452"/>
                        <a:pt x="130407" y="112999"/>
                      </a:cubicBezTo>
                      <a:lnTo>
                        <a:pt x="111490" y="98265"/>
                      </a:lnTo>
                      <a:cubicBezTo>
                        <a:pt x="112918" y="94991"/>
                        <a:pt x="113654" y="91458"/>
                        <a:pt x="113651" y="87886"/>
                      </a:cubicBezTo>
                      <a:cubicBezTo>
                        <a:pt x="113651" y="87280"/>
                        <a:pt x="113651" y="86674"/>
                        <a:pt x="113586" y="86077"/>
                      </a:cubicBezTo>
                      <a:lnTo>
                        <a:pt x="124415" y="82467"/>
                      </a:lnTo>
                      <a:cubicBezTo>
                        <a:pt x="131498" y="93391"/>
                        <a:pt x="145528" y="97455"/>
                        <a:pt x="157352" y="92008"/>
                      </a:cubicBezTo>
                      <a:cubicBezTo>
                        <a:pt x="169177" y="86561"/>
                        <a:pt x="175206" y="73257"/>
                        <a:pt x="171508" y="60775"/>
                      </a:cubicBezTo>
                      <a:cubicBezTo>
                        <a:pt x="167809" y="48293"/>
                        <a:pt x="155505" y="40421"/>
                        <a:pt x="142622" y="42296"/>
                      </a:cubicBezTo>
                      <a:cubicBezTo>
                        <a:pt x="129739" y="44171"/>
                        <a:pt x="120188" y="55222"/>
                        <a:pt x="120200" y="68241"/>
                      </a:cubicBezTo>
                      <a:cubicBezTo>
                        <a:pt x="120200" y="68846"/>
                        <a:pt x="120200" y="69452"/>
                        <a:pt x="120265" y="70050"/>
                      </a:cubicBezTo>
                      <a:lnTo>
                        <a:pt x="109436" y="73659"/>
                      </a:lnTo>
                      <a:cubicBezTo>
                        <a:pt x="104612" y="66202"/>
                        <a:pt x="96339" y="61697"/>
                        <a:pt x="87457" y="61692"/>
                      </a:cubicBezTo>
                      <a:cubicBezTo>
                        <a:pt x="86012" y="61695"/>
                        <a:pt x="84569" y="61816"/>
                        <a:pt x="83144" y="62052"/>
                      </a:cubicBezTo>
                      <a:lnTo>
                        <a:pt x="77545" y="49414"/>
                      </a:lnTo>
                      <a:cubicBezTo>
                        <a:pt x="87527" y="41438"/>
                        <a:pt x="90298" y="27423"/>
                        <a:pt x="84102" y="16248"/>
                      </a:cubicBezTo>
                      <a:cubicBezTo>
                        <a:pt x="77906" y="5074"/>
                        <a:pt x="64551" y="0"/>
                        <a:pt x="52498" y="4242"/>
                      </a:cubicBezTo>
                      <a:cubicBezTo>
                        <a:pt x="40445" y="8484"/>
                        <a:pt x="33212" y="20803"/>
                        <a:pt x="35380" y="33395"/>
                      </a:cubicBezTo>
                      <a:cubicBezTo>
                        <a:pt x="37549" y="45988"/>
                        <a:pt x="48486" y="55178"/>
                        <a:pt x="61264" y="55144"/>
                      </a:cubicBezTo>
                      <a:cubicBezTo>
                        <a:pt x="62709" y="55141"/>
                        <a:pt x="64152" y="55020"/>
                        <a:pt x="65577" y="54784"/>
                      </a:cubicBezTo>
                      <a:lnTo>
                        <a:pt x="71176" y="67389"/>
                      </a:lnTo>
                      <a:cubicBezTo>
                        <a:pt x="61385" y="75139"/>
                        <a:pt x="58445" y="88734"/>
                        <a:pt x="64161" y="99837"/>
                      </a:cubicBezTo>
                      <a:lnTo>
                        <a:pt x="43116" y="118533"/>
                      </a:lnTo>
                      <a:cubicBezTo>
                        <a:pt x="32159" y="111146"/>
                        <a:pt x="17418" y="113059"/>
                        <a:pt x="8709" y="122998"/>
                      </a:cubicBezTo>
                      <a:cubicBezTo>
                        <a:pt x="0" y="132937"/>
                        <a:pt x="40" y="147802"/>
                        <a:pt x="8803" y="157694"/>
                      </a:cubicBezTo>
                      <a:cubicBezTo>
                        <a:pt x="17566" y="167586"/>
                        <a:pt x="32317" y="169419"/>
                        <a:pt x="43234" y="161973"/>
                      </a:cubicBezTo>
                      <a:cubicBezTo>
                        <a:pt x="54151" y="154526"/>
                        <a:pt x="57829" y="140124"/>
                        <a:pt x="51818" y="128355"/>
                      </a:cubicBezTo>
                      <a:lnTo>
                        <a:pt x="72863" y="109660"/>
                      </a:lnTo>
                      <a:cubicBezTo>
                        <a:pt x="82208" y="115952"/>
                        <a:pt x="94536" y="115543"/>
                        <a:pt x="103444" y="108644"/>
                      </a:cubicBezTo>
                      <a:lnTo>
                        <a:pt x="122361" y="123378"/>
                      </a:lnTo>
                      <a:cubicBezTo>
                        <a:pt x="120937" y="126642"/>
                        <a:pt x="120201" y="130164"/>
                        <a:pt x="120200" y="133725"/>
                      </a:cubicBezTo>
                      <a:cubicBezTo>
                        <a:pt x="120200" y="148191"/>
                        <a:pt x="131927" y="159919"/>
                        <a:pt x="146393" y="159919"/>
                      </a:cubicBezTo>
                      <a:cubicBezTo>
                        <a:pt x="160860" y="159919"/>
                        <a:pt x="172587" y="148191"/>
                        <a:pt x="172587" y="133725"/>
                      </a:cubicBezTo>
                      <a:cubicBezTo>
                        <a:pt x="172587" y="119259"/>
                        <a:pt x="160860" y="107531"/>
                        <a:pt x="146393" y="107531"/>
                      </a:cubicBezTo>
                      <a:close/>
                      <a:moveTo>
                        <a:pt x="146393" y="55144"/>
                      </a:moveTo>
                      <a:cubicBezTo>
                        <a:pt x="153627" y="55144"/>
                        <a:pt x="159490" y="61007"/>
                        <a:pt x="159490" y="68241"/>
                      </a:cubicBezTo>
                      <a:cubicBezTo>
                        <a:pt x="159490" y="75474"/>
                        <a:pt x="153627" y="81338"/>
                        <a:pt x="146393" y="81338"/>
                      </a:cubicBezTo>
                      <a:cubicBezTo>
                        <a:pt x="139160" y="81338"/>
                        <a:pt x="133296" y="75474"/>
                        <a:pt x="133296" y="68241"/>
                      </a:cubicBezTo>
                      <a:cubicBezTo>
                        <a:pt x="133296" y="61007"/>
                        <a:pt x="139160" y="55144"/>
                        <a:pt x="146393" y="55144"/>
                      </a:cubicBezTo>
                      <a:close/>
                      <a:moveTo>
                        <a:pt x="48167" y="28950"/>
                      </a:moveTo>
                      <a:cubicBezTo>
                        <a:pt x="48167" y="21717"/>
                        <a:pt x="54030" y="15853"/>
                        <a:pt x="61264" y="15853"/>
                      </a:cubicBezTo>
                      <a:cubicBezTo>
                        <a:pt x="68497" y="15853"/>
                        <a:pt x="74361" y="21717"/>
                        <a:pt x="74361" y="28950"/>
                      </a:cubicBezTo>
                      <a:cubicBezTo>
                        <a:pt x="74361" y="36183"/>
                        <a:pt x="68497" y="42047"/>
                        <a:pt x="61264" y="42047"/>
                      </a:cubicBezTo>
                      <a:cubicBezTo>
                        <a:pt x="54030" y="42047"/>
                        <a:pt x="48167" y="36183"/>
                        <a:pt x="48167" y="28950"/>
                      </a:cubicBezTo>
                      <a:close/>
                      <a:moveTo>
                        <a:pt x="28521" y="153370"/>
                      </a:moveTo>
                      <a:cubicBezTo>
                        <a:pt x="21288" y="153370"/>
                        <a:pt x="15425" y="147507"/>
                        <a:pt x="15425" y="140273"/>
                      </a:cubicBezTo>
                      <a:cubicBezTo>
                        <a:pt x="15425" y="133040"/>
                        <a:pt x="21288" y="127177"/>
                        <a:pt x="28521" y="127177"/>
                      </a:cubicBezTo>
                      <a:cubicBezTo>
                        <a:pt x="35755" y="127177"/>
                        <a:pt x="41618" y="133040"/>
                        <a:pt x="41618" y="140273"/>
                      </a:cubicBezTo>
                      <a:cubicBezTo>
                        <a:pt x="41618" y="147507"/>
                        <a:pt x="35755" y="153370"/>
                        <a:pt x="28521" y="153370"/>
                      </a:cubicBezTo>
                      <a:close/>
                      <a:moveTo>
                        <a:pt x="74361" y="87886"/>
                      </a:moveTo>
                      <a:cubicBezTo>
                        <a:pt x="74361" y="80653"/>
                        <a:pt x="80224" y="74789"/>
                        <a:pt x="87457" y="74789"/>
                      </a:cubicBezTo>
                      <a:cubicBezTo>
                        <a:pt x="94691" y="74789"/>
                        <a:pt x="100554" y="80653"/>
                        <a:pt x="100554" y="87886"/>
                      </a:cubicBezTo>
                      <a:cubicBezTo>
                        <a:pt x="100554" y="95119"/>
                        <a:pt x="94691" y="100983"/>
                        <a:pt x="87457" y="100983"/>
                      </a:cubicBezTo>
                      <a:cubicBezTo>
                        <a:pt x="80224" y="100983"/>
                        <a:pt x="74361" y="95119"/>
                        <a:pt x="74361" y="87886"/>
                      </a:cubicBezTo>
                      <a:close/>
                      <a:moveTo>
                        <a:pt x="146393" y="146822"/>
                      </a:moveTo>
                      <a:cubicBezTo>
                        <a:pt x="139160" y="146822"/>
                        <a:pt x="133296" y="140958"/>
                        <a:pt x="133296" y="133725"/>
                      </a:cubicBezTo>
                      <a:cubicBezTo>
                        <a:pt x="133296" y="126492"/>
                        <a:pt x="139160" y="120628"/>
                        <a:pt x="146393" y="120628"/>
                      </a:cubicBezTo>
                      <a:cubicBezTo>
                        <a:pt x="153627" y="120628"/>
                        <a:pt x="159490" y="126492"/>
                        <a:pt x="159490" y="133725"/>
                      </a:cubicBezTo>
                      <a:cubicBezTo>
                        <a:pt x="159490" y="140958"/>
                        <a:pt x="153627" y="146822"/>
                        <a:pt x="146393" y="146822"/>
                      </a:cubicBezTo>
                      <a:close/>
                    </a:path>
                  </a:pathLst>
                </a:custGeom>
                <a:solidFill>
                  <a:schemeClr val="accent1"/>
                </a:solidFill>
                <a:ln>
                  <a:noFill/>
                </a:ln>
              </p:spPr>
            </p:sp>
          </p:grpSp>
          <p:sp>
            <p:nvSpPr>
              <p:cNvPr id="17" name="TextBox 17"/>
              <p:cNvSpPr txBox="1"/>
              <p:nvPr/>
            </p:nvSpPr>
            <p:spPr>
              <a:xfrm>
                <a:off x="926973" y="2910364"/>
                <a:ext cx="1411742" cy="249364"/>
              </a:xfrm>
              <a:prstGeom prst="rect">
                <a:avLst/>
              </a:prstGeom>
              <a:noFill/>
              <a:ln>
                <a:noFill/>
              </a:ln>
            </p:spPr>
            <p:txBody>
              <a:bodyPr wrap="none" lIns="0" tIns="0" rIns="0" bIns="0" anchor="t" anchorCtr="0">
                <a:spAutoFit/>
              </a:bodyPr>
              <a:lstStyle/>
              <a:p>
                <a:pPr algn="l"/>
                <a:r>
                  <a:rPr lang="en" sz="1280" b="1" dirty="0">
                    <a:solidFill>
                      <a:schemeClr val="accent1"/>
                    </a:solidFill>
                    <a:latin typeface="+mn-lt"/>
                    <a:ea typeface="+mn-ea"/>
                    <a:cs typeface="+mn-cs"/>
                  </a:rPr>
                  <a:t>Motion evidence</a:t>
                </a:r>
              </a:p>
            </p:txBody>
          </p:sp>
        </p:grpSp>
        <p:sp>
          <p:nvSpPr>
            <p:cNvPr id="19" name="Line 19"/>
            <p:cNvSpPr/>
            <p:nvPr/>
          </p:nvSpPr>
          <p:spPr>
            <a:xfrm>
              <a:off x="609600" y="3295650"/>
              <a:ext cx="2819400" cy="9525"/>
            </a:xfrm>
            <a:custGeom>
              <a:avLst/>
              <a:gdLst/>
              <a:ahLst/>
              <a:cxnLst/>
              <a:rect l="l" t="t" r="r" b="b"/>
              <a:pathLst>
                <a:path w="2819400" h="9525">
                  <a:moveTo>
                    <a:pt x="0" y="0"/>
                  </a:moveTo>
                  <a:lnTo>
                    <a:pt x="2819400" y="0"/>
                  </a:lnTo>
                </a:path>
              </a:pathLst>
            </a:custGeom>
            <a:noFill/>
            <a:ln w="9525">
              <a:solidFill>
                <a:schemeClr val="accent6"/>
              </a:solidFill>
            </a:ln>
          </p:spPr>
        </p:sp>
        <p:grpSp>
          <p:nvGrpSpPr>
            <p:cNvPr id="24" name="Group 24"/>
            <p:cNvGrpSpPr/>
            <p:nvPr/>
          </p:nvGrpSpPr>
          <p:grpSpPr>
            <a:xfrm>
              <a:off x="622697" y="3824764"/>
              <a:ext cx="2123470" cy="249364"/>
              <a:chOff x="622697" y="3824764"/>
              <a:chExt cx="2123470" cy="249364"/>
            </a:xfrm>
          </p:grpSpPr>
          <p:grpSp>
            <p:nvGrpSpPr>
              <p:cNvPr id="22" name="Group 22"/>
              <p:cNvGrpSpPr/>
              <p:nvPr/>
            </p:nvGrpSpPr>
            <p:grpSpPr>
              <a:xfrm>
                <a:off x="622697" y="3833217"/>
                <a:ext cx="183356" cy="157386"/>
                <a:chOff x="622697" y="3833217"/>
                <a:chExt cx="183356" cy="157386"/>
              </a:xfrm>
            </p:grpSpPr>
            <p:sp>
              <p:nvSpPr>
                <p:cNvPr id="20" name="Freeform 20"/>
                <p:cNvSpPr/>
                <p:nvPr/>
              </p:nvSpPr>
              <p:spPr>
                <a:xfrm>
                  <a:off x="629245" y="3839766"/>
                  <a:ext cx="170259" cy="144066"/>
                </a:xfrm>
                <a:custGeom>
                  <a:avLst/>
                  <a:gdLst/>
                  <a:ahLst/>
                  <a:cxnLst/>
                  <a:rect l="l" t="t" r="r" b="b"/>
                  <a:pathLst>
                    <a:path w="170259" h="144066">
                      <a:moveTo>
                        <a:pt x="170259" y="44202"/>
                      </a:moveTo>
                      <a:cubicBezTo>
                        <a:pt x="170259" y="98227"/>
                        <a:pt x="85130" y="144066"/>
                        <a:pt x="85130" y="144066"/>
                      </a:cubicBezTo>
                      <a:cubicBezTo>
                        <a:pt x="85130" y="144066"/>
                        <a:pt x="0" y="98227"/>
                        <a:pt x="0" y="44202"/>
                      </a:cubicBezTo>
                      <a:cubicBezTo>
                        <a:pt x="0" y="19790"/>
                        <a:pt x="19790" y="0"/>
                        <a:pt x="44202" y="0"/>
                      </a:cubicBezTo>
                      <a:cubicBezTo>
                        <a:pt x="62693" y="0"/>
                        <a:pt x="78532" y="10076"/>
                        <a:pt x="85130" y="26194"/>
                      </a:cubicBezTo>
                      <a:cubicBezTo>
                        <a:pt x="91727" y="10076"/>
                        <a:pt x="107566" y="0"/>
                        <a:pt x="126057" y="0"/>
                      </a:cubicBezTo>
                      <a:cubicBezTo>
                        <a:pt x="150469" y="0"/>
                        <a:pt x="170259" y="19790"/>
                        <a:pt x="170259" y="44202"/>
                      </a:cubicBezTo>
                      <a:close/>
                    </a:path>
                  </a:pathLst>
                </a:custGeom>
                <a:solidFill>
                  <a:schemeClr val="accent1">
                    <a:alpha val="20000"/>
                  </a:schemeClr>
                </a:solidFill>
                <a:ln>
                  <a:noFill/>
                </a:ln>
              </p:spPr>
            </p:sp>
            <p:sp>
              <p:nvSpPr>
                <p:cNvPr id="21" name="Freeform 21"/>
                <p:cNvSpPr/>
                <p:nvPr/>
              </p:nvSpPr>
              <p:spPr>
                <a:xfrm>
                  <a:off x="622697" y="3833217"/>
                  <a:ext cx="183356" cy="157386"/>
                </a:xfrm>
                <a:custGeom>
                  <a:avLst/>
                  <a:gdLst/>
                  <a:ahLst/>
                  <a:cxnLst/>
                  <a:rect l="l" t="t" r="r" b="b"/>
                  <a:pathLst>
                    <a:path w="183356" h="157386">
                      <a:moveTo>
                        <a:pt x="132606" y="0"/>
                      </a:moveTo>
                      <a:cubicBezTo>
                        <a:pt x="115703" y="0"/>
                        <a:pt x="100903" y="7269"/>
                        <a:pt x="91678" y="19555"/>
                      </a:cubicBezTo>
                      <a:cubicBezTo>
                        <a:pt x="82453" y="7269"/>
                        <a:pt x="67654" y="0"/>
                        <a:pt x="50750" y="0"/>
                      </a:cubicBezTo>
                      <a:cubicBezTo>
                        <a:pt x="22735" y="32"/>
                        <a:pt x="32" y="22735"/>
                        <a:pt x="0" y="50750"/>
                      </a:cubicBezTo>
                      <a:cubicBezTo>
                        <a:pt x="0" y="108049"/>
                        <a:pt x="84958" y="154429"/>
                        <a:pt x="88576" y="156344"/>
                      </a:cubicBezTo>
                      <a:cubicBezTo>
                        <a:pt x="90513" y="157386"/>
                        <a:pt x="92843" y="157386"/>
                        <a:pt x="94780" y="156344"/>
                      </a:cubicBezTo>
                      <a:cubicBezTo>
                        <a:pt x="98398" y="154429"/>
                        <a:pt x="183356" y="108049"/>
                        <a:pt x="183356" y="50750"/>
                      </a:cubicBezTo>
                      <a:cubicBezTo>
                        <a:pt x="183325" y="22735"/>
                        <a:pt x="160621" y="32"/>
                        <a:pt x="132606" y="0"/>
                      </a:cubicBezTo>
                      <a:close/>
                      <a:moveTo>
                        <a:pt x="91678" y="143083"/>
                      </a:moveTo>
                      <a:cubicBezTo>
                        <a:pt x="76731" y="134374"/>
                        <a:pt x="13097" y="94699"/>
                        <a:pt x="13097" y="50750"/>
                      </a:cubicBezTo>
                      <a:cubicBezTo>
                        <a:pt x="13124" y="29966"/>
                        <a:pt x="29966" y="13124"/>
                        <a:pt x="50750" y="13097"/>
                      </a:cubicBezTo>
                      <a:cubicBezTo>
                        <a:pt x="66671" y="13097"/>
                        <a:pt x="80038" y="21577"/>
                        <a:pt x="85621" y="35198"/>
                      </a:cubicBezTo>
                      <a:cubicBezTo>
                        <a:pt x="86630" y="37654"/>
                        <a:pt x="89023" y="39258"/>
                        <a:pt x="91678" y="39258"/>
                      </a:cubicBezTo>
                      <a:cubicBezTo>
                        <a:pt x="94334" y="39258"/>
                        <a:pt x="96726" y="37654"/>
                        <a:pt x="97735" y="35198"/>
                      </a:cubicBezTo>
                      <a:cubicBezTo>
                        <a:pt x="103318" y="21553"/>
                        <a:pt x="116685" y="13097"/>
                        <a:pt x="132606" y="13097"/>
                      </a:cubicBezTo>
                      <a:cubicBezTo>
                        <a:pt x="153390" y="13124"/>
                        <a:pt x="170232" y="29966"/>
                        <a:pt x="170259" y="50750"/>
                      </a:cubicBezTo>
                      <a:cubicBezTo>
                        <a:pt x="170259" y="94633"/>
                        <a:pt x="106609" y="134366"/>
                        <a:pt x="91678" y="143083"/>
                      </a:cubicBezTo>
                      <a:close/>
                    </a:path>
                  </a:pathLst>
                </a:custGeom>
                <a:solidFill>
                  <a:schemeClr val="accent1"/>
                </a:solidFill>
                <a:ln>
                  <a:noFill/>
                </a:ln>
              </p:spPr>
            </p:sp>
          </p:grpSp>
          <p:sp>
            <p:nvSpPr>
              <p:cNvPr id="23" name="TextBox 23"/>
              <p:cNvSpPr txBox="1"/>
              <p:nvPr/>
            </p:nvSpPr>
            <p:spPr>
              <a:xfrm>
                <a:off x="926973" y="3824764"/>
                <a:ext cx="1819194" cy="249364"/>
              </a:xfrm>
              <a:prstGeom prst="rect">
                <a:avLst/>
              </a:prstGeom>
              <a:noFill/>
              <a:ln>
                <a:noFill/>
              </a:ln>
            </p:spPr>
            <p:txBody>
              <a:bodyPr wrap="none" lIns="0" tIns="0" rIns="0" bIns="0" anchor="t" anchorCtr="0">
                <a:spAutoFit/>
              </a:bodyPr>
              <a:lstStyle/>
              <a:p>
                <a:pPr algn="l"/>
                <a:r>
                  <a:rPr lang="en" sz="1280" b="1" dirty="0">
                    <a:solidFill>
                      <a:schemeClr val="accent1"/>
                    </a:solidFill>
                    <a:latin typeface="+mn-lt"/>
                    <a:ea typeface="+mn-ea"/>
                    <a:cs typeface="+mn-cs"/>
                  </a:rPr>
                  <a:t>Heart-rate evidence</a:t>
                </a:r>
              </a:p>
            </p:txBody>
          </p:sp>
        </p:grpSp>
        <p:sp>
          <p:nvSpPr>
            <p:cNvPr id="25" name="Line 25"/>
            <p:cNvSpPr/>
            <p:nvPr/>
          </p:nvSpPr>
          <p:spPr>
            <a:xfrm>
              <a:off x="609600" y="4210050"/>
              <a:ext cx="2819400" cy="9525"/>
            </a:xfrm>
            <a:custGeom>
              <a:avLst/>
              <a:gdLst/>
              <a:ahLst/>
              <a:cxnLst/>
              <a:rect l="l" t="t" r="r" b="b"/>
              <a:pathLst>
                <a:path w="2819400" h="9525">
                  <a:moveTo>
                    <a:pt x="0" y="0"/>
                  </a:moveTo>
                  <a:lnTo>
                    <a:pt x="2819400" y="0"/>
                  </a:lnTo>
                </a:path>
              </a:pathLst>
            </a:custGeom>
            <a:noFill/>
            <a:ln w="9525">
              <a:solidFill>
                <a:schemeClr val="accent6"/>
              </a:solidFill>
            </a:ln>
          </p:spPr>
        </p:sp>
        <p:grpSp>
          <p:nvGrpSpPr>
            <p:cNvPr id="30" name="Group 30"/>
            <p:cNvGrpSpPr/>
            <p:nvPr/>
          </p:nvGrpSpPr>
          <p:grpSpPr>
            <a:xfrm>
              <a:off x="629245" y="4734520"/>
              <a:ext cx="1863465" cy="254008"/>
              <a:chOff x="629245" y="4734520"/>
              <a:chExt cx="1863465" cy="254008"/>
            </a:xfrm>
          </p:grpSpPr>
          <p:grpSp>
            <p:nvGrpSpPr>
              <p:cNvPr id="28" name="Group 28"/>
              <p:cNvGrpSpPr/>
              <p:nvPr/>
            </p:nvGrpSpPr>
            <p:grpSpPr>
              <a:xfrm>
                <a:off x="629245" y="4734520"/>
                <a:ext cx="170259" cy="170259"/>
                <a:chOff x="629245" y="4734520"/>
                <a:chExt cx="170259" cy="170259"/>
              </a:xfrm>
            </p:grpSpPr>
            <p:sp>
              <p:nvSpPr>
                <p:cNvPr id="26" name="Freeform 26"/>
                <p:cNvSpPr/>
                <p:nvPr/>
              </p:nvSpPr>
              <p:spPr>
                <a:xfrm>
                  <a:off x="635794" y="4741069"/>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chemeClr val="accent1">
                    <a:alpha val="20000"/>
                  </a:schemeClr>
                </a:solidFill>
                <a:ln>
                  <a:noFill/>
                </a:ln>
              </p:spPr>
            </p:sp>
            <p:sp>
              <p:nvSpPr>
                <p:cNvPr id="27" name="Freeform 27"/>
                <p:cNvSpPr/>
                <p:nvPr/>
              </p:nvSpPr>
              <p:spPr>
                <a:xfrm>
                  <a:off x="629245" y="4734520"/>
                  <a:ext cx="170259" cy="170259"/>
                </a:xfrm>
                <a:custGeom>
                  <a:avLst/>
                  <a:gdLst/>
                  <a:ahLst/>
                  <a:cxnLst/>
                  <a:rect l="l" t="t" r="r" b="b"/>
                  <a:pathLst>
                    <a:path w="170259" h="170259">
                      <a:moveTo>
                        <a:pt x="85130" y="0"/>
                      </a:moveTo>
                      <a:cubicBezTo>
                        <a:pt x="38114" y="0"/>
                        <a:pt x="0" y="38114"/>
                        <a:pt x="0" y="85130"/>
                      </a:cubicBezTo>
                      <a:cubicBezTo>
                        <a:pt x="0" y="132146"/>
                        <a:pt x="38114" y="170259"/>
                        <a:pt x="85130" y="170259"/>
                      </a:cubicBezTo>
                      <a:cubicBezTo>
                        <a:pt x="132146" y="170259"/>
                        <a:pt x="170259" y="132146"/>
                        <a:pt x="170259" y="85130"/>
                      </a:cubicBezTo>
                      <a:cubicBezTo>
                        <a:pt x="170210" y="38134"/>
                        <a:pt x="132125" y="50"/>
                        <a:pt x="85130" y="0"/>
                      </a:cubicBezTo>
                      <a:close/>
                      <a:moveTo>
                        <a:pt x="85130" y="157162"/>
                      </a:moveTo>
                      <a:cubicBezTo>
                        <a:pt x="45347" y="157162"/>
                        <a:pt x="13097" y="124912"/>
                        <a:pt x="13097" y="85130"/>
                      </a:cubicBezTo>
                      <a:cubicBezTo>
                        <a:pt x="13097" y="45347"/>
                        <a:pt x="45347" y="13097"/>
                        <a:pt x="85130" y="13097"/>
                      </a:cubicBezTo>
                      <a:cubicBezTo>
                        <a:pt x="124912" y="13097"/>
                        <a:pt x="157162" y="45347"/>
                        <a:pt x="157162" y="85130"/>
                      </a:cubicBezTo>
                      <a:cubicBezTo>
                        <a:pt x="157117" y="124894"/>
                        <a:pt x="124894" y="157117"/>
                        <a:pt x="85130" y="157162"/>
                      </a:cubicBezTo>
                      <a:close/>
                      <a:moveTo>
                        <a:pt x="137517" y="85130"/>
                      </a:moveTo>
                      <a:cubicBezTo>
                        <a:pt x="137517" y="88746"/>
                        <a:pt x="134585" y="91678"/>
                        <a:pt x="130969" y="91678"/>
                      </a:cubicBezTo>
                      <a:lnTo>
                        <a:pt x="85130" y="91678"/>
                      </a:lnTo>
                      <a:cubicBezTo>
                        <a:pt x="81513" y="91678"/>
                        <a:pt x="78581" y="88746"/>
                        <a:pt x="78581" y="85130"/>
                      </a:cubicBezTo>
                      <a:lnTo>
                        <a:pt x="78581" y="39291"/>
                      </a:lnTo>
                      <a:cubicBezTo>
                        <a:pt x="78581" y="35674"/>
                        <a:pt x="81513" y="32742"/>
                        <a:pt x="85130" y="32742"/>
                      </a:cubicBezTo>
                      <a:cubicBezTo>
                        <a:pt x="88746" y="32742"/>
                        <a:pt x="91678" y="35674"/>
                        <a:pt x="91678" y="39291"/>
                      </a:cubicBezTo>
                      <a:lnTo>
                        <a:pt x="91678" y="78581"/>
                      </a:lnTo>
                      <a:lnTo>
                        <a:pt x="130969" y="78581"/>
                      </a:lnTo>
                      <a:cubicBezTo>
                        <a:pt x="134585" y="78581"/>
                        <a:pt x="137517" y="81513"/>
                        <a:pt x="137517" y="85130"/>
                      </a:cubicBezTo>
                      <a:close/>
                    </a:path>
                  </a:pathLst>
                </a:custGeom>
                <a:solidFill>
                  <a:schemeClr val="accent1"/>
                </a:solidFill>
                <a:ln>
                  <a:noFill/>
                </a:ln>
              </p:spPr>
            </p:sp>
          </p:grpSp>
          <p:sp>
            <p:nvSpPr>
              <p:cNvPr id="29" name="TextBox 29"/>
              <p:cNvSpPr txBox="1"/>
              <p:nvPr/>
            </p:nvSpPr>
            <p:spPr>
              <a:xfrm>
                <a:off x="926973" y="4739164"/>
                <a:ext cx="1565737" cy="249364"/>
              </a:xfrm>
              <a:prstGeom prst="rect">
                <a:avLst/>
              </a:prstGeom>
              <a:noFill/>
              <a:ln>
                <a:noFill/>
              </a:ln>
            </p:spPr>
            <p:txBody>
              <a:bodyPr wrap="none" lIns="0" tIns="0" rIns="0" bIns="0" anchor="t" anchorCtr="0">
                <a:spAutoFit/>
              </a:bodyPr>
              <a:lstStyle/>
              <a:p>
                <a:pPr algn="l"/>
                <a:r>
                  <a:rPr lang="en" sz="1280" b="1" dirty="0">
                    <a:solidFill>
                      <a:schemeClr val="accent1"/>
                    </a:solidFill>
                    <a:latin typeface="+mn-lt"/>
                    <a:ea typeface="+mn-ea"/>
                    <a:cs typeface="+mn-cs"/>
                  </a:rPr>
                  <a:t>Sensor freshness</a:t>
                </a:r>
              </a:p>
            </p:txBody>
          </p:sp>
        </p:grpSp>
      </p:grpSp>
      <p:grpSp>
        <p:nvGrpSpPr>
          <p:cNvPr id="51" name="Group 51"/>
          <p:cNvGrpSpPr/>
          <p:nvPr/>
        </p:nvGrpSpPr>
        <p:grpSpPr>
          <a:xfrm>
            <a:off x="3429000" y="2076450"/>
            <a:ext cx="2609850" cy="2752725"/>
            <a:chOff x="3429000" y="2076450"/>
            <a:chExt cx="2609850" cy="2752725"/>
          </a:xfrm>
        </p:grpSpPr>
        <p:sp>
          <p:nvSpPr>
            <p:cNvPr id="32" name="TextBox 32"/>
            <p:cNvSpPr txBox="1"/>
            <p:nvPr/>
          </p:nvSpPr>
          <p:spPr>
            <a:xfrm>
              <a:off x="4196530" y="2912745"/>
              <a:ext cx="1131941" cy="176212"/>
            </a:xfrm>
            <a:prstGeom prst="rect">
              <a:avLst/>
            </a:prstGeom>
            <a:noFill/>
            <a:ln>
              <a:noFill/>
            </a:ln>
          </p:spPr>
          <p:txBody>
            <a:bodyPr wrap="none" lIns="0" tIns="0" rIns="0" bIns="0" anchor="t" anchorCtr="0">
              <a:spAutoFit/>
            </a:bodyPr>
            <a:lstStyle/>
            <a:p>
              <a:pPr algn="ctr"/>
              <a:r>
                <a:rPr lang="en" sz="900" spc="112" dirty="0">
                  <a:solidFill>
                    <a:schemeClr val="accent5"/>
                  </a:solidFill>
                  <a:latin typeface="+mn-lt"/>
                  <a:ea typeface="+mn-ea"/>
                  <a:cs typeface="+mn-cs"/>
                </a:rPr>
                <a:t>DECISION LAYER</a:t>
              </a:r>
            </a:p>
          </p:txBody>
        </p:sp>
        <p:grpSp>
          <p:nvGrpSpPr>
            <p:cNvPr id="39" name="Group 39"/>
            <p:cNvGrpSpPr/>
            <p:nvPr/>
          </p:nvGrpSpPr>
          <p:grpSpPr>
            <a:xfrm>
              <a:off x="3771900" y="3143250"/>
              <a:ext cx="1981200" cy="1143000"/>
              <a:chOff x="3771900" y="3143250"/>
              <a:chExt cx="1981200" cy="1143000"/>
            </a:xfrm>
          </p:grpSpPr>
          <p:sp>
            <p:nvSpPr>
              <p:cNvPr id="33" name="Rectangle 33"/>
              <p:cNvSpPr/>
              <p:nvPr/>
            </p:nvSpPr>
            <p:spPr>
              <a:xfrm>
                <a:off x="3771900" y="3143250"/>
                <a:ext cx="1981200" cy="1143000"/>
              </a:xfrm>
              <a:prstGeom prst="roundRect">
                <a:avLst>
                  <a:gd name="adj" fmla="val 3333"/>
                </a:avLst>
              </a:prstGeom>
              <a:solidFill>
                <a:srgbClr val="FFFFFF"/>
              </a:solidFill>
              <a:ln w="14288">
                <a:solidFill>
                  <a:schemeClr val="accent1"/>
                </a:solidFill>
              </a:ln>
            </p:spPr>
          </p:sp>
          <p:grpSp>
            <p:nvGrpSpPr>
              <p:cNvPr id="36" name="Group 36"/>
              <p:cNvGrpSpPr/>
              <p:nvPr/>
            </p:nvGrpSpPr>
            <p:grpSpPr>
              <a:xfrm>
                <a:off x="4645812" y="3348038"/>
                <a:ext cx="233376" cy="200025"/>
                <a:chOff x="4645812" y="3348038"/>
                <a:chExt cx="233376" cy="200025"/>
              </a:xfrm>
            </p:grpSpPr>
            <p:sp>
              <p:nvSpPr>
                <p:cNvPr id="34" name="Freeform 34"/>
                <p:cNvSpPr/>
                <p:nvPr/>
              </p:nvSpPr>
              <p:spPr>
                <a:xfrm>
                  <a:off x="4654153" y="3373041"/>
                  <a:ext cx="216694" cy="141684"/>
                </a:xfrm>
                <a:custGeom>
                  <a:avLst/>
                  <a:gdLst/>
                  <a:ahLst/>
                  <a:cxnLst/>
                  <a:rect l="l" t="t" r="r" b="b"/>
                  <a:pathLst>
                    <a:path w="216694" h="141684">
                      <a:moveTo>
                        <a:pt x="33338" y="33338"/>
                      </a:moveTo>
                      <a:lnTo>
                        <a:pt x="66675" y="116681"/>
                      </a:lnTo>
                      <a:cubicBezTo>
                        <a:pt x="66675" y="135090"/>
                        <a:pt x="45839" y="141684"/>
                        <a:pt x="33338" y="141684"/>
                      </a:cubicBezTo>
                      <a:cubicBezTo>
                        <a:pt x="20836" y="141684"/>
                        <a:pt x="0" y="135090"/>
                        <a:pt x="0" y="116681"/>
                      </a:cubicBezTo>
                      <a:close/>
                      <a:moveTo>
                        <a:pt x="183356" y="0"/>
                      </a:moveTo>
                      <a:lnTo>
                        <a:pt x="150019" y="83344"/>
                      </a:lnTo>
                      <a:cubicBezTo>
                        <a:pt x="150019" y="101752"/>
                        <a:pt x="170855" y="108347"/>
                        <a:pt x="183356" y="108347"/>
                      </a:cubicBezTo>
                      <a:cubicBezTo>
                        <a:pt x="195858" y="108347"/>
                        <a:pt x="216694" y="101752"/>
                        <a:pt x="216694" y="83344"/>
                      </a:cubicBezTo>
                      <a:close/>
                    </a:path>
                  </a:pathLst>
                </a:custGeom>
                <a:solidFill>
                  <a:schemeClr val="accent1">
                    <a:alpha val="20000"/>
                  </a:schemeClr>
                </a:solidFill>
                <a:ln>
                  <a:noFill/>
                </a:ln>
              </p:spPr>
            </p:sp>
            <p:sp>
              <p:nvSpPr>
                <p:cNvPr id="35" name="Freeform 35"/>
                <p:cNvSpPr/>
                <p:nvPr/>
              </p:nvSpPr>
              <p:spPr>
                <a:xfrm>
                  <a:off x="4645812" y="3348038"/>
                  <a:ext cx="233376" cy="200025"/>
                </a:xfrm>
                <a:custGeom>
                  <a:avLst/>
                  <a:gdLst/>
                  <a:ahLst/>
                  <a:cxnLst/>
                  <a:rect l="l" t="t" r="r" b="b"/>
                  <a:pathLst>
                    <a:path w="233376" h="200025">
                      <a:moveTo>
                        <a:pt x="232775" y="105221"/>
                      </a:moveTo>
                      <a:lnTo>
                        <a:pt x="199438" y="21878"/>
                      </a:lnTo>
                      <a:lnTo>
                        <a:pt x="199438" y="21878"/>
                      </a:lnTo>
                      <a:cubicBezTo>
                        <a:pt x="197922" y="18086"/>
                        <a:pt x="193882" y="15951"/>
                        <a:pt x="189895" y="16835"/>
                      </a:cubicBezTo>
                      <a:lnTo>
                        <a:pt x="125022" y="31254"/>
                      </a:lnTo>
                      <a:lnTo>
                        <a:pt x="125022" y="8334"/>
                      </a:lnTo>
                      <a:cubicBezTo>
                        <a:pt x="125022" y="3731"/>
                        <a:pt x="121291" y="0"/>
                        <a:pt x="116688" y="0"/>
                      </a:cubicBezTo>
                      <a:cubicBezTo>
                        <a:pt x="112085" y="0"/>
                        <a:pt x="108354" y="3731"/>
                        <a:pt x="108354" y="8334"/>
                      </a:cubicBezTo>
                      <a:lnTo>
                        <a:pt x="108354" y="34984"/>
                      </a:lnTo>
                      <a:lnTo>
                        <a:pt x="39866" y="50204"/>
                      </a:lnTo>
                      <a:cubicBezTo>
                        <a:pt x="37185" y="50796"/>
                        <a:pt x="34968" y="52671"/>
                        <a:pt x="33938" y="55215"/>
                      </a:cubicBezTo>
                      <a:lnTo>
                        <a:pt x="33938" y="55215"/>
                      </a:lnTo>
                      <a:lnTo>
                        <a:pt x="33938" y="55278"/>
                      </a:lnTo>
                      <a:lnTo>
                        <a:pt x="600" y="138559"/>
                      </a:lnTo>
                      <a:cubicBezTo>
                        <a:pt x="202" y="139552"/>
                        <a:pt x="0" y="140614"/>
                        <a:pt x="7" y="141684"/>
                      </a:cubicBezTo>
                      <a:cubicBezTo>
                        <a:pt x="7" y="165969"/>
                        <a:pt x="25572" y="175022"/>
                        <a:pt x="41679" y="175022"/>
                      </a:cubicBezTo>
                      <a:cubicBezTo>
                        <a:pt x="57785" y="175022"/>
                        <a:pt x="83350" y="165969"/>
                        <a:pt x="83350" y="141684"/>
                      </a:cubicBezTo>
                      <a:cubicBezTo>
                        <a:pt x="83357" y="140614"/>
                        <a:pt x="83155" y="139552"/>
                        <a:pt x="82757" y="138559"/>
                      </a:cubicBezTo>
                      <a:lnTo>
                        <a:pt x="53055" y="64352"/>
                      </a:lnTo>
                      <a:lnTo>
                        <a:pt x="108354" y="52090"/>
                      </a:lnTo>
                      <a:lnTo>
                        <a:pt x="108354" y="183356"/>
                      </a:lnTo>
                      <a:lnTo>
                        <a:pt x="91685" y="183356"/>
                      </a:lnTo>
                      <a:cubicBezTo>
                        <a:pt x="87082" y="183356"/>
                        <a:pt x="83350" y="187088"/>
                        <a:pt x="83350" y="191691"/>
                      </a:cubicBezTo>
                      <a:cubicBezTo>
                        <a:pt x="83350" y="196294"/>
                        <a:pt x="87082" y="200025"/>
                        <a:pt x="91685" y="200025"/>
                      </a:cubicBezTo>
                      <a:lnTo>
                        <a:pt x="141691" y="200025"/>
                      </a:lnTo>
                      <a:cubicBezTo>
                        <a:pt x="146294" y="200025"/>
                        <a:pt x="150025" y="196294"/>
                        <a:pt x="150025" y="191691"/>
                      </a:cubicBezTo>
                      <a:cubicBezTo>
                        <a:pt x="150025" y="187088"/>
                        <a:pt x="146294" y="183356"/>
                        <a:pt x="141691" y="183356"/>
                      </a:cubicBezTo>
                      <a:lnTo>
                        <a:pt x="125022" y="183356"/>
                      </a:lnTo>
                      <a:lnTo>
                        <a:pt x="125022" y="48360"/>
                      </a:lnTo>
                      <a:lnTo>
                        <a:pt x="178154" y="36567"/>
                      </a:lnTo>
                      <a:lnTo>
                        <a:pt x="150619" y="105221"/>
                      </a:lnTo>
                      <a:cubicBezTo>
                        <a:pt x="150220" y="106215"/>
                        <a:pt x="150019" y="107276"/>
                        <a:pt x="150025" y="108347"/>
                      </a:cubicBezTo>
                      <a:cubicBezTo>
                        <a:pt x="150025" y="132631"/>
                        <a:pt x="175591" y="141684"/>
                        <a:pt x="191697" y="141684"/>
                      </a:cubicBezTo>
                      <a:cubicBezTo>
                        <a:pt x="207803" y="141684"/>
                        <a:pt x="233369" y="132631"/>
                        <a:pt x="233369" y="108347"/>
                      </a:cubicBezTo>
                      <a:cubicBezTo>
                        <a:pt x="233376" y="107276"/>
                        <a:pt x="233174" y="106215"/>
                        <a:pt x="232775" y="105221"/>
                      </a:cubicBezTo>
                      <a:close/>
                      <a:moveTo>
                        <a:pt x="41679" y="158353"/>
                      </a:moveTo>
                      <a:cubicBezTo>
                        <a:pt x="33834" y="158353"/>
                        <a:pt x="17967" y="154592"/>
                        <a:pt x="16748" y="143101"/>
                      </a:cubicBezTo>
                      <a:lnTo>
                        <a:pt x="41679" y="80781"/>
                      </a:lnTo>
                      <a:lnTo>
                        <a:pt x="66609" y="143101"/>
                      </a:lnTo>
                      <a:cubicBezTo>
                        <a:pt x="65390" y="154592"/>
                        <a:pt x="49523" y="158353"/>
                        <a:pt x="41679" y="158353"/>
                      </a:cubicBezTo>
                      <a:close/>
                      <a:moveTo>
                        <a:pt x="191697" y="125016"/>
                      </a:moveTo>
                      <a:cubicBezTo>
                        <a:pt x="183853" y="125016"/>
                        <a:pt x="167986" y="121255"/>
                        <a:pt x="166767" y="109764"/>
                      </a:cubicBezTo>
                      <a:lnTo>
                        <a:pt x="191697" y="47443"/>
                      </a:lnTo>
                      <a:lnTo>
                        <a:pt x="216627" y="109764"/>
                      </a:lnTo>
                      <a:cubicBezTo>
                        <a:pt x="215409" y="121255"/>
                        <a:pt x="199542" y="125016"/>
                        <a:pt x="191697" y="125016"/>
                      </a:cubicBezTo>
                      <a:close/>
                    </a:path>
                  </a:pathLst>
                </a:custGeom>
                <a:solidFill>
                  <a:schemeClr val="accent1"/>
                </a:solidFill>
                <a:ln>
                  <a:noFill/>
                </a:ln>
              </p:spPr>
            </p:sp>
          </p:grpSp>
          <p:sp>
            <p:nvSpPr>
              <p:cNvPr id="37" name="TextBox 37"/>
              <p:cNvSpPr txBox="1"/>
              <p:nvPr/>
            </p:nvSpPr>
            <p:spPr>
              <a:xfrm>
                <a:off x="4338599" y="3726656"/>
                <a:ext cx="847801" cy="220028"/>
              </a:xfrm>
              <a:prstGeom prst="rect">
                <a:avLst/>
              </a:prstGeom>
              <a:noFill/>
              <a:ln>
                <a:noFill/>
              </a:ln>
            </p:spPr>
            <p:txBody>
              <a:bodyPr wrap="none" lIns="0" tIns="0" rIns="0" bIns="0" anchor="t" anchorCtr="0">
                <a:spAutoFit/>
              </a:bodyPr>
              <a:lstStyle/>
              <a:p>
                <a:pPr algn="ctr"/>
                <a:r>
                  <a:rPr lang="en" sz="1120" b="1" dirty="0">
                    <a:solidFill>
                      <a:schemeClr val="accent1"/>
                    </a:solidFill>
                    <a:latin typeface="+mn-lt"/>
                    <a:ea typeface="+mn-ea"/>
                    <a:cs typeface="+mn-cs"/>
                  </a:rPr>
                  <a:t>Rule-based</a:t>
                </a:r>
              </a:p>
            </p:txBody>
          </p:sp>
          <p:sp>
            <p:nvSpPr>
              <p:cNvPr id="38" name="TextBox 38"/>
              <p:cNvSpPr txBox="1"/>
              <p:nvPr/>
            </p:nvSpPr>
            <p:spPr>
              <a:xfrm>
                <a:off x="4083954" y="3917156"/>
                <a:ext cx="1357092" cy="220028"/>
              </a:xfrm>
              <a:prstGeom prst="rect">
                <a:avLst/>
              </a:prstGeom>
              <a:noFill/>
              <a:ln>
                <a:noFill/>
              </a:ln>
            </p:spPr>
            <p:txBody>
              <a:bodyPr wrap="none" lIns="0" tIns="0" rIns="0" bIns="0" anchor="t" anchorCtr="0">
                <a:spAutoFit/>
              </a:bodyPr>
              <a:lstStyle/>
              <a:p>
                <a:pPr algn="ctr"/>
                <a:r>
                  <a:rPr lang="en" sz="1120" b="1" dirty="0">
                    <a:solidFill>
                      <a:schemeClr val="accent1"/>
                    </a:solidFill>
                    <a:latin typeface="+mn-lt"/>
                    <a:ea typeface="+mn-ea"/>
                    <a:cs typeface="+mn-cs"/>
                  </a:rPr>
                  <a:t>multimodal fusion</a:t>
                </a:r>
              </a:p>
            </p:txBody>
          </p:sp>
        </p:grpSp>
        <p:grpSp>
          <p:nvGrpSpPr>
            <p:cNvPr id="47" name="Group 47"/>
            <p:cNvGrpSpPr/>
            <p:nvPr/>
          </p:nvGrpSpPr>
          <p:grpSpPr>
            <a:xfrm>
              <a:off x="3429000" y="2076450"/>
              <a:ext cx="323850" cy="2752725"/>
              <a:chOff x="3429000" y="2076450"/>
              <a:chExt cx="323850" cy="2752725"/>
            </a:xfrm>
          </p:grpSpPr>
          <p:sp>
            <p:nvSpPr>
              <p:cNvPr id="40" name="Line 40"/>
              <p:cNvSpPr/>
              <p:nvPr/>
            </p:nvSpPr>
            <p:spPr>
              <a:xfrm>
                <a:off x="3429000" y="2076450"/>
                <a:ext cx="190500" cy="9525"/>
              </a:xfrm>
              <a:custGeom>
                <a:avLst/>
                <a:gdLst/>
                <a:ahLst/>
                <a:cxnLst/>
                <a:rect l="l" t="t" r="r" b="b"/>
                <a:pathLst>
                  <a:path w="190500" h="9525">
                    <a:moveTo>
                      <a:pt x="0" y="0"/>
                    </a:moveTo>
                    <a:lnTo>
                      <a:pt x="190500" y="0"/>
                    </a:lnTo>
                  </a:path>
                </a:pathLst>
              </a:custGeom>
              <a:noFill/>
              <a:ln w="14288">
                <a:solidFill>
                  <a:schemeClr val="accent2"/>
                </a:solidFill>
              </a:ln>
            </p:spPr>
          </p:sp>
          <p:sp>
            <p:nvSpPr>
              <p:cNvPr id="41" name="Line 41"/>
              <p:cNvSpPr/>
              <p:nvPr/>
            </p:nvSpPr>
            <p:spPr>
              <a:xfrm>
                <a:off x="3429000" y="2990850"/>
                <a:ext cx="190500" cy="9525"/>
              </a:xfrm>
              <a:custGeom>
                <a:avLst/>
                <a:gdLst/>
                <a:ahLst/>
                <a:cxnLst/>
                <a:rect l="l" t="t" r="r" b="b"/>
                <a:pathLst>
                  <a:path w="190500" h="9525">
                    <a:moveTo>
                      <a:pt x="0" y="0"/>
                    </a:moveTo>
                    <a:lnTo>
                      <a:pt x="190500" y="0"/>
                    </a:lnTo>
                  </a:path>
                </a:pathLst>
              </a:custGeom>
              <a:noFill/>
              <a:ln w="14288">
                <a:solidFill>
                  <a:schemeClr val="accent2"/>
                </a:solidFill>
              </a:ln>
            </p:spPr>
          </p:sp>
          <p:sp>
            <p:nvSpPr>
              <p:cNvPr id="42" name="Line 42"/>
              <p:cNvSpPr/>
              <p:nvPr/>
            </p:nvSpPr>
            <p:spPr>
              <a:xfrm>
                <a:off x="3429000" y="3905250"/>
                <a:ext cx="190500" cy="9525"/>
              </a:xfrm>
              <a:custGeom>
                <a:avLst/>
                <a:gdLst/>
                <a:ahLst/>
                <a:cxnLst/>
                <a:rect l="l" t="t" r="r" b="b"/>
                <a:pathLst>
                  <a:path w="190500" h="9525">
                    <a:moveTo>
                      <a:pt x="0" y="0"/>
                    </a:moveTo>
                    <a:lnTo>
                      <a:pt x="190500" y="0"/>
                    </a:lnTo>
                  </a:path>
                </a:pathLst>
              </a:custGeom>
              <a:noFill/>
              <a:ln w="14288">
                <a:solidFill>
                  <a:schemeClr val="accent2"/>
                </a:solidFill>
              </a:ln>
            </p:spPr>
          </p:sp>
          <p:sp>
            <p:nvSpPr>
              <p:cNvPr id="43" name="Line 43"/>
              <p:cNvSpPr/>
              <p:nvPr/>
            </p:nvSpPr>
            <p:spPr>
              <a:xfrm>
                <a:off x="3429000" y="4819650"/>
                <a:ext cx="190500" cy="9525"/>
              </a:xfrm>
              <a:custGeom>
                <a:avLst/>
                <a:gdLst/>
                <a:ahLst/>
                <a:cxnLst/>
                <a:rect l="l" t="t" r="r" b="b"/>
                <a:pathLst>
                  <a:path w="190500" h="9525">
                    <a:moveTo>
                      <a:pt x="0" y="0"/>
                    </a:moveTo>
                    <a:lnTo>
                      <a:pt x="190500" y="0"/>
                    </a:lnTo>
                  </a:path>
                </a:pathLst>
              </a:custGeom>
              <a:noFill/>
              <a:ln w="14288">
                <a:solidFill>
                  <a:schemeClr val="accent2"/>
                </a:solidFill>
              </a:ln>
            </p:spPr>
          </p:sp>
          <p:sp>
            <p:nvSpPr>
              <p:cNvPr id="44" name="Line 44"/>
              <p:cNvSpPr/>
              <p:nvPr/>
            </p:nvSpPr>
            <p:spPr>
              <a:xfrm>
                <a:off x="3619500" y="2076450"/>
                <a:ext cx="9525" cy="2743200"/>
              </a:xfrm>
              <a:custGeom>
                <a:avLst/>
                <a:gdLst/>
                <a:ahLst/>
                <a:cxnLst/>
                <a:rect l="l" t="t" r="r" b="b"/>
                <a:pathLst>
                  <a:path w="9525" h="2743200">
                    <a:moveTo>
                      <a:pt x="0" y="0"/>
                    </a:moveTo>
                    <a:lnTo>
                      <a:pt x="0" y="2743200"/>
                    </a:lnTo>
                  </a:path>
                </a:pathLst>
              </a:custGeom>
              <a:noFill/>
              <a:ln w="14288">
                <a:solidFill>
                  <a:schemeClr val="accent2"/>
                </a:solidFill>
              </a:ln>
            </p:spPr>
          </p:sp>
          <p:sp>
            <p:nvSpPr>
              <p:cNvPr id="45" name="Ellipse 45"/>
              <p:cNvSpPr/>
              <p:nvPr/>
            </p:nvSpPr>
            <p:spPr>
              <a:xfrm>
                <a:off x="3590925" y="3686175"/>
                <a:ext cx="57150" cy="57150"/>
              </a:xfrm>
              <a:prstGeom prst="ellipse">
                <a:avLst/>
              </a:prstGeom>
              <a:solidFill>
                <a:schemeClr val="accent2"/>
              </a:solidFill>
              <a:ln>
                <a:noFill/>
              </a:ln>
            </p:spPr>
          </p:sp>
          <p:sp>
            <p:nvSpPr>
              <p:cNvPr id="46" name="Line 46"/>
              <p:cNvSpPr/>
              <p:nvPr/>
            </p:nvSpPr>
            <p:spPr>
              <a:xfrm>
                <a:off x="3648075" y="3714750"/>
                <a:ext cx="104775" cy="1"/>
              </a:xfrm>
              <a:prstGeom prst="line">
                <a:avLst/>
              </a:prstGeom>
              <a:noFill/>
              <a:ln w="14288">
                <a:solidFill>
                  <a:schemeClr val="accent2"/>
                </a:solidFill>
                <a:tailEnd type="triangle" w="lg" len="lg"/>
              </a:ln>
            </p:spPr>
          </p:sp>
        </p:grpSp>
        <p:sp>
          <p:nvSpPr>
            <p:cNvPr id="48" name="Line 48"/>
            <p:cNvSpPr/>
            <p:nvPr/>
          </p:nvSpPr>
          <p:spPr>
            <a:xfrm flipV="1">
              <a:off x="5772150" y="2305050"/>
              <a:ext cx="266700" cy="1123950"/>
            </a:xfrm>
            <a:prstGeom prst="line">
              <a:avLst/>
            </a:prstGeom>
            <a:noFill/>
            <a:ln w="14288">
              <a:solidFill>
                <a:schemeClr val="accent3"/>
              </a:solidFill>
              <a:tailEnd type="triangle" w="lg" len="lg"/>
            </a:ln>
          </p:spPr>
        </p:sp>
        <p:sp>
          <p:nvSpPr>
            <p:cNvPr id="49" name="Line 49"/>
            <p:cNvSpPr/>
            <p:nvPr/>
          </p:nvSpPr>
          <p:spPr>
            <a:xfrm flipV="1">
              <a:off x="5772150" y="3295650"/>
              <a:ext cx="266700" cy="419100"/>
            </a:xfrm>
            <a:prstGeom prst="line">
              <a:avLst/>
            </a:prstGeom>
            <a:noFill/>
            <a:ln w="14288">
              <a:solidFill>
                <a:schemeClr val="accent2"/>
              </a:solidFill>
              <a:tailEnd type="triangle" w="lg" len="lg"/>
            </a:ln>
          </p:spPr>
        </p:sp>
        <p:sp>
          <p:nvSpPr>
            <p:cNvPr id="50" name="Line 50"/>
            <p:cNvSpPr/>
            <p:nvPr/>
          </p:nvSpPr>
          <p:spPr>
            <a:xfrm>
              <a:off x="5772150" y="4000500"/>
              <a:ext cx="266700" cy="285750"/>
            </a:xfrm>
            <a:prstGeom prst="line">
              <a:avLst/>
            </a:prstGeom>
            <a:noFill/>
            <a:ln w="14288">
              <a:solidFill>
                <a:srgbClr val="C4553B"/>
              </a:solidFill>
              <a:tailEnd type="triangle" w="lg" len="lg"/>
            </a:ln>
          </p:spPr>
        </p:sp>
      </p:grpSp>
      <p:grpSp>
        <p:nvGrpSpPr>
          <p:cNvPr id="71" name="Group 71"/>
          <p:cNvGrpSpPr/>
          <p:nvPr/>
        </p:nvGrpSpPr>
        <p:grpSpPr>
          <a:xfrm>
            <a:off x="6091238" y="1579245"/>
            <a:ext cx="5491162" cy="3107055"/>
            <a:chOff x="6091238" y="1579245"/>
            <a:chExt cx="5491162" cy="3107055"/>
          </a:xfrm>
        </p:grpSpPr>
        <p:sp>
          <p:nvSpPr>
            <p:cNvPr id="52" name="TextBox 52"/>
            <p:cNvSpPr txBox="1"/>
            <p:nvPr/>
          </p:nvSpPr>
          <p:spPr>
            <a:xfrm>
              <a:off x="6091238" y="1579245"/>
              <a:ext cx="991265" cy="176212"/>
            </a:xfrm>
            <a:prstGeom prst="rect">
              <a:avLst/>
            </a:prstGeom>
            <a:noFill/>
            <a:ln>
              <a:noFill/>
            </a:ln>
          </p:spPr>
          <p:txBody>
            <a:bodyPr wrap="none" lIns="0" tIns="0" rIns="0" bIns="0" anchor="t" anchorCtr="0">
              <a:spAutoFit/>
            </a:bodyPr>
            <a:lstStyle/>
            <a:p>
              <a:pPr algn="l"/>
              <a:r>
                <a:rPr lang="en" sz="900" spc="112" dirty="0">
                  <a:solidFill>
                    <a:schemeClr val="accent5"/>
                  </a:solidFill>
                  <a:latin typeface="+mn-lt"/>
                  <a:ea typeface="+mn-ea"/>
                  <a:cs typeface="+mn-cs"/>
                </a:rPr>
                <a:t>OUTPUT TIERS</a:t>
              </a:r>
            </a:p>
          </p:txBody>
        </p:sp>
        <p:grpSp>
          <p:nvGrpSpPr>
            <p:cNvPr id="57" name="Group 57"/>
            <p:cNvGrpSpPr/>
            <p:nvPr/>
          </p:nvGrpSpPr>
          <p:grpSpPr>
            <a:xfrm>
              <a:off x="6096000" y="1905000"/>
              <a:ext cx="5486400" cy="800100"/>
              <a:chOff x="6096000" y="1905000"/>
              <a:chExt cx="5486400" cy="800100"/>
            </a:xfrm>
          </p:grpSpPr>
          <p:sp>
            <p:nvSpPr>
              <p:cNvPr id="53" name="Rectangle 53"/>
              <p:cNvSpPr/>
              <p:nvPr/>
            </p:nvSpPr>
            <p:spPr>
              <a:xfrm>
                <a:off x="6096000" y="1905000"/>
                <a:ext cx="5486400" cy="800100"/>
              </a:xfrm>
              <a:prstGeom prst="roundRect">
                <a:avLst>
                  <a:gd name="adj" fmla="val 4762"/>
                </a:avLst>
              </a:prstGeom>
              <a:solidFill>
                <a:srgbClr val="FFFFFF"/>
              </a:solidFill>
              <a:ln w="14288">
                <a:solidFill>
                  <a:schemeClr val="accent3"/>
                </a:solidFill>
              </a:ln>
            </p:spPr>
          </p:sp>
          <p:sp>
            <p:nvSpPr>
              <p:cNvPr id="54" name="Rectangle 54"/>
              <p:cNvSpPr/>
              <p:nvPr/>
            </p:nvSpPr>
            <p:spPr>
              <a:xfrm>
                <a:off x="6096000" y="1905000"/>
                <a:ext cx="38100" cy="800100"/>
              </a:xfrm>
              <a:prstGeom prst="rect">
                <a:avLst/>
              </a:prstGeom>
              <a:solidFill>
                <a:schemeClr val="accent3"/>
              </a:solidFill>
              <a:ln>
                <a:noFill/>
              </a:ln>
            </p:spPr>
          </p:sp>
          <p:sp>
            <p:nvSpPr>
              <p:cNvPr id="55" name="TextBox 55"/>
              <p:cNvSpPr txBox="1"/>
              <p:nvPr/>
            </p:nvSpPr>
            <p:spPr>
              <a:xfrm>
                <a:off x="6356223" y="2091214"/>
                <a:ext cx="1429587" cy="249364"/>
              </a:xfrm>
              <a:prstGeom prst="rect">
                <a:avLst/>
              </a:prstGeom>
              <a:noFill/>
              <a:ln>
                <a:noFill/>
              </a:ln>
            </p:spPr>
            <p:txBody>
              <a:bodyPr wrap="none" lIns="0" tIns="0" rIns="0" bIns="0" anchor="t" anchorCtr="0">
                <a:spAutoFit/>
              </a:bodyPr>
              <a:lstStyle/>
              <a:p>
                <a:pPr algn="l"/>
                <a:r>
                  <a:rPr lang="en" sz="1280" b="1" dirty="0">
                    <a:solidFill>
                      <a:schemeClr val="accent1"/>
                    </a:solidFill>
                    <a:latin typeface="+mn-lt"/>
                    <a:ea typeface="+mn-ea"/>
                    <a:cs typeface="+mn-cs"/>
                  </a:rPr>
                  <a:t>Tier 0 — Monitor</a:t>
                </a:r>
              </a:p>
            </p:txBody>
          </p:sp>
          <p:sp>
            <p:nvSpPr>
              <p:cNvPr id="56" name="TextBox 56"/>
              <p:cNvSpPr txBox="1"/>
              <p:nvPr/>
            </p:nvSpPr>
            <p:spPr>
              <a:xfrm>
                <a:off x="6356985" y="2374106"/>
                <a:ext cx="2405869" cy="220028"/>
              </a:xfrm>
              <a:prstGeom prst="rect">
                <a:avLst/>
              </a:prstGeom>
              <a:noFill/>
              <a:ln>
                <a:noFill/>
              </a:ln>
            </p:spPr>
            <p:txBody>
              <a:bodyPr wrap="none" lIns="0" tIns="0" rIns="0" bIns="0" anchor="t" anchorCtr="0">
                <a:spAutoFit/>
              </a:bodyPr>
              <a:lstStyle/>
              <a:p>
                <a:pPr algn="l"/>
                <a:r>
                  <a:rPr lang="en" sz="1120" dirty="0">
                    <a:solidFill>
                      <a:schemeClr val="accent5"/>
                    </a:solidFill>
                    <a:latin typeface="+mn-lt"/>
                    <a:ea typeface="+mn-ea"/>
                    <a:cs typeface="+mn-cs"/>
                  </a:rPr>
                  <a:t>Continue observing the situation</a:t>
                </a:r>
              </a:p>
            </p:txBody>
          </p:sp>
        </p:grpSp>
        <p:grpSp>
          <p:nvGrpSpPr>
            <p:cNvPr id="62" name="Group 62"/>
            <p:cNvGrpSpPr/>
            <p:nvPr/>
          </p:nvGrpSpPr>
          <p:grpSpPr>
            <a:xfrm>
              <a:off x="6096000" y="2895600"/>
              <a:ext cx="5486400" cy="800100"/>
              <a:chOff x="6096000" y="2895600"/>
              <a:chExt cx="5486400" cy="800100"/>
            </a:xfrm>
          </p:grpSpPr>
          <p:sp>
            <p:nvSpPr>
              <p:cNvPr id="58" name="Rectangle 58"/>
              <p:cNvSpPr/>
              <p:nvPr/>
            </p:nvSpPr>
            <p:spPr>
              <a:xfrm>
                <a:off x="6096000" y="2895600"/>
                <a:ext cx="5486400" cy="800100"/>
              </a:xfrm>
              <a:prstGeom prst="roundRect">
                <a:avLst>
                  <a:gd name="adj" fmla="val 4762"/>
                </a:avLst>
              </a:prstGeom>
              <a:solidFill>
                <a:srgbClr val="FFFFFF"/>
              </a:solidFill>
              <a:ln w="14288">
                <a:solidFill>
                  <a:schemeClr val="accent2"/>
                </a:solidFill>
              </a:ln>
            </p:spPr>
          </p:sp>
          <p:sp>
            <p:nvSpPr>
              <p:cNvPr id="59" name="Rectangle 59"/>
              <p:cNvSpPr/>
              <p:nvPr/>
            </p:nvSpPr>
            <p:spPr>
              <a:xfrm>
                <a:off x="6096000" y="2895600"/>
                <a:ext cx="38100" cy="800100"/>
              </a:xfrm>
              <a:prstGeom prst="rect">
                <a:avLst/>
              </a:prstGeom>
              <a:solidFill>
                <a:schemeClr val="accent2"/>
              </a:solidFill>
              <a:ln>
                <a:noFill/>
              </a:ln>
            </p:spPr>
          </p:sp>
          <p:sp>
            <p:nvSpPr>
              <p:cNvPr id="60" name="TextBox 60"/>
              <p:cNvSpPr txBox="1"/>
              <p:nvPr/>
            </p:nvSpPr>
            <p:spPr>
              <a:xfrm>
                <a:off x="6356223" y="3081814"/>
                <a:ext cx="1293797" cy="249364"/>
              </a:xfrm>
              <a:prstGeom prst="rect">
                <a:avLst/>
              </a:prstGeom>
              <a:noFill/>
              <a:ln>
                <a:noFill/>
              </a:ln>
            </p:spPr>
            <p:txBody>
              <a:bodyPr wrap="none" lIns="0" tIns="0" rIns="0" bIns="0" anchor="t" anchorCtr="0">
                <a:spAutoFit/>
              </a:bodyPr>
              <a:lstStyle/>
              <a:p>
                <a:pPr algn="l"/>
                <a:r>
                  <a:rPr lang="en" sz="1280" b="1" dirty="0">
                    <a:solidFill>
                      <a:schemeClr val="accent1"/>
                    </a:solidFill>
                    <a:latin typeface="+mn-lt"/>
                    <a:ea typeface="+mn-ea"/>
                    <a:cs typeface="+mn-cs"/>
                  </a:rPr>
                  <a:t>Tier 1 — Verify</a:t>
                </a:r>
              </a:p>
            </p:txBody>
          </p:sp>
          <p:sp>
            <p:nvSpPr>
              <p:cNvPr id="61" name="TextBox 61"/>
              <p:cNvSpPr txBox="1"/>
              <p:nvPr/>
            </p:nvSpPr>
            <p:spPr>
              <a:xfrm>
                <a:off x="6356985" y="3364706"/>
                <a:ext cx="1570326" cy="220028"/>
              </a:xfrm>
              <a:prstGeom prst="rect">
                <a:avLst/>
              </a:prstGeom>
              <a:noFill/>
              <a:ln>
                <a:noFill/>
              </a:ln>
            </p:spPr>
            <p:txBody>
              <a:bodyPr wrap="none" lIns="0" tIns="0" rIns="0" bIns="0" anchor="t" anchorCtr="0">
                <a:spAutoFit/>
              </a:bodyPr>
              <a:lstStyle/>
              <a:p>
                <a:pPr algn="l"/>
                <a:r>
                  <a:rPr lang="en" sz="1120" dirty="0">
                    <a:solidFill>
                      <a:schemeClr val="accent5"/>
                    </a:solidFill>
                    <a:latin typeface="+mn-lt"/>
                    <a:ea typeface="+mn-ea"/>
                    <a:cs typeface="+mn-cs"/>
                  </a:rPr>
                  <a:t>Ask: “Are you okay?”</a:t>
                </a:r>
              </a:p>
            </p:txBody>
          </p:sp>
        </p:grpSp>
        <p:grpSp>
          <p:nvGrpSpPr>
            <p:cNvPr id="70" name="Group 70"/>
            <p:cNvGrpSpPr/>
            <p:nvPr/>
          </p:nvGrpSpPr>
          <p:grpSpPr>
            <a:xfrm>
              <a:off x="6096000" y="3886200"/>
              <a:ext cx="5486400" cy="800100"/>
              <a:chOff x="6096000" y="3886200"/>
              <a:chExt cx="5486400" cy="800100"/>
            </a:xfrm>
          </p:grpSpPr>
          <p:sp>
            <p:nvSpPr>
              <p:cNvPr id="63" name="Rectangle 63"/>
              <p:cNvSpPr/>
              <p:nvPr/>
            </p:nvSpPr>
            <p:spPr>
              <a:xfrm>
                <a:off x="6096000" y="3886200"/>
                <a:ext cx="5486400" cy="800100"/>
              </a:xfrm>
              <a:prstGeom prst="roundRect">
                <a:avLst>
                  <a:gd name="adj" fmla="val 4762"/>
                </a:avLst>
              </a:prstGeom>
              <a:solidFill>
                <a:srgbClr val="FFFFFF"/>
              </a:solidFill>
              <a:ln w="14288">
                <a:solidFill>
                  <a:srgbClr val="C4553B"/>
                </a:solidFill>
              </a:ln>
            </p:spPr>
          </p:sp>
          <p:sp>
            <p:nvSpPr>
              <p:cNvPr id="64" name="Rectangle 64"/>
              <p:cNvSpPr/>
              <p:nvPr/>
            </p:nvSpPr>
            <p:spPr>
              <a:xfrm>
                <a:off x="6096000" y="3886200"/>
                <a:ext cx="38100" cy="800100"/>
              </a:xfrm>
              <a:prstGeom prst="rect">
                <a:avLst/>
              </a:prstGeom>
              <a:solidFill>
                <a:srgbClr val="C4553B"/>
              </a:solidFill>
              <a:ln>
                <a:noFill/>
              </a:ln>
            </p:spPr>
          </p:sp>
          <p:sp>
            <p:nvSpPr>
              <p:cNvPr id="65" name="TextBox 65"/>
              <p:cNvSpPr txBox="1"/>
              <p:nvPr/>
            </p:nvSpPr>
            <p:spPr>
              <a:xfrm>
                <a:off x="6356223" y="4072414"/>
                <a:ext cx="1492307" cy="249364"/>
              </a:xfrm>
              <a:prstGeom prst="rect">
                <a:avLst/>
              </a:prstGeom>
              <a:noFill/>
              <a:ln>
                <a:noFill/>
              </a:ln>
            </p:spPr>
            <p:txBody>
              <a:bodyPr wrap="none" lIns="0" tIns="0" rIns="0" bIns="0" anchor="t" anchorCtr="0">
                <a:spAutoFit/>
              </a:bodyPr>
              <a:lstStyle/>
              <a:p>
                <a:pPr algn="l"/>
                <a:r>
                  <a:rPr lang="en" sz="1280" b="1" dirty="0">
                    <a:solidFill>
                      <a:schemeClr val="accent1"/>
                    </a:solidFill>
                    <a:latin typeface="+mn-lt"/>
                    <a:ea typeface="+mn-ea"/>
                    <a:cs typeface="+mn-cs"/>
                  </a:rPr>
                  <a:t>Tier 2 — Escalate</a:t>
                </a:r>
              </a:p>
            </p:txBody>
          </p:sp>
          <p:sp>
            <p:nvSpPr>
              <p:cNvPr id="66" name="TextBox 66"/>
              <p:cNvSpPr txBox="1"/>
              <p:nvPr/>
            </p:nvSpPr>
            <p:spPr>
              <a:xfrm>
                <a:off x="6356985" y="4355306"/>
                <a:ext cx="2345604" cy="220028"/>
              </a:xfrm>
              <a:prstGeom prst="rect">
                <a:avLst/>
              </a:prstGeom>
              <a:noFill/>
              <a:ln>
                <a:noFill/>
              </a:ln>
            </p:spPr>
            <p:txBody>
              <a:bodyPr wrap="none" lIns="0" tIns="0" rIns="0" bIns="0" anchor="t" anchorCtr="0">
                <a:spAutoFit/>
              </a:bodyPr>
              <a:lstStyle/>
              <a:p>
                <a:pPr algn="l"/>
                <a:r>
                  <a:rPr lang="en" sz="1120" dirty="0">
                    <a:solidFill>
                      <a:schemeClr val="accent5"/>
                    </a:solidFill>
                    <a:latin typeface="+mn-lt"/>
                    <a:ea typeface="+mn-ea"/>
                    <a:cs typeface="+mn-cs"/>
                  </a:rPr>
                  <a:t>Create the incident immediately</a:t>
                </a:r>
              </a:p>
            </p:txBody>
          </p:sp>
          <p:grpSp>
            <p:nvGrpSpPr>
              <p:cNvPr id="69" name="Group 69"/>
              <p:cNvGrpSpPr/>
              <p:nvPr/>
            </p:nvGrpSpPr>
            <p:grpSpPr>
              <a:xfrm>
                <a:off x="11074003" y="4152900"/>
                <a:ext cx="216694" cy="225028"/>
                <a:chOff x="11074003" y="4152900"/>
                <a:chExt cx="216694" cy="225028"/>
              </a:xfrm>
            </p:grpSpPr>
            <p:sp>
              <p:nvSpPr>
                <p:cNvPr id="67" name="Freeform 67"/>
                <p:cNvSpPr/>
                <p:nvPr/>
              </p:nvSpPr>
              <p:spPr>
                <a:xfrm>
                  <a:off x="11099006" y="4202737"/>
                  <a:ext cx="166688" cy="125185"/>
                </a:xfrm>
                <a:custGeom>
                  <a:avLst/>
                  <a:gdLst/>
                  <a:ahLst/>
                  <a:cxnLst/>
                  <a:rect l="l" t="t" r="r" b="b"/>
                  <a:pathLst>
                    <a:path w="166688" h="125185">
                      <a:moveTo>
                        <a:pt x="166688" y="84555"/>
                      </a:moveTo>
                      <a:lnTo>
                        <a:pt x="166688" y="125185"/>
                      </a:lnTo>
                      <a:lnTo>
                        <a:pt x="1" y="125185"/>
                      </a:lnTo>
                      <a:lnTo>
                        <a:pt x="1" y="83513"/>
                      </a:lnTo>
                      <a:cubicBezTo>
                        <a:pt x="0" y="61298"/>
                        <a:pt x="8868" y="40003"/>
                        <a:pt x="24636" y="24354"/>
                      </a:cubicBezTo>
                      <a:cubicBezTo>
                        <a:pt x="40403" y="8706"/>
                        <a:pt x="61766" y="0"/>
                        <a:pt x="83980" y="169"/>
                      </a:cubicBezTo>
                      <a:cubicBezTo>
                        <a:pt x="129934" y="513"/>
                        <a:pt x="166688" y="38601"/>
                        <a:pt x="166688" y="84555"/>
                      </a:cubicBezTo>
                      <a:close/>
                    </a:path>
                  </a:pathLst>
                </a:custGeom>
                <a:solidFill>
                  <a:srgbClr val="C4553B">
                    <a:alpha val="20000"/>
                  </a:srgbClr>
                </a:solidFill>
                <a:ln>
                  <a:noFill/>
                </a:ln>
              </p:spPr>
            </p:sp>
            <p:sp>
              <p:nvSpPr>
                <p:cNvPr id="68" name="Freeform 68"/>
                <p:cNvSpPr/>
                <p:nvPr/>
              </p:nvSpPr>
              <p:spPr>
                <a:xfrm>
                  <a:off x="11074003" y="4152900"/>
                  <a:ext cx="216694" cy="225028"/>
                </a:xfrm>
                <a:custGeom>
                  <a:avLst/>
                  <a:gdLst/>
                  <a:ahLst/>
                  <a:cxnLst/>
                  <a:rect l="l" t="t" r="r" b="b"/>
                  <a:pathLst>
                    <a:path w="216694" h="225028">
                      <a:moveTo>
                        <a:pt x="100012" y="16669"/>
                      </a:moveTo>
                      <a:lnTo>
                        <a:pt x="100012" y="8334"/>
                      </a:lnTo>
                      <a:cubicBezTo>
                        <a:pt x="100012" y="3731"/>
                        <a:pt x="103744" y="0"/>
                        <a:pt x="108347" y="0"/>
                      </a:cubicBezTo>
                      <a:cubicBezTo>
                        <a:pt x="112950" y="0"/>
                        <a:pt x="116681" y="3731"/>
                        <a:pt x="116681" y="8334"/>
                      </a:cubicBezTo>
                      <a:lnTo>
                        <a:pt x="116681" y="16669"/>
                      </a:lnTo>
                      <a:cubicBezTo>
                        <a:pt x="116681" y="21272"/>
                        <a:pt x="112950" y="25003"/>
                        <a:pt x="108347" y="25003"/>
                      </a:cubicBezTo>
                      <a:cubicBezTo>
                        <a:pt x="103744" y="25003"/>
                        <a:pt x="100012" y="21272"/>
                        <a:pt x="100012" y="16669"/>
                      </a:cubicBezTo>
                      <a:close/>
                      <a:moveTo>
                        <a:pt x="183356" y="50006"/>
                      </a:moveTo>
                      <a:cubicBezTo>
                        <a:pt x="185567" y="50008"/>
                        <a:pt x="187688" y="49131"/>
                        <a:pt x="189253" y="47568"/>
                      </a:cubicBezTo>
                      <a:lnTo>
                        <a:pt x="197587" y="39234"/>
                      </a:lnTo>
                      <a:cubicBezTo>
                        <a:pt x="200844" y="35977"/>
                        <a:pt x="200844" y="30698"/>
                        <a:pt x="197587" y="27441"/>
                      </a:cubicBezTo>
                      <a:cubicBezTo>
                        <a:pt x="194331" y="24184"/>
                        <a:pt x="189051" y="24184"/>
                        <a:pt x="185794" y="27441"/>
                      </a:cubicBezTo>
                      <a:lnTo>
                        <a:pt x="177460" y="35775"/>
                      </a:lnTo>
                      <a:cubicBezTo>
                        <a:pt x="175073" y="38159"/>
                        <a:pt x="174359" y="41746"/>
                        <a:pt x="175650" y="44862"/>
                      </a:cubicBezTo>
                      <a:cubicBezTo>
                        <a:pt x="176941" y="47978"/>
                        <a:pt x="179983" y="50009"/>
                        <a:pt x="183356" y="50006"/>
                      </a:cubicBezTo>
                      <a:close/>
                      <a:moveTo>
                        <a:pt x="27441" y="47568"/>
                      </a:moveTo>
                      <a:cubicBezTo>
                        <a:pt x="30698" y="50825"/>
                        <a:pt x="35977" y="50825"/>
                        <a:pt x="39234" y="47568"/>
                      </a:cubicBezTo>
                      <a:cubicBezTo>
                        <a:pt x="42491" y="44312"/>
                        <a:pt x="42491" y="39032"/>
                        <a:pt x="39234" y="35775"/>
                      </a:cubicBezTo>
                      <a:lnTo>
                        <a:pt x="30900" y="27441"/>
                      </a:lnTo>
                      <a:cubicBezTo>
                        <a:pt x="27643" y="24184"/>
                        <a:pt x="22363" y="24184"/>
                        <a:pt x="19107" y="27441"/>
                      </a:cubicBezTo>
                      <a:cubicBezTo>
                        <a:pt x="15850" y="30698"/>
                        <a:pt x="15850" y="35977"/>
                        <a:pt x="19107" y="39234"/>
                      </a:cubicBezTo>
                      <a:close/>
                      <a:moveTo>
                        <a:pt x="118077" y="75124"/>
                      </a:moveTo>
                      <a:cubicBezTo>
                        <a:pt x="115127" y="74602"/>
                        <a:pt x="112124" y="75704"/>
                        <a:pt x="110211" y="78010"/>
                      </a:cubicBezTo>
                      <a:cubicBezTo>
                        <a:pt x="108298" y="80316"/>
                        <a:pt x="107770" y="83471"/>
                        <a:pt x="108828" y="86274"/>
                      </a:cubicBezTo>
                      <a:cubicBezTo>
                        <a:pt x="109886" y="89077"/>
                        <a:pt x="112368" y="91097"/>
                        <a:pt x="115327" y="91564"/>
                      </a:cubicBezTo>
                      <a:cubicBezTo>
                        <a:pt x="135090" y="94887"/>
                        <a:pt x="150019" y="112847"/>
                        <a:pt x="150019" y="133350"/>
                      </a:cubicBezTo>
                      <a:cubicBezTo>
                        <a:pt x="150019" y="137953"/>
                        <a:pt x="153750" y="141684"/>
                        <a:pt x="158353" y="141684"/>
                      </a:cubicBezTo>
                      <a:cubicBezTo>
                        <a:pt x="162956" y="141684"/>
                        <a:pt x="166688" y="137953"/>
                        <a:pt x="166688" y="133350"/>
                      </a:cubicBezTo>
                      <a:cubicBezTo>
                        <a:pt x="166688" y="104805"/>
                        <a:pt x="145779" y="79770"/>
                        <a:pt x="118056" y="75124"/>
                      </a:cubicBezTo>
                      <a:close/>
                      <a:moveTo>
                        <a:pt x="216694" y="183356"/>
                      </a:moveTo>
                      <a:lnTo>
                        <a:pt x="216694" y="208359"/>
                      </a:lnTo>
                      <a:cubicBezTo>
                        <a:pt x="216694" y="217565"/>
                        <a:pt x="209231" y="225028"/>
                        <a:pt x="200025" y="225028"/>
                      </a:cubicBezTo>
                      <a:lnTo>
                        <a:pt x="16669" y="225028"/>
                      </a:lnTo>
                      <a:cubicBezTo>
                        <a:pt x="7463" y="225028"/>
                        <a:pt x="0" y="217565"/>
                        <a:pt x="0" y="208359"/>
                      </a:cubicBezTo>
                      <a:lnTo>
                        <a:pt x="0" y="183356"/>
                      </a:lnTo>
                      <a:cubicBezTo>
                        <a:pt x="0" y="174150"/>
                        <a:pt x="7463" y="166688"/>
                        <a:pt x="16669" y="166688"/>
                      </a:cubicBezTo>
                      <a:lnTo>
                        <a:pt x="16669" y="133350"/>
                      </a:lnTo>
                      <a:cubicBezTo>
                        <a:pt x="16669" y="82718"/>
                        <a:pt x="57714" y="41672"/>
                        <a:pt x="108347" y="41672"/>
                      </a:cubicBezTo>
                      <a:lnTo>
                        <a:pt x="109055" y="41672"/>
                      </a:lnTo>
                      <a:cubicBezTo>
                        <a:pt x="159218" y="42047"/>
                        <a:pt x="200035" y="83646"/>
                        <a:pt x="200035" y="134392"/>
                      </a:cubicBezTo>
                      <a:lnTo>
                        <a:pt x="200035" y="166688"/>
                      </a:lnTo>
                      <a:cubicBezTo>
                        <a:pt x="209237" y="166693"/>
                        <a:pt x="216694" y="174154"/>
                        <a:pt x="216694" y="183356"/>
                      </a:cubicBezTo>
                      <a:close/>
                      <a:moveTo>
                        <a:pt x="33338" y="166688"/>
                      </a:moveTo>
                      <a:lnTo>
                        <a:pt x="183356" y="166688"/>
                      </a:lnTo>
                      <a:lnTo>
                        <a:pt x="183356" y="134392"/>
                      </a:lnTo>
                      <a:cubicBezTo>
                        <a:pt x="183356" y="92720"/>
                        <a:pt x="149967" y="58643"/>
                        <a:pt x="108920" y="58341"/>
                      </a:cubicBezTo>
                      <a:lnTo>
                        <a:pt x="108347" y="58341"/>
                      </a:lnTo>
                      <a:cubicBezTo>
                        <a:pt x="66920" y="58341"/>
                        <a:pt x="33338" y="91923"/>
                        <a:pt x="33338" y="133350"/>
                      </a:cubicBezTo>
                      <a:close/>
                      <a:moveTo>
                        <a:pt x="200025" y="208359"/>
                      </a:moveTo>
                      <a:lnTo>
                        <a:pt x="200025" y="183356"/>
                      </a:lnTo>
                      <a:lnTo>
                        <a:pt x="16669" y="183356"/>
                      </a:lnTo>
                      <a:lnTo>
                        <a:pt x="16669" y="208359"/>
                      </a:lnTo>
                      <a:lnTo>
                        <a:pt x="200025" y="208359"/>
                      </a:lnTo>
                      <a:close/>
                    </a:path>
                  </a:pathLst>
                </a:custGeom>
                <a:solidFill>
                  <a:srgbClr val="C4553B"/>
                </a:solidFill>
                <a:ln>
                  <a:noFill/>
                </a:ln>
              </p:spPr>
            </p:sp>
          </p:grpSp>
        </p:grpSp>
      </p:grpSp>
      <p:grpSp>
        <p:nvGrpSpPr>
          <p:cNvPr id="81" name="Group 81"/>
          <p:cNvGrpSpPr/>
          <p:nvPr/>
        </p:nvGrpSpPr>
        <p:grpSpPr>
          <a:xfrm>
            <a:off x="6091238" y="4855845"/>
            <a:ext cx="5522159" cy="814864"/>
            <a:chOff x="6091238" y="4855845"/>
            <a:chExt cx="5522159" cy="814864"/>
          </a:xfrm>
        </p:grpSpPr>
        <p:sp>
          <p:nvSpPr>
            <p:cNvPr id="72" name="TextBox 72"/>
            <p:cNvSpPr txBox="1"/>
            <p:nvPr/>
          </p:nvSpPr>
          <p:spPr>
            <a:xfrm>
              <a:off x="6091238" y="4855845"/>
              <a:ext cx="1697914" cy="176212"/>
            </a:xfrm>
            <a:prstGeom prst="rect">
              <a:avLst/>
            </a:prstGeom>
            <a:noFill/>
            <a:ln>
              <a:noFill/>
            </a:ln>
          </p:spPr>
          <p:txBody>
            <a:bodyPr wrap="none" lIns="0" tIns="0" rIns="0" bIns="0" anchor="t" anchorCtr="0">
              <a:spAutoFit/>
            </a:bodyPr>
            <a:lstStyle/>
            <a:p>
              <a:pPr algn="l"/>
              <a:r>
                <a:rPr lang="en" sz="900" spc="112" dirty="0">
                  <a:solidFill>
                    <a:schemeClr val="accent5"/>
                  </a:solidFill>
                  <a:latin typeface="+mn-lt"/>
                  <a:ea typeface="+mn-ea"/>
                  <a:cs typeface="+mn-cs"/>
                </a:rPr>
                <a:t>TIER 1 RESPONSE LOGIC</a:t>
              </a:r>
            </a:p>
          </p:txBody>
        </p:sp>
        <p:grpSp>
          <p:nvGrpSpPr>
            <p:cNvPr id="75" name="Group 75"/>
            <p:cNvGrpSpPr/>
            <p:nvPr/>
          </p:nvGrpSpPr>
          <p:grpSpPr>
            <a:xfrm>
              <a:off x="6113859" y="5104209"/>
              <a:ext cx="154781" cy="154781"/>
              <a:chOff x="6113859" y="5104209"/>
              <a:chExt cx="154781" cy="154781"/>
            </a:xfrm>
          </p:grpSpPr>
          <p:sp>
            <p:nvSpPr>
              <p:cNvPr id="73" name="Freeform 73"/>
              <p:cNvSpPr/>
              <p:nvPr/>
            </p:nvSpPr>
            <p:spPr>
              <a:xfrm>
                <a:off x="6119812" y="5110162"/>
                <a:ext cx="142875" cy="142875"/>
              </a:xfrm>
              <a:custGeom>
                <a:avLst/>
                <a:gdLst/>
                <a:ahLst/>
                <a:cxnLst/>
                <a:rect l="l" t="t" r="r" b="b"/>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a:schemeClr val="accent2">
                  <a:alpha val="20000"/>
                </a:schemeClr>
              </a:solidFill>
              <a:ln>
                <a:noFill/>
              </a:ln>
            </p:spPr>
          </p:sp>
          <p:sp>
            <p:nvSpPr>
              <p:cNvPr id="74" name="Freeform 74"/>
              <p:cNvSpPr/>
              <p:nvPr/>
            </p:nvSpPr>
            <p:spPr>
              <a:xfrm>
                <a:off x="6113859" y="5104209"/>
                <a:ext cx="154781" cy="154781"/>
              </a:xfrm>
              <a:custGeom>
                <a:avLst/>
                <a:gdLst/>
                <a:ahLst/>
                <a:cxnLst/>
                <a:rect l="l" t="t" r="r" b="b"/>
                <a:pathLst>
                  <a:path w="154781" h="154781">
                    <a:moveTo>
                      <a:pt x="111368" y="55319"/>
                    </a:moveTo>
                    <a:cubicBezTo>
                      <a:pt x="112486" y="56436"/>
                      <a:pt x="113114" y="57951"/>
                      <a:pt x="113114" y="59531"/>
                    </a:cubicBezTo>
                    <a:cubicBezTo>
                      <a:pt x="113114" y="61111"/>
                      <a:pt x="112486" y="62626"/>
                      <a:pt x="111368" y="63743"/>
                    </a:cubicBezTo>
                    <a:lnTo>
                      <a:pt x="69696" y="105415"/>
                    </a:lnTo>
                    <a:cubicBezTo>
                      <a:pt x="68580" y="106533"/>
                      <a:pt x="67064" y="107161"/>
                      <a:pt x="65484" y="107161"/>
                    </a:cubicBezTo>
                    <a:cubicBezTo>
                      <a:pt x="63904" y="107161"/>
                      <a:pt x="62389" y="106533"/>
                      <a:pt x="61273" y="105415"/>
                    </a:cubicBezTo>
                    <a:lnTo>
                      <a:pt x="43413" y="87556"/>
                    </a:lnTo>
                    <a:cubicBezTo>
                      <a:pt x="41087" y="85229"/>
                      <a:pt x="41087" y="81458"/>
                      <a:pt x="43413" y="79132"/>
                    </a:cubicBezTo>
                    <a:cubicBezTo>
                      <a:pt x="45739" y="76806"/>
                      <a:pt x="49511" y="76806"/>
                      <a:pt x="51837" y="79132"/>
                    </a:cubicBezTo>
                    <a:lnTo>
                      <a:pt x="65484" y="92787"/>
                    </a:lnTo>
                    <a:lnTo>
                      <a:pt x="102944" y="55319"/>
                    </a:lnTo>
                    <a:cubicBezTo>
                      <a:pt x="104061" y="54202"/>
                      <a:pt x="105576" y="53573"/>
                      <a:pt x="107156" y="53573"/>
                    </a:cubicBezTo>
                    <a:cubicBezTo>
                      <a:pt x="108736" y="53573"/>
                      <a:pt x="110251" y="54202"/>
                      <a:pt x="111368" y="55319"/>
                    </a:cubicBezTo>
                    <a:close/>
                    <a:moveTo>
                      <a:pt x="154781" y="77391"/>
                    </a:moveTo>
                    <a:cubicBezTo>
                      <a:pt x="154781" y="120132"/>
                      <a:pt x="120132" y="154781"/>
                      <a:pt x="77391" y="154781"/>
                    </a:cubicBezTo>
                    <a:cubicBezTo>
                      <a:pt x="34649" y="154781"/>
                      <a:pt x="0" y="120132"/>
                      <a:pt x="0" y="77391"/>
                    </a:cubicBezTo>
                    <a:cubicBezTo>
                      <a:pt x="0" y="34649"/>
                      <a:pt x="34649" y="0"/>
                      <a:pt x="77391" y="0"/>
                    </a:cubicBezTo>
                    <a:cubicBezTo>
                      <a:pt x="120114" y="45"/>
                      <a:pt x="154736" y="34668"/>
                      <a:pt x="154781" y="77391"/>
                    </a:cubicBezTo>
                    <a:close/>
                    <a:moveTo>
                      <a:pt x="142875" y="77391"/>
                    </a:moveTo>
                    <a:cubicBezTo>
                      <a:pt x="142875" y="41225"/>
                      <a:pt x="113557" y="11906"/>
                      <a:pt x="77391" y="11906"/>
                    </a:cubicBezTo>
                    <a:cubicBezTo>
                      <a:pt x="41225" y="11906"/>
                      <a:pt x="11906" y="41225"/>
                      <a:pt x="11906" y="77391"/>
                    </a:cubicBezTo>
                    <a:cubicBezTo>
                      <a:pt x="11906" y="113557"/>
                      <a:pt x="41225" y="142875"/>
                      <a:pt x="77391" y="142875"/>
                    </a:cubicBezTo>
                    <a:cubicBezTo>
                      <a:pt x="113540" y="142834"/>
                      <a:pt x="142834" y="113540"/>
                      <a:pt x="142875" y="77391"/>
                    </a:cubicBezTo>
                    <a:close/>
                  </a:path>
                </a:pathLst>
              </a:custGeom>
              <a:solidFill>
                <a:schemeClr val="accent2"/>
              </a:solidFill>
              <a:ln>
                <a:noFill/>
              </a:ln>
            </p:spPr>
          </p:sp>
        </p:grpSp>
        <p:sp>
          <p:nvSpPr>
            <p:cNvPr id="76" name="TextBox 76"/>
            <p:cNvSpPr txBox="1"/>
            <p:nvPr/>
          </p:nvSpPr>
          <p:spPr>
            <a:xfrm>
              <a:off x="6395085" y="5107781"/>
              <a:ext cx="2768255" cy="220028"/>
            </a:xfrm>
            <a:prstGeom prst="rect">
              <a:avLst/>
            </a:prstGeom>
            <a:noFill/>
            <a:ln>
              <a:noFill/>
            </a:ln>
          </p:spPr>
          <p:txBody>
            <a:bodyPr wrap="none" lIns="0" tIns="0" rIns="0" bIns="0" anchor="t" anchorCtr="0">
              <a:spAutoFit/>
            </a:bodyPr>
            <a:lstStyle/>
            <a:p>
              <a:pPr algn="l"/>
              <a:r>
                <a:rPr lang="en" sz="1120" dirty="0">
                  <a:solidFill>
                    <a:schemeClr val="dk1"/>
                  </a:solidFill>
                  <a:latin typeface="+mn-lt"/>
                  <a:ea typeface="+mn-ea"/>
                  <a:cs typeface="+mn-cs"/>
                </a:rPr>
                <a:t>Safe response → return to monitoring</a:t>
              </a:r>
            </a:p>
          </p:txBody>
        </p:sp>
        <p:grpSp>
          <p:nvGrpSpPr>
            <p:cNvPr id="79" name="Group 79"/>
            <p:cNvGrpSpPr/>
            <p:nvPr/>
          </p:nvGrpSpPr>
          <p:grpSpPr>
            <a:xfrm>
              <a:off x="6107102" y="5447109"/>
              <a:ext cx="168292" cy="148897"/>
              <a:chOff x="6107102" y="5447109"/>
              <a:chExt cx="168292" cy="148897"/>
            </a:xfrm>
          </p:grpSpPr>
          <p:sp>
            <p:nvSpPr>
              <p:cNvPr id="77" name="Freeform 77"/>
              <p:cNvSpPr/>
              <p:nvPr/>
            </p:nvSpPr>
            <p:spPr>
              <a:xfrm>
                <a:off x="6110883" y="5450994"/>
                <a:ext cx="160734" cy="138991"/>
              </a:xfrm>
              <a:custGeom>
                <a:avLst/>
                <a:gdLst/>
                <a:ahLst/>
                <a:cxnLst/>
                <a:rect l="l" t="t" r="r" b="b"/>
                <a:pathLst>
                  <a:path w="160734" h="138991">
                    <a:moveTo>
                      <a:pt x="145450" y="138991"/>
                    </a:moveTo>
                    <a:lnTo>
                      <a:pt x="15285" y="138991"/>
                    </a:lnTo>
                    <a:cubicBezTo>
                      <a:pt x="5894" y="138991"/>
                      <a:pt x="0" y="129160"/>
                      <a:pt x="4562" y="121198"/>
                    </a:cubicBezTo>
                    <a:lnTo>
                      <a:pt x="69644" y="8186"/>
                    </a:lnTo>
                    <a:cubicBezTo>
                      <a:pt x="74332" y="0"/>
                      <a:pt x="86402" y="0"/>
                      <a:pt x="91090" y="8186"/>
                    </a:cubicBezTo>
                    <a:lnTo>
                      <a:pt x="156173" y="121198"/>
                    </a:lnTo>
                    <a:cubicBezTo>
                      <a:pt x="160734" y="129160"/>
                      <a:pt x="154841" y="138991"/>
                      <a:pt x="145450" y="138991"/>
                    </a:cubicBezTo>
                    <a:close/>
                  </a:path>
                </a:pathLst>
              </a:custGeom>
              <a:solidFill>
                <a:srgbClr val="C4553B">
                  <a:alpha val="20000"/>
                </a:srgbClr>
              </a:solidFill>
              <a:ln>
                <a:noFill/>
              </a:ln>
            </p:spPr>
          </p:sp>
          <p:sp>
            <p:nvSpPr>
              <p:cNvPr id="78" name="Freeform 78"/>
              <p:cNvSpPr/>
              <p:nvPr/>
            </p:nvSpPr>
            <p:spPr>
              <a:xfrm>
                <a:off x="6107102" y="5447109"/>
                <a:ext cx="168292" cy="148897"/>
              </a:xfrm>
              <a:custGeom>
                <a:avLst/>
                <a:gdLst/>
                <a:ahLst/>
                <a:cxnLst/>
                <a:rect l="l" t="t" r="r" b="b"/>
                <a:pathLst>
                  <a:path w="168292" h="148897">
                    <a:moveTo>
                      <a:pt x="165111" y="122107"/>
                    </a:moveTo>
                    <a:lnTo>
                      <a:pt x="100036" y="9094"/>
                    </a:lnTo>
                    <a:lnTo>
                      <a:pt x="100036" y="9094"/>
                    </a:lnTo>
                    <a:cubicBezTo>
                      <a:pt x="96727" y="3460"/>
                      <a:pt x="90682" y="0"/>
                      <a:pt x="84148" y="0"/>
                    </a:cubicBezTo>
                    <a:cubicBezTo>
                      <a:pt x="77615" y="0"/>
                      <a:pt x="71570" y="3460"/>
                      <a:pt x="68261" y="9094"/>
                    </a:cubicBezTo>
                    <a:lnTo>
                      <a:pt x="3186" y="122107"/>
                    </a:lnTo>
                    <a:cubicBezTo>
                      <a:pt x="0" y="127559"/>
                      <a:pt x="0" y="134305"/>
                      <a:pt x="3186" y="139758"/>
                    </a:cubicBezTo>
                    <a:cubicBezTo>
                      <a:pt x="6454" y="145429"/>
                      <a:pt x="12528" y="148897"/>
                      <a:pt x="19073" y="148829"/>
                    </a:cubicBezTo>
                    <a:lnTo>
                      <a:pt x="149223" y="148829"/>
                    </a:lnTo>
                    <a:cubicBezTo>
                      <a:pt x="155763" y="148891"/>
                      <a:pt x="161830" y="145424"/>
                      <a:pt x="165096" y="139758"/>
                    </a:cubicBezTo>
                    <a:cubicBezTo>
                      <a:pt x="168286" y="134308"/>
                      <a:pt x="168292" y="127562"/>
                      <a:pt x="165111" y="122107"/>
                    </a:cubicBezTo>
                    <a:close/>
                    <a:moveTo>
                      <a:pt x="154789" y="133797"/>
                    </a:moveTo>
                    <a:cubicBezTo>
                      <a:pt x="153634" y="135767"/>
                      <a:pt x="151507" y="136962"/>
                      <a:pt x="149223" y="136922"/>
                    </a:cubicBezTo>
                    <a:lnTo>
                      <a:pt x="19073" y="136922"/>
                    </a:lnTo>
                    <a:cubicBezTo>
                      <a:pt x="16789" y="136962"/>
                      <a:pt x="14662" y="135767"/>
                      <a:pt x="13507" y="133797"/>
                    </a:cubicBezTo>
                    <a:cubicBezTo>
                      <a:pt x="12460" y="132025"/>
                      <a:pt x="12460" y="129824"/>
                      <a:pt x="13507" y="128052"/>
                    </a:cubicBezTo>
                    <a:lnTo>
                      <a:pt x="78582" y="15040"/>
                    </a:lnTo>
                    <a:cubicBezTo>
                      <a:pt x="79759" y="13081"/>
                      <a:pt x="81877" y="11882"/>
                      <a:pt x="84163" y="11882"/>
                    </a:cubicBezTo>
                    <a:cubicBezTo>
                      <a:pt x="86449" y="11882"/>
                      <a:pt x="88567" y="13081"/>
                      <a:pt x="89744" y="15040"/>
                    </a:cubicBezTo>
                    <a:lnTo>
                      <a:pt x="154819" y="128052"/>
                    </a:lnTo>
                    <a:cubicBezTo>
                      <a:pt x="155857" y="129830"/>
                      <a:pt x="155845" y="132030"/>
                      <a:pt x="154789" y="133797"/>
                    </a:cubicBezTo>
                    <a:close/>
                    <a:moveTo>
                      <a:pt x="78195" y="89297"/>
                    </a:moveTo>
                    <a:lnTo>
                      <a:pt x="78195" y="59532"/>
                    </a:lnTo>
                    <a:cubicBezTo>
                      <a:pt x="78195" y="56244"/>
                      <a:pt x="80860" y="53579"/>
                      <a:pt x="84148" y="53579"/>
                    </a:cubicBezTo>
                    <a:cubicBezTo>
                      <a:pt x="87436" y="53579"/>
                      <a:pt x="90101" y="56244"/>
                      <a:pt x="90101" y="59532"/>
                    </a:cubicBezTo>
                    <a:lnTo>
                      <a:pt x="90101" y="89297"/>
                    </a:lnTo>
                    <a:cubicBezTo>
                      <a:pt x="90101" y="92585"/>
                      <a:pt x="87436" y="95250"/>
                      <a:pt x="84148" y="95250"/>
                    </a:cubicBezTo>
                    <a:cubicBezTo>
                      <a:pt x="80860" y="95250"/>
                      <a:pt x="78195" y="92585"/>
                      <a:pt x="78195" y="89297"/>
                    </a:cubicBezTo>
                    <a:close/>
                    <a:moveTo>
                      <a:pt x="93078" y="116086"/>
                    </a:moveTo>
                    <a:cubicBezTo>
                      <a:pt x="93078" y="121018"/>
                      <a:pt x="89080" y="125016"/>
                      <a:pt x="84148" y="125016"/>
                    </a:cubicBezTo>
                    <a:cubicBezTo>
                      <a:pt x="79216" y="125016"/>
                      <a:pt x="75218" y="121018"/>
                      <a:pt x="75218" y="116086"/>
                    </a:cubicBezTo>
                    <a:cubicBezTo>
                      <a:pt x="75218" y="111155"/>
                      <a:pt x="79216" y="107157"/>
                      <a:pt x="84148" y="107157"/>
                    </a:cubicBezTo>
                    <a:cubicBezTo>
                      <a:pt x="89080" y="107157"/>
                      <a:pt x="93078" y="111155"/>
                      <a:pt x="93078" y="116086"/>
                    </a:cubicBezTo>
                    <a:close/>
                  </a:path>
                </a:pathLst>
              </a:custGeom>
              <a:solidFill>
                <a:srgbClr val="C4553B"/>
              </a:solidFill>
              <a:ln>
                <a:noFill/>
              </a:ln>
            </p:spPr>
          </p:sp>
        </p:grpSp>
        <p:sp>
          <p:nvSpPr>
            <p:cNvPr id="80" name="TextBox 80"/>
            <p:cNvSpPr txBox="1"/>
            <p:nvPr/>
          </p:nvSpPr>
          <p:spPr>
            <a:xfrm>
              <a:off x="6395085" y="5450681"/>
              <a:ext cx="5218312" cy="220028"/>
            </a:xfrm>
            <a:prstGeom prst="rect">
              <a:avLst/>
            </a:prstGeom>
            <a:noFill/>
            <a:ln>
              <a:noFill/>
            </a:ln>
          </p:spPr>
          <p:txBody>
            <a:bodyPr wrap="none" lIns="0" tIns="0" rIns="0" bIns="0" anchor="t" anchorCtr="0">
              <a:spAutoFit/>
            </a:bodyPr>
            <a:lstStyle/>
            <a:p>
              <a:pPr algn="l"/>
              <a:r>
                <a:rPr lang="en" sz="1120" dirty="0">
                  <a:solidFill>
                    <a:schemeClr val="dk1"/>
                  </a:solidFill>
                  <a:latin typeface="+mn-lt"/>
                  <a:ea typeface="+mn-ea"/>
                  <a:cs typeface="+mn-cs"/>
                </a:rPr>
                <a:t>Help, silence, unclear response, or continued hazard → create incident</a:t>
              </a:r>
            </a:p>
          </p:txBody>
        </p:sp>
      </p:grpSp>
      <p:grpSp>
        <p:nvGrpSpPr>
          <p:cNvPr id="84" name="Group 84"/>
          <p:cNvGrpSpPr/>
          <p:nvPr/>
        </p:nvGrpSpPr>
        <p:grpSpPr>
          <a:xfrm>
            <a:off x="2484353" y="5905500"/>
            <a:ext cx="7223294" cy="436245"/>
            <a:chOff x="2484353" y="5905500"/>
            <a:chExt cx="7223294" cy="436245"/>
          </a:xfrm>
        </p:grpSpPr>
        <p:sp>
          <p:nvSpPr>
            <p:cNvPr id="82" name="Line 82"/>
            <p:cNvSpPr/>
            <p:nvPr/>
          </p:nvSpPr>
          <p:spPr>
            <a:xfrm>
              <a:off x="3238500" y="5905500"/>
              <a:ext cx="5715000" cy="9525"/>
            </a:xfrm>
            <a:custGeom>
              <a:avLst/>
              <a:gdLst/>
              <a:ahLst/>
              <a:cxnLst/>
              <a:rect l="l" t="t" r="r" b="b"/>
              <a:pathLst>
                <a:path w="5715000" h="9525">
                  <a:moveTo>
                    <a:pt x="0" y="0"/>
                  </a:moveTo>
                  <a:lnTo>
                    <a:pt x="5715000" y="0"/>
                  </a:lnTo>
                </a:path>
              </a:pathLst>
            </a:custGeom>
            <a:noFill/>
            <a:ln w="9525">
              <a:solidFill>
                <a:schemeClr val="accent6"/>
              </a:solidFill>
            </a:ln>
          </p:spPr>
        </p:sp>
        <p:sp>
          <p:nvSpPr>
            <p:cNvPr id="83" name="TextBox 83"/>
            <p:cNvSpPr txBox="1"/>
            <p:nvPr/>
          </p:nvSpPr>
          <p:spPr>
            <a:xfrm>
              <a:off x="2484353" y="6048375"/>
              <a:ext cx="7223294" cy="293370"/>
            </a:xfrm>
            <a:prstGeom prst="rect">
              <a:avLst/>
            </a:prstGeom>
            <a:noFill/>
            <a:ln>
              <a:noFill/>
            </a:ln>
          </p:spPr>
          <p:txBody>
            <a:bodyPr wrap="none" lIns="0" tIns="0" rIns="0" bIns="0" anchor="t" anchorCtr="0">
              <a:spAutoFit/>
            </a:bodyPr>
            <a:lstStyle/>
            <a:p>
              <a:pPr algn="ctr"/>
              <a:r>
                <a:rPr lang="en" sz="1500" i="1" dirty="0">
                  <a:solidFill>
                    <a:schemeClr val="accent1"/>
                  </a:solidFill>
                  <a:latin typeface="+mj-lt"/>
                  <a:ea typeface="+mj-ea"/>
                  <a:cs typeface="+mj-cs"/>
                </a:rPr>
                <a:t>“Each escalation can be traced back to the evidence that caused it.”</a:t>
              </a:r>
            </a:p>
          </p:txBody>
        </p:sp>
      </p:grpSp>
      <p:sp>
        <p:nvSpPr>
          <p:cNvPr id="85" name="TextBox 85"/>
          <p:cNvSpPr txBox="1"/>
          <p:nvPr/>
        </p:nvSpPr>
        <p:spPr>
          <a:xfrm>
            <a:off x="11432327" y="6562249"/>
            <a:ext cx="155026" cy="190690"/>
          </a:xfrm>
          <a:prstGeom prst="rect">
            <a:avLst/>
          </a:prstGeom>
          <a:noFill/>
          <a:ln>
            <a:noFill/>
          </a:ln>
        </p:spPr>
        <p:txBody>
          <a:bodyPr wrap="none" lIns="0" tIns="0" rIns="0" bIns="0" anchor="t" anchorCtr="0">
            <a:spAutoFit/>
          </a:bodyPr>
          <a:lstStyle/>
          <a:p>
            <a:pPr algn="r"/>
            <a:r>
              <a:rPr lang="en" sz="980" dirty="0">
                <a:solidFill>
                  <a:schemeClr val="accent3"/>
                </a:solidFill>
                <a:latin typeface="+mn-lt"/>
                <a:ea typeface="+mn-ea"/>
                <a:cs typeface="+mn-cs"/>
              </a:rPr>
              <a:t>08</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500"/>
                                        <p:tgtEl>
                                          <p:spTgt spid="51"/>
                                        </p:tgtEl>
                                      </p:cBhvr>
                                    </p:animEffect>
                                  </p:childTnLst>
                                </p:cTn>
                              </p:par>
                            </p:childTnLst>
                          </p:cTn>
                        </p:par>
                      </p:childTnLst>
                    </p:cTn>
                  </p:par>
                  <p:par>
                    <p:cTn id="12" fill="hold">
                      <p:stCondLst>
                        <p:cond delay="indefinite"/>
                      </p:stCondLst>
                      <p:childTnLst>
                        <p:par>
                          <p:cTn id="13" fill="hold">
                            <p:stCondLst>
                              <p:cond delay="0"/>
                            </p:stCondLst>
                            <p:childTnLst>
                              <p:par>
                                <p:cTn xmlns:p="http://schemas.openxmlformats.org/presentationml/2006/main" id="14" presetID="10" presetClass="entr" presetSubtype="0" fill="hold" grpId="0" nodeType="clickEffect">
                                  <p:stCondLst>
                                    <p:cond delay="0"/>
                                  </p:stCondLst>
                                  <p:childTnLst>
                                    <p:set>
                                      <p:cBhvr>
                                        <p:cTn id="15" dur="1" fill="hold">
                                          <p:stCondLst>
                                            <p:cond delay="0"/>
                                          </p:stCondLst>
                                        </p:cTn>
                                        <p:tgtEl>
                                          <p:spTgt spid="71"/>
                                        </p:tgtEl>
                                        <p:attrNameLst>
                                          <p:attrName>style.visibility</p:attrName>
                                        </p:attrNameLst>
                                      </p:cBhvr>
                                      <p:to>
                                        <p:strVal val="visible"/>
                                      </p:to>
                                    </p:set>
                                    <p:animEffect transition="in" filter="fade">
                                      <p:cBhvr>
                                        <p:cTn id="16" dur="600"/>
                                        <p:tgtEl>
                                          <p:spTgt spid="71"/>
                                        </p:tgtEl>
                                      </p:cBhvr>
                                    </p:animEffect>
                                  </p:childTnLst>
                                </p:cTn>
                              </p:par>
                            </p:childTnLst>
                          </p:cTn>
                        </p:par>
                        <p:par>
                          <p:cTn id="17" fill="hold">
                            <p:stCondLst>
                              <p:cond delay="600"/>
                            </p:stCondLst>
                            <p:childTnLst>
                              <p:par>
                                <p:cTn xmlns:p="http://schemas.openxmlformats.org/presentationml/2006/main" id="18" presetID="10" presetClass="entr" presetSubtype="0" fill="hold" grpId="0" nodeType="afterEffect">
                                  <p:stCondLst>
                                    <p:cond delay="150"/>
                                  </p:stCondLst>
                                  <p:childTnLst>
                                    <p:set>
                                      <p:cBhvr>
                                        <p:cTn id="19" dur="1" fill="hold">
                                          <p:stCondLst>
                                            <p:cond delay="0"/>
                                          </p:stCondLst>
                                        </p:cTn>
                                        <p:tgtEl>
                                          <p:spTgt spid="81"/>
                                        </p:tgtEl>
                                        <p:attrNameLst>
                                          <p:attrName>style.visibility</p:attrName>
                                        </p:attrNameLst>
                                      </p:cBhvr>
                                      <p:to>
                                        <p:strVal val="visible"/>
                                      </p:to>
                                    </p:set>
                                    <p:animEffect transition="in" filter="fade">
                                      <p:cBhvr>
                                        <p:cTn id="20" dur="500"/>
                                        <p:tgtEl>
                                          <p:spTgt spid="81"/>
                                        </p:tgtEl>
                                      </p:cBhvr>
                                    </p:animEffect>
                                  </p:childTnLst>
                                </p:cTn>
                              </p:par>
                            </p:childTnLst>
                          </p:cTn>
                        </p:par>
                      </p:childTnLst>
                    </p:cTn>
                  </p:par>
                  <p:par>
                    <p:cTn id="21" fill="hold">
                      <p:stCondLst>
                        <p:cond delay="indefinite"/>
                      </p:stCondLst>
                      <p:childTnLst>
                        <p:par>
                          <p:cTn id="22" fill="hold">
                            <p:stCondLst>
                              <p:cond delay="0"/>
                            </p:stCondLst>
                            <p:childTnLst>
                              <p:par>
                                <p:cTn xmlns:p="http://schemas.openxmlformats.org/presentationml/2006/main" id="23" presetID="10" presetClass="entr" presetSubtype="0" fill="hold" grpId="0" nodeType="clickEffect">
                                  <p:stCondLst>
                                    <p:cond delay="0"/>
                                  </p:stCondLst>
                                  <p:childTnLst>
                                    <p:set>
                                      <p:cBhvr>
                                        <p:cTn id="24" dur="1" fill="hold">
                                          <p:stCondLst>
                                            <p:cond delay="0"/>
                                          </p:stCondLst>
                                        </p:cTn>
                                        <p:tgtEl>
                                          <p:spTgt spid="84"/>
                                        </p:tgtEl>
                                        <p:attrNameLst>
                                          <p:attrName>style.visibility</p:attrName>
                                        </p:attrNameLst>
                                      </p:cBhvr>
                                      <p:to>
                                        <p:strVal val="visible"/>
                                      </p:to>
                                    </p:set>
                                    <p:animEffect transition="in" filter="fade">
                                      <p:cBhvr>
                                        <p:cTn id="25"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5884" y="590074"/>
            <a:ext cx="10986516" cy="827627"/>
            <a:chOff x="595884" y="590074"/>
            <a:chExt cx="10986516" cy="827627"/>
          </a:xfrm>
        </p:grpSpPr>
        <p:sp>
          <p:nvSpPr>
            <p:cNvPr id="2" name="Rectangle 2"/>
            <p:cNvSpPr/>
            <p:nvPr/>
          </p:nvSpPr>
          <p:spPr>
            <a:xfrm>
              <a:off x="609600" y="590550"/>
              <a:ext cx="266700" cy="28575"/>
            </a:xfrm>
            <a:prstGeom prst="rect">
              <a:avLst/>
            </a:prstGeom>
            <a:solidFill>
              <a:schemeClr val="accent2"/>
            </a:solidFill>
            <a:ln>
              <a:noFill/>
            </a:ln>
          </p:spPr>
        </p:sp>
        <p:sp>
          <p:nvSpPr>
            <p:cNvPr id="3" name="TextBox 3"/>
            <p:cNvSpPr txBox="1"/>
            <p:nvPr/>
          </p:nvSpPr>
          <p:spPr>
            <a:xfrm>
              <a:off x="985647" y="590074"/>
              <a:ext cx="1278687" cy="190690"/>
            </a:xfrm>
            <a:prstGeom prst="rect">
              <a:avLst/>
            </a:prstGeom>
            <a:noFill/>
            <a:ln>
              <a:noFill/>
            </a:ln>
          </p:spPr>
          <p:txBody>
            <a:bodyPr wrap="none" lIns="0" tIns="0" rIns="0" bIns="0" anchor="t" anchorCtr="0">
              <a:spAutoFit/>
            </a:bodyPr>
            <a:lstStyle/>
            <a:p>
              <a:pPr algn="l"/>
              <a:r>
                <a:rPr lang="en" sz="980" spc="188" dirty="0">
                  <a:solidFill>
                    <a:schemeClr val="accent2"/>
                  </a:solidFill>
                  <a:latin typeface="+mn-lt"/>
                  <a:ea typeface="+mn-ea"/>
                  <a:cs typeface="+mn-cs"/>
                </a:rPr>
                <a:t>INCIDENT FLOW</a:t>
              </a:r>
            </a:p>
          </p:txBody>
        </p:sp>
        <p:sp>
          <p:nvSpPr>
            <p:cNvPr id="4" name="TextBox 4"/>
            <p:cNvSpPr txBox="1"/>
            <p:nvPr/>
          </p:nvSpPr>
          <p:spPr>
            <a:xfrm>
              <a:off x="595884" y="889635"/>
              <a:ext cx="5159601" cy="528066"/>
            </a:xfrm>
            <a:prstGeom prst="rect">
              <a:avLst/>
            </a:prstGeom>
            <a:noFill/>
            <a:ln>
              <a:noFill/>
            </a:ln>
          </p:spPr>
          <p:txBody>
            <a:bodyPr wrap="none" lIns="0" tIns="0" rIns="0" bIns="0" anchor="t" anchorCtr="0">
              <a:spAutoFit/>
            </a:bodyPr>
            <a:lstStyle/>
            <a:p>
              <a:pPr algn="l"/>
              <a:r>
                <a:rPr lang="en" sz="2700" dirty="0">
                  <a:solidFill>
                    <a:schemeClr val="accent1"/>
                  </a:solidFill>
                  <a:latin typeface="+mj-lt"/>
                  <a:ea typeface="+mj-ea"/>
                  <a:cs typeface="+mj-cs"/>
                </a:rPr>
                <a:t>From Incident to Caregiver</a:t>
              </a:r>
            </a:p>
          </p:txBody>
        </p:sp>
        <p:sp>
          <p:nvSpPr>
            <p:cNvPr id="5" name="Line 5"/>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47" name="Group 47"/>
          <p:cNvGrpSpPr/>
          <p:nvPr/>
        </p:nvGrpSpPr>
        <p:grpSpPr>
          <a:xfrm>
            <a:off x="685800" y="1562100"/>
            <a:ext cx="7743825" cy="3771900"/>
            <a:chOff x="685800" y="1562100"/>
            <a:chExt cx="7743825" cy="3771900"/>
          </a:xfrm>
        </p:grpSpPr>
        <p:grpSp>
          <p:nvGrpSpPr>
            <p:cNvPr id="16" name="Group 16"/>
            <p:cNvGrpSpPr/>
            <p:nvPr/>
          </p:nvGrpSpPr>
          <p:grpSpPr>
            <a:xfrm>
              <a:off x="685800" y="1562100"/>
              <a:ext cx="7620000" cy="383857"/>
              <a:chOff x="685800" y="1562100"/>
              <a:chExt cx="7620000" cy="383857"/>
            </a:xfrm>
          </p:grpSpPr>
          <p:sp>
            <p:nvSpPr>
              <p:cNvPr id="7" name="Rectangle 7"/>
              <p:cNvSpPr/>
              <p:nvPr/>
            </p:nvSpPr>
            <p:spPr>
              <a:xfrm>
                <a:off x="685800" y="1562100"/>
                <a:ext cx="1219200" cy="381000"/>
              </a:xfrm>
              <a:prstGeom prst="roundRect">
                <a:avLst>
                  <a:gd name="adj" fmla="val 10000"/>
                </a:avLst>
              </a:prstGeom>
              <a:solidFill>
                <a:schemeClr val="lt2"/>
              </a:solidFill>
              <a:ln>
                <a:noFill/>
              </a:ln>
            </p:spPr>
          </p:sp>
          <p:sp>
            <p:nvSpPr>
              <p:cNvPr id="8" name="TextBox 8"/>
              <p:cNvSpPr txBox="1"/>
              <p:nvPr/>
            </p:nvSpPr>
            <p:spPr>
              <a:xfrm>
                <a:off x="1059726" y="1694974"/>
                <a:ext cx="471348" cy="190690"/>
              </a:xfrm>
              <a:prstGeom prst="rect">
                <a:avLst/>
              </a:prstGeom>
              <a:noFill/>
              <a:ln>
                <a:noFill/>
              </a:ln>
            </p:spPr>
            <p:txBody>
              <a:bodyPr wrap="none" lIns="0" tIns="0" rIns="0" bIns="0" anchor="t" anchorCtr="0">
                <a:spAutoFit/>
              </a:bodyPr>
              <a:lstStyle/>
              <a:p>
                <a:pPr algn="ctr"/>
                <a:r>
                  <a:rPr lang="en" sz="980" b="1" dirty="0">
                    <a:solidFill>
                      <a:schemeClr val="accent1"/>
                    </a:solidFill>
                    <a:latin typeface="+mn-lt"/>
                    <a:ea typeface="+mn-ea"/>
                    <a:cs typeface="+mn-cs"/>
                  </a:rPr>
                  <a:t>Jetson</a:t>
                </a:r>
              </a:p>
            </p:txBody>
          </p:sp>
          <p:sp>
            <p:nvSpPr>
              <p:cNvPr id="9" name="Rectangle 9"/>
              <p:cNvSpPr/>
              <p:nvPr/>
            </p:nvSpPr>
            <p:spPr>
              <a:xfrm>
                <a:off x="2819400" y="1562100"/>
                <a:ext cx="1219200" cy="381000"/>
              </a:xfrm>
              <a:prstGeom prst="roundRect">
                <a:avLst>
                  <a:gd name="adj" fmla="val 10000"/>
                </a:avLst>
              </a:prstGeom>
              <a:solidFill>
                <a:schemeClr val="lt2"/>
              </a:solidFill>
              <a:ln>
                <a:noFill/>
              </a:ln>
            </p:spPr>
          </p:sp>
          <p:sp>
            <p:nvSpPr>
              <p:cNvPr id="10" name="TextBox 10"/>
              <p:cNvSpPr txBox="1"/>
              <p:nvPr/>
            </p:nvSpPr>
            <p:spPr>
              <a:xfrm>
                <a:off x="2881765" y="1694974"/>
                <a:ext cx="1094470" cy="190690"/>
              </a:xfrm>
              <a:prstGeom prst="rect">
                <a:avLst/>
              </a:prstGeom>
              <a:noFill/>
              <a:ln>
                <a:noFill/>
              </a:ln>
            </p:spPr>
            <p:txBody>
              <a:bodyPr wrap="none" lIns="0" tIns="0" rIns="0" bIns="0" anchor="t" anchorCtr="0">
                <a:spAutoFit/>
              </a:bodyPr>
              <a:lstStyle/>
              <a:p>
                <a:pPr algn="ctr"/>
                <a:r>
                  <a:rPr lang="en" sz="980" b="1" dirty="0">
                    <a:solidFill>
                      <a:schemeClr val="accent1"/>
                    </a:solidFill>
                    <a:latin typeface="+mn-lt"/>
                    <a:ea typeface="+mn-ea"/>
                    <a:cs typeface="+mn-cs"/>
                  </a:rPr>
                  <a:t>Signaling server</a:t>
                </a:r>
              </a:p>
            </p:txBody>
          </p:sp>
          <p:sp>
            <p:nvSpPr>
              <p:cNvPr id="11" name="Rectangle 11"/>
              <p:cNvSpPr/>
              <p:nvPr/>
            </p:nvSpPr>
            <p:spPr>
              <a:xfrm>
                <a:off x="4953000" y="1562100"/>
                <a:ext cx="1219200" cy="381000"/>
              </a:xfrm>
              <a:prstGeom prst="roundRect">
                <a:avLst>
                  <a:gd name="adj" fmla="val 10000"/>
                </a:avLst>
              </a:prstGeom>
              <a:solidFill>
                <a:schemeClr val="lt2"/>
              </a:solidFill>
              <a:ln>
                <a:noFill/>
              </a:ln>
            </p:spPr>
          </p:sp>
          <p:sp>
            <p:nvSpPr>
              <p:cNvPr id="12" name="TextBox 12"/>
              <p:cNvSpPr txBox="1"/>
              <p:nvPr/>
            </p:nvSpPr>
            <p:spPr>
              <a:xfrm>
                <a:off x="5015365" y="1694974"/>
                <a:ext cx="1094470" cy="190690"/>
              </a:xfrm>
              <a:prstGeom prst="rect">
                <a:avLst/>
              </a:prstGeom>
              <a:noFill/>
              <a:ln>
                <a:noFill/>
              </a:ln>
            </p:spPr>
            <p:txBody>
              <a:bodyPr wrap="none" lIns="0" tIns="0" rIns="0" bIns="0" anchor="t" anchorCtr="0">
                <a:spAutoFit/>
              </a:bodyPr>
              <a:lstStyle/>
              <a:p>
                <a:pPr algn="ctr"/>
                <a:r>
                  <a:rPr lang="en" sz="980" b="1" dirty="0">
                    <a:solidFill>
                      <a:schemeClr val="accent1"/>
                    </a:solidFill>
                    <a:latin typeface="+mn-lt"/>
                    <a:ea typeface="+mn-ea"/>
                    <a:cs typeface="+mn-cs"/>
                  </a:rPr>
                  <a:t>Caregiver client</a:t>
                </a:r>
              </a:p>
            </p:txBody>
          </p:sp>
          <p:sp>
            <p:nvSpPr>
              <p:cNvPr id="13" name="Rectangle 13"/>
              <p:cNvSpPr/>
              <p:nvPr/>
            </p:nvSpPr>
            <p:spPr>
              <a:xfrm>
                <a:off x="7086600" y="1562100"/>
                <a:ext cx="1219200" cy="381000"/>
              </a:xfrm>
              <a:prstGeom prst="roundRect">
                <a:avLst>
                  <a:gd name="adj" fmla="val 10000"/>
                </a:avLst>
              </a:prstGeom>
              <a:solidFill>
                <a:schemeClr val="lt2"/>
              </a:solidFill>
              <a:ln>
                <a:noFill/>
              </a:ln>
            </p:spPr>
          </p:sp>
          <p:sp>
            <p:nvSpPr>
              <p:cNvPr id="14" name="TextBox 14"/>
              <p:cNvSpPr txBox="1"/>
              <p:nvPr/>
            </p:nvSpPr>
            <p:spPr>
              <a:xfrm>
                <a:off x="7317576" y="1626870"/>
                <a:ext cx="757248" cy="176212"/>
              </a:xfrm>
              <a:prstGeom prst="rect">
                <a:avLst/>
              </a:prstGeom>
              <a:noFill/>
              <a:ln>
                <a:noFill/>
              </a:ln>
            </p:spPr>
            <p:txBody>
              <a:bodyPr wrap="none" lIns="0" tIns="0" rIns="0" bIns="0" anchor="t" anchorCtr="0">
                <a:spAutoFit/>
              </a:bodyPr>
              <a:lstStyle/>
              <a:p>
                <a:pPr algn="ctr"/>
                <a:r>
                  <a:rPr lang="en" sz="900" b="1" dirty="0">
                    <a:solidFill>
                      <a:schemeClr val="accent1"/>
                    </a:solidFill>
                    <a:latin typeface="+mn-lt"/>
                    <a:ea typeface="+mn-ea"/>
                    <a:cs typeface="+mn-cs"/>
                  </a:rPr>
                  <a:t>Notification</a:t>
                </a:r>
              </a:p>
            </p:txBody>
          </p:sp>
          <p:sp>
            <p:nvSpPr>
              <p:cNvPr id="15" name="TextBox 15"/>
              <p:cNvSpPr txBox="1"/>
              <p:nvPr/>
            </p:nvSpPr>
            <p:spPr>
              <a:xfrm>
                <a:off x="7462449" y="1769745"/>
                <a:ext cx="467502" cy="176212"/>
              </a:xfrm>
              <a:prstGeom prst="rect">
                <a:avLst/>
              </a:prstGeom>
              <a:noFill/>
              <a:ln>
                <a:noFill/>
              </a:ln>
            </p:spPr>
            <p:txBody>
              <a:bodyPr wrap="none" lIns="0" tIns="0" rIns="0" bIns="0" anchor="t" anchorCtr="0">
                <a:spAutoFit/>
              </a:bodyPr>
              <a:lstStyle/>
              <a:p>
                <a:pPr algn="ctr"/>
                <a:r>
                  <a:rPr lang="en" sz="900" b="1" dirty="0">
                    <a:solidFill>
                      <a:schemeClr val="accent1"/>
                    </a:solidFill>
                    <a:latin typeface="+mn-lt"/>
                    <a:ea typeface="+mn-ea"/>
                    <a:cs typeface="+mn-cs"/>
                  </a:rPr>
                  <a:t>service</a:t>
                </a:r>
              </a:p>
            </p:txBody>
          </p:sp>
        </p:grpSp>
        <p:sp>
          <p:nvSpPr>
            <p:cNvPr id="17" name="Line 17"/>
            <p:cNvSpPr/>
            <p:nvPr/>
          </p:nvSpPr>
          <p:spPr>
            <a:xfrm>
              <a:off x="1295400" y="1981200"/>
              <a:ext cx="9525" cy="3352800"/>
            </a:xfrm>
            <a:custGeom>
              <a:avLst/>
              <a:gdLst/>
              <a:ahLst/>
              <a:cxnLst/>
              <a:rect l="l" t="t" r="r" b="b"/>
              <a:pathLst>
                <a:path w="9525" h="3352800">
                  <a:moveTo>
                    <a:pt x="0" y="0"/>
                  </a:moveTo>
                  <a:lnTo>
                    <a:pt x="0" y="3352800"/>
                  </a:lnTo>
                </a:path>
              </a:pathLst>
            </a:custGeom>
            <a:noFill/>
            <a:ln w="9525">
              <a:solidFill>
                <a:schemeClr val="accent3"/>
              </a:solidFill>
              <a:prstDash val="dash"/>
            </a:ln>
          </p:spPr>
        </p:sp>
        <p:sp>
          <p:nvSpPr>
            <p:cNvPr id="18" name="Line 18"/>
            <p:cNvSpPr/>
            <p:nvPr/>
          </p:nvSpPr>
          <p:spPr>
            <a:xfrm>
              <a:off x="3429000" y="1981200"/>
              <a:ext cx="9525" cy="3352800"/>
            </a:xfrm>
            <a:custGeom>
              <a:avLst/>
              <a:gdLst/>
              <a:ahLst/>
              <a:cxnLst/>
              <a:rect l="l" t="t" r="r" b="b"/>
              <a:pathLst>
                <a:path w="9525" h="3352800">
                  <a:moveTo>
                    <a:pt x="0" y="0"/>
                  </a:moveTo>
                  <a:lnTo>
                    <a:pt x="0" y="3352800"/>
                  </a:lnTo>
                </a:path>
              </a:pathLst>
            </a:custGeom>
            <a:noFill/>
            <a:ln w="9525">
              <a:solidFill>
                <a:schemeClr val="accent3"/>
              </a:solidFill>
              <a:prstDash val="dash"/>
            </a:ln>
          </p:spPr>
        </p:sp>
        <p:sp>
          <p:nvSpPr>
            <p:cNvPr id="19" name="Line 19"/>
            <p:cNvSpPr/>
            <p:nvPr/>
          </p:nvSpPr>
          <p:spPr>
            <a:xfrm>
              <a:off x="5562600" y="1981200"/>
              <a:ext cx="9525" cy="3352800"/>
            </a:xfrm>
            <a:custGeom>
              <a:avLst/>
              <a:gdLst/>
              <a:ahLst/>
              <a:cxnLst/>
              <a:rect l="l" t="t" r="r" b="b"/>
              <a:pathLst>
                <a:path w="9525" h="3352800">
                  <a:moveTo>
                    <a:pt x="0" y="0"/>
                  </a:moveTo>
                  <a:lnTo>
                    <a:pt x="0" y="3352800"/>
                  </a:lnTo>
                </a:path>
              </a:pathLst>
            </a:custGeom>
            <a:noFill/>
            <a:ln w="9525">
              <a:solidFill>
                <a:schemeClr val="accent3"/>
              </a:solidFill>
              <a:prstDash val="dash"/>
            </a:ln>
          </p:spPr>
        </p:sp>
        <p:sp>
          <p:nvSpPr>
            <p:cNvPr id="20" name="Line 20"/>
            <p:cNvSpPr/>
            <p:nvPr/>
          </p:nvSpPr>
          <p:spPr>
            <a:xfrm>
              <a:off x="7696200" y="1981200"/>
              <a:ext cx="9525" cy="3352800"/>
            </a:xfrm>
            <a:custGeom>
              <a:avLst/>
              <a:gdLst/>
              <a:ahLst/>
              <a:cxnLst/>
              <a:rect l="l" t="t" r="r" b="b"/>
              <a:pathLst>
                <a:path w="9525" h="3352800">
                  <a:moveTo>
                    <a:pt x="0" y="0"/>
                  </a:moveTo>
                  <a:lnTo>
                    <a:pt x="0" y="3352800"/>
                  </a:lnTo>
                </a:path>
              </a:pathLst>
            </a:custGeom>
            <a:noFill/>
            <a:ln w="9525">
              <a:solidFill>
                <a:schemeClr val="accent3"/>
              </a:solidFill>
              <a:prstDash val="dash"/>
            </a:ln>
          </p:spPr>
        </p:sp>
        <p:grpSp>
          <p:nvGrpSpPr>
            <p:cNvPr id="23" name="Group 23"/>
            <p:cNvGrpSpPr/>
            <p:nvPr/>
          </p:nvGrpSpPr>
          <p:grpSpPr>
            <a:xfrm>
              <a:off x="1266825" y="2180749"/>
              <a:ext cx="2180194" cy="190690"/>
              <a:chOff x="1266825" y="2180749"/>
              <a:chExt cx="2180194" cy="190690"/>
            </a:xfrm>
          </p:grpSpPr>
          <p:sp>
            <p:nvSpPr>
              <p:cNvPr id="21" name="Ellipse 21"/>
              <p:cNvSpPr/>
              <p:nvPr/>
            </p:nvSpPr>
            <p:spPr>
              <a:xfrm>
                <a:off x="1266825" y="2219325"/>
                <a:ext cx="57150" cy="57150"/>
              </a:xfrm>
              <a:prstGeom prst="ellipse">
                <a:avLst/>
              </a:prstGeom>
              <a:solidFill>
                <a:schemeClr val="accent2"/>
              </a:solidFill>
              <a:ln>
                <a:noFill/>
              </a:ln>
            </p:spPr>
          </p:sp>
          <p:sp>
            <p:nvSpPr>
              <p:cNvPr id="22" name="TextBox 22"/>
              <p:cNvSpPr txBox="1"/>
              <p:nvPr/>
            </p:nvSpPr>
            <p:spPr>
              <a:xfrm>
                <a:off x="1442847" y="2180749"/>
                <a:ext cx="2004172" cy="190690"/>
              </a:xfrm>
              <a:prstGeom prst="rect">
                <a:avLst/>
              </a:prstGeom>
              <a:noFill/>
              <a:ln>
                <a:noFill/>
              </a:ln>
            </p:spPr>
            <p:txBody>
              <a:bodyPr wrap="none" lIns="0" tIns="0" rIns="0" bIns="0" anchor="t" anchorCtr="0">
                <a:spAutoFit/>
              </a:bodyPr>
              <a:lstStyle/>
              <a:p>
                <a:pPr algn="l"/>
                <a:r>
                  <a:rPr lang="en" sz="980" b="1" dirty="0">
                    <a:solidFill>
                      <a:schemeClr val="accent2"/>
                    </a:solidFill>
                    <a:latin typeface="+mn-lt"/>
                    <a:ea typeface="+mn-ea"/>
                    <a:cs typeface="+mn-cs"/>
                  </a:rPr>
                  <a:t xml:space="preserve">1 · </a:t>
                </a:r>
                <a:r>
                  <a:rPr lang="en" sz="980" dirty="0">
                    <a:solidFill>
                      <a:schemeClr val="dk1"/>
                    </a:solidFill>
                    <a:latin typeface="+mn-lt"/>
                    <a:ea typeface="+mn-ea"/>
                    <a:cs typeface="+mn-cs"/>
                  </a:rPr>
                  <a:t>Fusion confirms an incident</a:t>
                </a:r>
              </a:p>
            </p:txBody>
          </p:sp>
        </p:grpSp>
        <p:grpSp>
          <p:nvGrpSpPr>
            <p:cNvPr id="26" name="Group 26"/>
            <p:cNvGrpSpPr/>
            <p:nvPr/>
          </p:nvGrpSpPr>
          <p:grpSpPr>
            <a:xfrm>
              <a:off x="1266825" y="2599849"/>
              <a:ext cx="2340721" cy="190690"/>
              <a:chOff x="1266825" y="2599849"/>
              <a:chExt cx="2340721" cy="190690"/>
            </a:xfrm>
          </p:grpSpPr>
          <p:sp>
            <p:nvSpPr>
              <p:cNvPr id="24" name="Ellipse 24"/>
              <p:cNvSpPr/>
              <p:nvPr/>
            </p:nvSpPr>
            <p:spPr>
              <a:xfrm>
                <a:off x="1266825" y="2638425"/>
                <a:ext cx="57150" cy="57150"/>
              </a:xfrm>
              <a:prstGeom prst="ellipse">
                <a:avLst/>
              </a:prstGeom>
              <a:solidFill>
                <a:schemeClr val="accent2"/>
              </a:solidFill>
              <a:ln>
                <a:noFill/>
              </a:ln>
            </p:spPr>
          </p:sp>
          <p:sp>
            <p:nvSpPr>
              <p:cNvPr id="25" name="TextBox 25"/>
              <p:cNvSpPr txBox="1"/>
              <p:nvPr/>
            </p:nvSpPr>
            <p:spPr>
              <a:xfrm>
                <a:off x="1442847" y="2599849"/>
                <a:ext cx="2164699" cy="190690"/>
              </a:xfrm>
              <a:prstGeom prst="rect">
                <a:avLst/>
              </a:prstGeom>
              <a:noFill/>
              <a:ln>
                <a:noFill/>
              </a:ln>
            </p:spPr>
            <p:txBody>
              <a:bodyPr wrap="none" lIns="0" tIns="0" rIns="0" bIns="0" anchor="t" anchorCtr="0">
                <a:spAutoFit/>
              </a:bodyPr>
              <a:lstStyle/>
              <a:p>
                <a:pPr algn="l"/>
                <a:r>
                  <a:rPr lang="en" sz="980" b="1" dirty="0">
                    <a:solidFill>
                      <a:schemeClr val="accent2"/>
                    </a:solidFill>
                    <a:latin typeface="+mn-lt"/>
                    <a:ea typeface="+mn-ea"/>
                    <a:cs typeface="+mn-cs"/>
                  </a:rPr>
                  <a:t xml:space="preserve">2 · </a:t>
                </a:r>
                <a:r>
                  <a:rPr lang="en" sz="980" dirty="0">
                    <a:solidFill>
                      <a:schemeClr val="dk1"/>
                    </a:solidFill>
                    <a:latin typeface="+mn-lt"/>
                    <a:ea typeface="+mn-ea"/>
                    <a:cs typeface="+mn-cs"/>
                  </a:rPr>
                  <a:t>Jetson generates a session ID</a:t>
                </a:r>
              </a:p>
            </p:txBody>
          </p:sp>
        </p:grpSp>
        <p:grpSp>
          <p:nvGrpSpPr>
            <p:cNvPr id="30" name="Group 30"/>
            <p:cNvGrpSpPr/>
            <p:nvPr/>
          </p:nvGrpSpPr>
          <p:grpSpPr>
            <a:xfrm>
              <a:off x="1333500" y="2980849"/>
              <a:ext cx="6324600" cy="276702"/>
              <a:chOff x="1333500" y="2980849"/>
              <a:chExt cx="6324600" cy="276702"/>
            </a:xfrm>
          </p:grpSpPr>
          <p:sp>
            <p:nvSpPr>
              <p:cNvPr id="27" name="TextBox 27"/>
              <p:cNvSpPr txBox="1"/>
              <p:nvPr/>
            </p:nvSpPr>
            <p:spPr>
              <a:xfrm>
                <a:off x="2627580" y="2980849"/>
                <a:ext cx="3736440" cy="190690"/>
              </a:xfrm>
              <a:prstGeom prst="rect">
                <a:avLst/>
              </a:prstGeom>
              <a:noFill/>
              <a:ln>
                <a:noFill/>
              </a:ln>
            </p:spPr>
            <p:txBody>
              <a:bodyPr wrap="none" lIns="0" tIns="0" rIns="0" bIns="0" anchor="t" anchorCtr="0">
                <a:spAutoFit/>
              </a:bodyPr>
              <a:lstStyle/>
              <a:p>
                <a:pPr algn="ctr"/>
                <a:r>
                  <a:rPr lang="en" sz="980" b="1" dirty="0">
                    <a:solidFill>
                      <a:schemeClr val="accent2"/>
                    </a:solidFill>
                    <a:latin typeface="+mn-lt"/>
                    <a:ea typeface="+mn-ea"/>
                    <a:cs typeface="+mn-cs"/>
                  </a:rPr>
                  <a:t xml:space="preserve">3 · </a:t>
                </a:r>
                <a:r>
                  <a:rPr lang="en" sz="980" dirty="0">
                    <a:solidFill>
                      <a:schemeClr val="dk1"/>
                    </a:solidFill>
                    <a:latin typeface="+mn-lt"/>
                    <a:ea typeface="+mn-ea"/>
                    <a:cs typeface="+mn-cs"/>
                  </a:rPr>
                  <a:t>Webhook dispatch and WebRTC startup begin in parallel</a:t>
                </a:r>
              </a:p>
            </p:txBody>
          </p:sp>
          <p:sp>
            <p:nvSpPr>
              <p:cNvPr id="28" name="Line 28"/>
              <p:cNvSpPr/>
              <p:nvPr/>
            </p:nvSpPr>
            <p:spPr>
              <a:xfrm>
                <a:off x="1333500" y="3181350"/>
                <a:ext cx="2057400" cy="1"/>
              </a:xfrm>
              <a:prstGeom prst="line">
                <a:avLst/>
              </a:prstGeom>
              <a:noFill/>
              <a:ln w="14288">
                <a:solidFill>
                  <a:schemeClr val="accent2"/>
                </a:solidFill>
                <a:tailEnd type="triangle" w="lg" len="lg"/>
              </a:ln>
            </p:spPr>
          </p:sp>
          <p:sp>
            <p:nvSpPr>
              <p:cNvPr id="29" name="Line 29"/>
              <p:cNvSpPr/>
              <p:nvPr/>
            </p:nvSpPr>
            <p:spPr>
              <a:xfrm>
                <a:off x="1333500" y="3257550"/>
                <a:ext cx="6324600" cy="1"/>
              </a:xfrm>
              <a:prstGeom prst="line">
                <a:avLst/>
              </a:prstGeom>
              <a:noFill/>
              <a:ln w="14288">
                <a:solidFill>
                  <a:schemeClr val="accent2"/>
                </a:solidFill>
                <a:tailEnd type="triangle" w="lg" len="lg"/>
              </a:ln>
            </p:spPr>
          </p:sp>
        </p:grpSp>
        <p:grpSp>
          <p:nvGrpSpPr>
            <p:cNvPr id="33" name="Group 33"/>
            <p:cNvGrpSpPr/>
            <p:nvPr/>
          </p:nvGrpSpPr>
          <p:grpSpPr>
            <a:xfrm>
              <a:off x="3400425" y="3438049"/>
              <a:ext cx="2885965" cy="190690"/>
              <a:chOff x="3400425" y="3438049"/>
              <a:chExt cx="2885965" cy="190690"/>
            </a:xfrm>
          </p:grpSpPr>
          <p:sp>
            <p:nvSpPr>
              <p:cNvPr id="31" name="Ellipse 31"/>
              <p:cNvSpPr/>
              <p:nvPr/>
            </p:nvSpPr>
            <p:spPr>
              <a:xfrm>
                <a:off x="3400425" y="3476625"/>
                <a:ext cx="57150" cy="57150"/>
              </a:xfrm>
              <a:prstGeom prst="ellipse">
                <a:avLst/>
              </a:prstGeom>
              <a:solidFill>
                <a:schemeClr val="accent2"/>
              </a:solidFill>
              <a:ln>
                <a:noFill/>
              </a:ln>
            </p:spPr>
          </p:sp>
          <p:sp>
            <p:nvSpPr>
              <p:cNvPr id="32" name="TextBox 32"/>
              <p:cNvSpPr txBox="1"/>
              <p:nvPr/>
            </p:nvSpPr>
            <p:spPr>
              <a:xfrm>
                <a:off x="3576447" y="3438049"/>
                <a:ext cx="2709943" cy="190690"/>
              </a:xfrm>
              <a:prstGeom prst="rect">
                <a:avLst/>
              </a:prstGeom>
              <a:noFill/>
              <a:ln>
                <a:noFill/>
              </a:ln>
            </p:spPr>
            <p:txBody>
              <a:bodyPr wrap="none" lIns="0" tIns="0" rIns="0" bIns="0" anchor="t" anchorCtr="0">
                <a:spAutoFit/>
              </a:bodyPr>
              <a:lstStyle/>
              <a:p>
                <a:pPr algn="l"/>
                <a:r>
                  <a:rPr lang="en" sz="980" b="1" dirty="0">
                    <a:solidFill>
                      <a:schemeClr val="accent2"/>
                    </a:solidFill>
                    <a:latin typeface="+mn-lt"/>
                    <a:ea typeface="+mn-ea"/>
                    <a:cs typeface="+mn-cs"/>
                  </a:rPr>
                  <a:t xml:space="preserve">4 · </a:t>
                </a:r>
                <a:r>
                  <a:rPr lang="en" sz="980" dirty="0">
                    <a:solidFill>
                      <a:schemeClr val="dk1"/>
                    </a:solidFill>
                    <a:latin typeface="+mn-lt"/>
                    <a:ea typeface="+mn-ea"/>
                    <a:cs typeface="+mn-cs"/>
                  </a:rPr>
                  <a:t>Signaling server registers the session</a:t>
                </a:r>
              </a:p>
            </p:txBody>
          </p:sp>
        </p:grpSp>
        <p:grpSp>
          <p:nvGrpSpPr>
            <p:cNvPr id="36" name="Group 36"/>
            <p:cNvGrpSpPr/>
            <p:nvPr/>
          </p:nvGrpSpPr>
          <p:grpSpPr>
            <a:xfrm>
              <a:off x="2870302" y="3857149"/>
              <a:ext cx="3250997" cy="200502"/>
              <a:chOff x="2870302" y="3857149"/>
              <a:chExt cx="3250997" cy="200502"/>
            </a:xfrm>
          </p:grpSpPr>
          <p:sp>
            <p:nvSpPr>
              <p:cNvPr id="34" name="TextBox 34"/>
              <p:cNvSpPr txBox="1"/>
              <p:nvPr/>
            </p:nvSpPr>
            <p:spPr>
              <a:xfrm>
                <a:off x="2870302" y="3857149"/>
                <a:ext cx="3250997" cy="190690"/>
              </a:xfrm>
              <a:prstGeom prst="rect">
                <a:avLst/>
              </a:prstGeom>
              <a:noFill/>
              <a:ln>
                <a:noFill/>
              </a:ln>
            </p:spPr>
            <p:txBody>
              <a:bodyPr wrap="none" lIns="0" tIns="0" rIns="0" bIns="0" anchor="t" anchorCtr="0">
                <a:spAutoFit/>
              </a:bodyPr>
              <a:lstStyle/>
              <a:p>
                <a:pPr algn="ctr"/>
                <a:r>
                  <a:rPr lang="en" sz="980" b="1" dirty="0">
                    <a:solidFill>
                      <a:schemeClr val="accent2"/>
                    </a:solidFill>
                    <a:latin typeface="+mn-lt"/>
                    <a:ea typeface="+mn-ea"/>
                    <a:cs typeface="+mn-cs"/>
                  </a:rPr>
                  <a:t xml:space="preserve">5 · </a:t>
                </a:r>
                <a:r>
                  <a:rPr lang="en" sz="980" dirty="0">
                    <a:solidFill>
                      <a:schemeClr val="dk1"/>
                    </a:solidFill>
                    <a:latin typeface="+mn-lt"/>
                    <a:ea typeface="+mn-ea"/>
                    <a:cs typeface="+mn-cs"/>
                  </a:rPr>
                  <a:t>Caregiver dashboard or mobile app discovers it</a:t>
                </a:r>
              </a:p>
            </p:txBody>
          </p:sp>
          <p:sp>
            <p:nvSpPr>
              <p:cNvPr id="35" name="Line 35"/>
              <p:cNvSpPr/>
              <p:nvPr/>
            </p:nvSpPr>
            <p:spPr>
              <a:xfrm>
                <a:off x="3467100" y="4057650"/>
                <a:ext cx="2057400" cy="1"/>
              </a:xfrm>
              <a:prstGeom prst="line">
                <a:avLst/>
              </a:prstGeom>
              <a:noFill/>
              <a:ln w="14288">
                <a:solidFill>
                  <a:schemeClr val="accent2"/>
                </a:solidFill>
                <a:tailEnd type="triangle" w="lg" len="lg"/>
              </a:ln>
            </p:spPr>
          </p:sp>
        </p:grpSp>
        <p:grpSp>
          <p:nvGrpSpPr>
            <p:cNvPr id="39" name="Group 39"/>
            <p:cNvGrpSpPr/>
            <p:nvPr/>
          </p:nvGrpSpPr>
          <p:grpSpPr>
            <a:xfrm>
              <a:off x="3467100" y="4276249"/>
              <a:ext cx="2057400" cy="200502"/>
              <a:chOff x="3467100" y="4276249"/>
              <a:chExt cx="2057400" cy="200502"/>
            </a:xfrm>
          </p:grpSpPr>
          <p:sp>
            <p:nvSpPr>
              <p:cNvPr id="37" name="TextBox 37"/>
              <p:cNvSpPr txBox="1"/>
              <p:nvPr/>
            </p:nvSpPr>
            <p:spPr>
              <a:xfrm>
                <a:off x="3892930" y="4276249"/>
                <a:ext cx="1205739" cy="190690"/>
              </a:xfrm>
              <a:prstGeom prst="rect">
                <a:avLst/>
              </a:prstGeom>
              <a:noFill/>
              <a:ln>
                <a:noFill/>
              </a:ln>
            </p:spPr>
            <p:txBody>
              <a:bodyPr wrap="none" lIns="0" tIns="0" rIns="0" bIns="0" anchor="t" anchorCtr="0">
                <a:spAutoFit/>
              </a:bodyPr>
              <a:lstStyle/>
              <a:p>
                <a:pPr algn="ctr"/>
                <a:r>
                  <a:rPr lang="en" sz="980" b="1" dirty="0">
                    <a:solidFill>
                      <a:schemeClr val="accent2"/>
                    </a:solidFill>
                    <a:latin typeface="+mn-lt"/>
                    <a:ea typeface="+mn-ea"/>
                    <a:cs typeface="+mn-cs"/>
                  </a:rPr>
                  <a:t xml:space="preserve">6 · </a:t>
                </a:r>
                <a:r>
                  <a:rPr lang="en" sz="980" dirty="0">
                    <a:solidFill>
                      <a:schemeClr val="dk1"/>
                    </a:solidFill>
                    <a:latin typeface="+mn-lt"/>
                    <a:ea typeface="+mn-ea"/>
                    <a:cs typeface="+mn-cs"/>
                  </a:rPr>
                  <a:t>Caregiver joins</a:t>
                </a:r>
              </a:p>
            </p:txBody>
          </p:sp>
          <p:sp>
            <p:nvSpPr>
              <p:cNvPr id="38" name="Line 38"/>
              <p:cNvSpPr/>
              <p:nvPr/>
            </p:nvSpPr>
            <p:spPr>
              <a:xfrm flipH="1">
                <a:off x="3467100" y="4476750"/>
                <a:ext cx="2057400" cy="1"/>
              </a:xfrm>
              <a:prstGeom prst="line">
                <a:avLst/>
              </a:prstGeom>
              <a:noFill/>
              <a:ln w="14288">
                <a:solidFill>
                  <a:schemeClr val="accent2"/>
                </a:solidFill>
                <a:tailEnd type="triangle" w="lg" len="lg"/>
              </a:ln>
            </p:spPr>
          </p:sp>
        </p:grpSp>
        <p:grpSp>
          <p:nvGrpSpPr>
            <p:cNvPr id="42" name="Group 42"/>
            <p:cNvGrpSpPr/>
            <p:nvPr/>
          </p:nvGrpSpPr>
          <p:grpSpPr>
            <a:xfrm>
              <a:off x="2731256" y="4695349"/>
              <a:ext cx="3529087" cy="200502"/>
              <a:chOff x="2731256" y="4695349"/>
              <a:chExt cx="3529087" cy="200502"/>
            </a:xfrm>
          </p:grpSpPr>
          <p:sp>
            <p:nvSpPr>
              <p:cNvPr id="40" name="TextBox 40"/>
              <p:cNvSpPr txBox="1"/>
              <p:nvPr/>
            </p:nvSpPr>
            <p:spPr>
              <a:xfrm>
                <a:off x="2731256" y="4695349"/>
                <a:ext cx="3529087" cy="190690"/>
              </a:xfrm>
              <a:prstGeom prst="rect">
                <a:avLst/>
              </a:prstGeom>
              <a:noFill/>
              <a:ln>
                <a:noFill/>
              </a:ln>
            </p:spPr>
            <p:txBody>
              <a:bodyPr wrap="none" lIns="0" tIns="0" rIns="0" bIns="0" anchor="t" anchorCtr="0">
                <a:spAutoFit/>
              </a:bodyPr>
              <a:lstStyle/>
              <a:p>
                <a:pPr algn="ctr"/>
                <a:r>
                  <a:rPr lang="en" sz="980" b="1" dirty="0">
                    <a:solidFill>
                      <a:schemeClr val="accent2"/>
                    </a:solidFill>
                    <a:latin typeface="+mn-lt"/>
                    <a:ea typeface="+mn-ea"/>
                    <a:cs typeface="+mn-cs"/>
                  </a:rPr>
                  <a:t xml:space="preserve">7 · </a:t>
                </a:r>
                <a:r>
                  <a:rPr lang="en" sz="980" dirty="0">
                    <a:solidFill>
                      <a:schemeClr val="dk1"/>
                    </a:solidFill>
                    <a:latin typeface="+mn-lt"/>
                    <a:ea typeface="+mn-ea"/>
                    <a:cs typeface="+mn-cs"/>
                  </a:rPr>
                  <a:t>Offer, answer, and ICE information are exchanged</a:t>
                </a:r>
              </a:p>
            </p:txBody>
          </p:sp>
          <p:sp>
            <p:nvSpPr>
              <p:cNvPr id="41" name="Line 41"/>
              <p:cNvSpPr/>
              <p:nvPr/>
            </p:nvSpPr>
            <p:spPr>
              <a:xfrm>
                <a:off x="3467100" y="4895850"/>
                <a:ext cx="2057400" cy="1"/>
              </a:xfrm>
              <a:prstGeom prst="line">
                <a:avLst/>
              </a:prstGeom>
              <a:noFill/>
              <a:ln w="14288">
                <a:solidFill>
                  <a:schemeClr val="accent2"/>
                </a:solidFill>
                <a:headEnd type="triangle" w="lg" len="lg"/>
                <a:tailEnd type="triangle" w="lg" len="lg"/>
              </a:ln>
            </p:spPr>
          </p:sp>
        </p:grpSp>
        <p:grpSp>
          <p:nvGrpSpPr>
            <p:cNvPr id="45" name="Group 45"/>
            <p:cNvGrpSpPr/>
            <p:nvPr/>
          </p:nvGrpSpPr>
          <p:grpSpPr>
            <a:xfrm>
              <a:off x="1333500" y="5114449"/>
              <a:ext cx="4191000" cy="200502"/>
              <a:chOff x="1333500" y="5114449"/>
              <a:chExt cx="4191000" cy="200502"/>
            </a:xfrm>
          </p:grpSpPr>
          <p:sp>
            <p:nvSpPr>
              <p:cNvPr id="43" name="TextBox 43"/>
              <p:cNvSpPr txBox="1"/>
              <p:nvPr/>
            </p:nvSpPr>
            <p:spPr>
              <a:xfrm>
                <a:off x="2769979" y="5114449"/>
                <a:ext cx="1318043" cy="190690"/>
              </a:xfrm>
              <a:prstGeom prst="rect">
                <a:avLst/>
              </a:prstGeom>
              <a:noFill/>
              <a:ln>
                <a:noFill/>
              </a:ln>
            </p:spPr>
            <p:txBody>
              <a:bodyPr wrap="none" lIns="0" tIns="0" rIns="0" bIns="0" anchor="t" anchorCtr="0">
                <a:spAutoFit/>
              </a:bodyPr>
              <a:lstStyle/>
              <a:p>
                <a:pPr algn="ctr"/>
                <a:r>
                  <a:rPr lang="en" sz="980" b="1" dirty="0">
                    <a:solidFill>
                      <a:schemeClr val="accent2"/>
                    </a:solidFill>
                    <a:latin typeface="+mn-lt"/>
                    <a:ea typeface="+mn-ea"/>
                    <a:cs typeface="+mn-cs"/>
                  </a:rPr>
                  <a:t xml:space="preserve">8 · </a:t>
                </a:r>
                <a:r>
                  <a:rPr lang="en" sz="980" dirty="0">
                    <a:solidFill>
                      <a:schemeClr val="dk1"/>
                    </a:solidFill>
                    <a:latin typeface="+mn-lt"/>
                    <a:ea typeface="+mn-ea"/>
                    <a:cs typeface="+mn-cs"/>
                  </a:rPr>
                  <a:t>Live video begins</a:t>
                </a:r>
              </a:p>
            </p:txBody>
          </p:sp>
          <p:sp>
            <p:nvSpPr>
              <p:cNvPr id="44" name="Line 44"/>
              <p:cNvSpPr/>
              <p:nvPr/>
            </p:nvSpPr>
            <p:spPr>
              <a:xfrm>
                <a:off x="1333500" y="5314950"/>
                <a:ext cx="4191000" cy="1"/>
              </a:xfrm>
              <a:prstGeom prst="line">
                <a:avLst/>
              </a:prstGeom>
              <a:noFill/>
              <a:ln w="14288">
                <a:solidFill>
                  <a:schemeClr val="accent2"/>
                </a:solidFill>
                <a:tailEnd type="triangle" w="lg" len="lg"/>
              </a:ln>
            </p:spPr>
          </p:sp>
        </p:grpSp>
        <p:sp>
          <p:nvSpPr>
            <p:cNvPr id="46" name="Line 46"/>
            <p:cNvSpPr/>
            <p:nvPr/>
          </p:nvSpPr>
          <p:spPr>
            <a:xfrm>
              <a:off x="8420100" y="1562100"/>
              <a:ext cx="9525" cy="3771900"/>
            </a:xfrm>
            <a:custGeom>
              <a:avLst/>
              <a:gdLst/>
              <a:ahLst/>
              <a:cxnLst/>
              <a:rect l="l" t="t" r="r" b="b"/>
              <a:pathLst>
                <a:path w="9525" h="3771900">
                  <a:moveTo>
                    <a:pt x="0" y="0"/>
                  </a:moveTo>
                  <a:lnTo>
                    <a:pt x="0" y="3771900"/>
                  </a:lnTo>
                </a:path>
              </a:pathLst>
            </a:custGeom>
            <a:noFill/>
            <a:ln w="9525">
              <a:solidFill>
                <a:schemeClr val="accent6"/>
              </a:solidFill>
            </a:ln>
          </p:spPr>
        </p:sp>
      </p:grpSp>
      <p:grpSp>
        <p:nvGrpSpPr>
          <p:cNvPr id="60" name="Group 60"/>
          <p:cNvGrpSpPr/>
          <p:nvPr/>
        </p:nvGrpSpPr>
        <p:grpSpPr>
          <a:xfrm>
            <a:off x="8605838" y="1712595"/>
            <a:ext cx="2544260" cy="1998916"/>
            <a:chOff x="8605838" y="1712595"/>
            <a:chExt cx="2544260" cy="1998916"/>
          </a:xfrm>
        </p:grpSpPr>
        <p:sp>
          <p:nvSpPr>
            <p:cNvPr id="48" name="TextBox 48"/>
            <p:cNvSpPr txBox="1"/>
            <p:nvPr/>
          </p:nvSpPr>
          <p:spPr>
            <a:xfrm>
              <a:off x="8605838" y="1712595"/>
              <a:ext cx="1477300" cy="176212"/>
            </a:xfrm>
            <a:prstGeom prst="rect">
              <a:avLst/>
            </a:prstGeom>
            <a:noFill/>
            <a:ln>
              <a:noFill/>
            </a:ln>
          </p:spPr>
          <p:txBody>
            <a:bodyPr wrap="none" lIns="0" tIns="0" rIns="0" bIns="0" anchor="t" anchorCtr="0">
              <a:spAutoFit/>
            </a:bodyPr>
            <a:lstStyle/>
            <a:p>
              <a:pPr algn="l"/>
              <a:r>
                <a:rPr lang="en" sz="900" spc="112" dirty="0">
                  <a:solidFill>
                    <a:schemeClr val="accent5"/>
                  </a:solidFill>
                  <a:latin typeface="+mn-lt"/>
                  <a:ea typeface="+mn-ea"/>
                  <a:cs typeface="+mn-cs"/>
                </a:rPr>
                <a:t>SUPPORTING DETAILS</a:t>
              </a:r>
            </a:p>
          </p:txBody>
        </p:sp>
        <p:grpSp>
          <p:nvGrpSpPr>
            <p:cNvPr id="59" name="Group 59"/>
            <p:cNvGrpSpPr/>
            <p:nvPr/>
          </p:nvGrpSpPr>
          <p:grpSpPr>
            <a:xfrm>
              <a:off x="8610600" y="1982152"/>
              <a:ext cx="2539498" cy="1729359"/>
              <a:chOff x="8610600" y="1982152"/>
              <a:chExt cx="2539498" cy="1729359"/>
            </a:xfrm>
          </p:grpSpPr>
          <p:sp>
            <p:nvSpPr>
              <p:cNvPr id="49" name="Rectangle 49"/>
              <p:cNvSpPr/>
              <p:nvPr/>
            </p:nvSpPr>
            <p:spPr>
              <a:xfrm>
                <a:off x="8610600" y="2019300"/>
                <a:ext cx="38100" cy="38100"/>
              </a:xfrm>
              <a:prstGeom prst="rect">
                <a:avLst/>
              </a:prstGeom>
              <a:solidFill>
                <a:schemeClr val="accent2"/>
              </a:solidFill>
              <a:ln>
                <a:noFill/>
              </a:ln>
            </p:spPr>
          </p:sp>
          <p:sp>
            <p:nvSpPr>
              <p:cNvPr id="50" name="TextBox 50"/>
              <p:cNvSpPr txBox="1"/>
              <p:nvPr/>
            </p:nvSpPr>
            <p:spPr>
              <a:xfrm>
                <a:off x="8757666" y="1982152"/>
                <a:ext cx="1903326"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Signaling server: port 8787</a:t>
                </a:r>
              </a:p>
            </p:txBody>
          </p:sp>
          <p:sp>
            <p:nvSpPr>
              <p:cNvPr id="51" name="Rectangle 51"/>
              <p:cNvSpPr/>
              <p:nvPr/>
            </p:nvSpPr>
            <p:spPr>
              <a:xfrm>
                <a:off x="8610600" y="2400300"/>
                <a:ext cx="38100" cy="38100"/>
              </a:xfrm>
              <a:prstGeom prst="rect">
                <a:avLst/>
              </a:prstGeom>
              <a:solidFill>
                <a:schemeClr val="accent2"/>
              </a:solidFill>
              <a:ln>
                <a:noFill/>
              </a:ln>
            </p:spPr>
          </p:sp>
          <p:sp>
            <p:nvSpPr>
              <p:cNvPr id="52" name="TextBox 52"/>
              <p:cNvSpPr txBox="1"/>
              <p:nvPr/>
            </p:nvSpPr>
            <p:spPr>
              <a:xfrm>
                <a:off x="8757666" y="2363152"/>
                <a:ext cx="2164731"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Monitoring endpoint: port 8790</a:t>
                </a:r>
              </a:p>
            </p:txBody>
          </p:sp>
          <p:sp>
            <p:nvSpPr>
              <p:cNvPr id="53" name="Rectangle 53"/>
              <p:cNvSpPr/>
              <p:nvPr/>
            </p:nvSpPr>
            <p:spPr>
              <a:xfrm>
                <a:off x="8610600" y="2781300"/>
                <a:ext cx="38100" cy="38100"/>
              </a:xfrm>
              <a:prstGeom prst="rect">
                <a:avLst/>
              </a:prstGeom>
              <a:solidFill>
                <a:schemeClr val="accent2"/>
              </a:solidFill>
              <a:ln>
                <a:noFill/>
              </a:ln>
            </p:spPr>
          </p:sp>
          <p:sp>
            <p:nvSpPr>
              <p:cNvPr id="54" name="TextBox 54"/>
              <p:cNvSpPr txBox="1"/>
              <p:nvPr/>
            </p:nvSpPr>
            <p:spPr>
              <a:xfrm>
                <a:off x="8757666" y="2744152"/>
                <a:ext cx="1470584"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WebRTC carries video</a:t>
                </a:r>
              </a:p>
            </p:txBody>
          </p:sp>
          <p:sp>
            <p:nvSpPr>
              <p:cNvPr id="55" name="TextBox 55"/>
              <p:cNvSpPr txBox="1"/>
              <p:nvPr/>
            </p:nvSpPr>
            <p:spPr>
              <a:xfrm>
                <a:off x="8757666" y="2934652"/>
                <a:ext cx="1770488"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separately from signaling</a:t>
                </a:r>
              </a:p>
            </p:txBody>
          </p:sp>
          <p:sp>
            <p:nvSpPr>
              <p:cNvPr id="56" name="Rectangle 56"/>
              <p:cNvSpPr/>
              <p:nvPr/>
            </p:nvSpPr>
            <p:spPr>
              <a:xfrm>
                <a:off x="8610600" y="3352800"/>
                <a:ext cx="38100" cy="38100"/>
              </a:xfrm>
              <a:prstGeom prst="rect">
                <a:avLst/>
              </a:prstGeom>
              <a:solidFill>
                <a:schemeClr val="accent2"/>
              </a:solidFill>
              <a:ln>
                <a:noFill/>
              </a:ln>
            </p:spPr>
          </p:sp>
          <p:sp>
            <p:nvSpPr>
              <p:cNvPr id="57" name="TextBox 57"/>
              <p:cNvSpPr txBox="1"/>
              <p:nvPr/>
            </p:nvSpPr>
            <p:spPr>
              <a:xfrm>
                <a:off x="8757666" y="3315652"/>
                <a:ext cx="2079065"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Web and mobile caregivers use</a:t>
                </a:r>
              </a:p>
            </p:txBody>
          </p:sp>
          <p:sp>
            <p:nvSpPr>
              <p:cNvPr id="58" name="TextBox 58"/>
              <p:cNvSpPr txBox="1"/>
              <p:nvPr/>
            </p:nvSpPr>
            <p:spPr>
              <a:xfrm>
                <a:off x="8757666" y="3506152"/>
                <a:ext cx="2392432"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the same incident-session concept</a:t>
                </a:r>
              </a:p>
            </p:txBody>
          </p:sp>
        </p:grpSp>
      </p:grpSp>
      <p:grpSp>
        <p:nvGrpSpPr>
          <p:cNvPr id="63" name="Group 63"/>
          <p:cNvGrpSpPr/>
          <p:nvPr/>
        </p:nvGrpSpPr>
        <p:grpSpPr>
          <a:xfrm>
            <a:off x="2713841" y="5905500"/>
            <a:ext cx="6764319" cy="436245"/>
            <a:chOff x="2713841" y="5905500"/>
            <a:chExt cx="6764319" cy="436245"/>
          </a:xfrm>
        </p:grpSpPr>
        <p:sp>
          <p:nvSpPr>
            <p:cNvPr id="61" name="Line 61"/>
            <p:cNvSpPr/>
            <p:nvPr/>
          </p:nvSpPr>
          <p:spPr>
            <a:xfrm>
              <a:off x="3238500" y="5905500"/>
              <a:ext cx="5715000" cy="9525"/>
            </a:xfrm>
            <a:custGeom>
              <a:avLst/>
              <a:gdLst/>
              <a:ahLst/>
              <a:cxnLst/>
              <a:rect l="l" t="t" r="r" b="b"/>
              <a:pathLst>
                <a:path w="5715000" h="9525">
                  <a:moveTo>
                    <a:pt x="0" y="0"/>
                  </a:moveTo>
                  <a:lnTo>
                    <a:pt x="5715000" y="0"/>
                  </a:lnTo>
                </a:path>
              </a:pathLst>
            </a:custGeom>
            <a:noFill/>
            <a:ln w="9525">
              <a:solidFill>
                <a:schemeClr val="accent6"/>
              </a:solidFill>
            </a:ln>
          </p:spPr>
        </p:sp>
        <p:sp>
          <p:nvSpPr>
            <p:cNvPr id="62" name="TextBox 62"/>
            <p:cNvSpPr txBox="1"/>
            <p:nvPr/>
          </p:nvSpPr>
          <p:spPr>
            <a:xfrm>
              <a:off x="2713841" y="6048375"/>
              <a:ext cx="6764319" cy="293370"/>
            </a:xfrm>
            <a:prstGeom prst="rect">
              <a:avLst/>
            </a:prstGeom>
            <a:noFill/>
            <a:ln>
              <a:noFill/>
            </a:ln>
          </p:spPr>
          <p:txBody>
            <a:bodyPr wrap="none" lIns="0" tIns="0" rIns="0" bIns="0" anchor="t" anchorCtr="0">
              <a:spAutoFit/>
            </a:bodyPr>
            <a:lstStyle/>
            <a:p>
              <a:pPr algn="ctr"/>
              <a:r>
                <a:rPr lang="en" sz="1500" i="1" dirty="0">
                  <a:solidFill>
                    <a:schemeClr val="accent1"/>
                  </a:solidFill>
                  <a:latin typeface="+mj-lt"/>
                  <a:ea typeface="+mj-ea"/>
                  <a:cs typeface="+mj-cs"/>
                </a:rPr>
                <a:t>“An alert is not just a message—it opens a live incident session.”</a:t>
              </a:r>
            </a:p>
          </p:txBody>
        </p:sp>
      </p:grpSp>
      <p:sp>
        <p:nvSpPr>
          <p:cNvPr id="64" name="TextBox 64"/>
          <p:cNvSpPr txBox="1"/>
          <p:nvPr/>
        </p:nvSpPr>
        <p:spPr>
          <a:xfrm>
            <a:off x="11432327" y="6562249"/>
            <a:ext cx="155026" cy="190690"/>
          </a:xfrm>
          <a:prstGeom prst="rect">
            <a:avLst/>
          </a:prstGeom>
          <a:noFill/>
          <a:ln>
            <a:noFill/>
          </a:ln>
        </p:spPr>
        <p:txBody>
          <a:bodyPr wrap="none" lIns="0" tIns="0" rIns="0" bIns="0" anchor="t" anchorCtr="0">
            <a:spAutoFit/>
          </a:bodyPr>
          <a:lstStyle/>
          <a:p>
            <a:pPr algn="r"/>
            <a:r>
              <a:rPr lang="en" sz="980" dirty="0">
                <a:solidFill>
                  <a:schemeClr val="accent3"/>
                </a:solidFill>
                <a:latin typeface="+mn-lt"/>
                <a:ea typeface="+mn-ea"/>
                <a:cs typeface="+mn-cs"/>
              </a:rPr>
              <a:t>09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800"/>
                                        <p:tgtEl>
                                          <p:spTgt spid="47"/>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fade">
                                      <p:cBhvr>
                                        <p:cTn id="12" dur="500"/>
                                        <p:tgtEl>
                                          <p:spTgt spid="60"/>
                                        </p:tgtEl>
                                      </p:cBhvr>
                                    </p:animEffect>
                                  </p:childTnLst>
                                </p:cTn>
                              </p:par>
                            </p:childTnLst>
                          </p:cTn>
                        </p:par>
                      </p:childTnLst>
                    </p:cTn>
                  </p:par>
                  <p:par>
                    <p:cTn id="13" fill="hold">
                      <p:stCondLst>
                        <p:cond delay="indefinite"/>
                      </p:stCondLst>
                      <p:childTnLst>
                        <p:par>
                          <p:cTn id="14" fill="hold">
                            <p:stCondLst>
                              <p:cond delay="0"/>
                            </p:stCondLst>
                            <p:childTnLst>
                              <p:par>
                                <p:cTn xmlns:p="http://schemas.openxmlformats.org/presentationml/2006/main" id="15" presetID="10" presetClass="entr" presetSubtype="0" fill="hold" grpId="0" nodeType="click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fade">
                                      <p:cBhvr>
                                        <p:cTn id="1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5884" y="590074"/>
            <a:ext cx="10986516" cy="827627"/>
            <a:chOff x="595884" y="590074"/>
            <a:chExt cx="10986516" cy="827627"/>
          </a:xfrm>
        </p:grpSpPr>
        <p:sp>
          <p:nvSpPr>
            <p:cNvPr id="2" name="Rectangle 2"/>
            <p:cNvSpPr/>
            <p:nvPr/>
          </p:nvSpPr>
          <p:spPr>
            <a:xfrm>
              <a:off x="609600" y="590550"/>
              <a:ext cx="266700" cy="28575"/>
            </a:xfrm>
            <a:prstGeom prst="rect">
              <a:avLst/>
            </a:prstGeom>
            <a:solidFill>
              <a:schemeClr val="accent2"/>
            </a:solidFill>
            <a:ln>
              <a:noFill/>
            </a:ln>
          </p:spPr>
        </p:sp>
        <p:sp>
          <p:nvSpPr>
            <p:cNvPr id="3" name="TextBox 3"/>
            <p:cNvSpPr txBox="1"/>
            <p:nvPr/>
          </p:nvSpPr>
          <p:spPr>
            <a:xfrm>
              <a:off x="985647" y="590074"/>
              <a:ext cx="1906107" cy="190690"/>
            </a:xfrm>
            <a:prstGeom prst="rect">
              <a:avLst/>
            </a:prstGeom>
            <a:noFill/>
            <a:ln>
              <a:noFill/>
            </a:ln>
          </p:spPr>
          <p:txBody>
            <a:bodyPr wrap="none" lIns="0" tIns="0" rIns="0" bIns="0" anchor="t" anchorCtr="0">
              <a:spAutoFit/>
            </a:bodyPr>
            <a:lstStyle/>
            <a:p>
              <a:pPr algn="l"/>
              <a:r>
                <a:rPr lang="en" sz="980" spc="188" dirty="0">
                  <a:solidFill>
                    <a:schemeClr val="accent2"/>
                  </a:solidFill>
                  <a:latin typeface="+mn-lt"/>
                  <a:ea typeface="+mn-ea"/>
                  <a:cs typeface="+mn-cs"/>
                </a:rPr>
                <a:t>CAREGIVER DASHBOARD</a:t>
              </a:r>
            </a:p>
          </p:txBody>
        </p:sp>
        <p:sp>
          <p:nvSpPr>
            <p:cNvPr id="4" name="TextBox 4"/>
            <p:cNvSpPr txBox="1"/>
            <p:nvPr/>
          </p:nvSpPr>
          <p:spPr>
            <a:xfrm>
              <a:off x="595884" y="889635"/>
              <a:ext cx="6670091" cy="528066"/>
            </a:xfrm>
            <a:prstGeom prst="rect">
              <a:avLst/>
            </a:prstGeom>
            <a:noFill/>
            <a:ln>
              <a:noFill/>
            </a:ln>
          </p:spPr>
          <p:txBody>
            <a:bodyPr wrap="none" lIns="0" tIns="0" rIns="0" bIns="0" anchor="t" anchorCtr="0">
              <a:spAutoFit/>
            </a:bodyPr>
            <a:lstStyle/>
            <a:p>
              <a:pPr algn="l"/>
              <a:r>
                <a:rPr lang="en" sz="2700" dirty="0">
                  <a:solidFill>
                    <a:schemeClr val="accent1"/>
                  </a:solidFill>
                  <a:latin typeface="+mj-lt"/>
                  <a:ea typeface="+mj-ea"/>
                  <a:cs typeface="+mj-cs"/>
                </a:rPr>
                <a:t>A Dashboard Built Around Decisions</a:t>
              </a:r>
            </a:p>
          </p:txBody>
        </p:sp>
        <p:sp>
          <p:nvSpPr>
            <p:cNvPr id="5" name="Line 5"/>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6" name="Group 26"/>
          <p:cNvGrpSpPr/>
          <p:nvPr/>
        </p:nvGrpSpPr>
        <p:grpSpPr>
          <a:xfrm>
            <a:off x="609600" y="1714500"/>
            <a:ext cx="10858500" cy="685800"/>
            <a:chOff x="609600" y="1714500"/>
            <a:chExt cx="10858500" cy="685800"/>
          </a:xfrm>
        </p:grpSpPr>
        <p:grpSp>
          <p:nvGrpSpPr>
            <p:cNvPr id="13" name="Group 13"/>
            <p:cNvGrpSpPr/>
            <p:nvPr/>
          </p:nvGrpSpPr>
          <p:grpSpPr>
            <a:xfrm>
              <a:off x="609600" y="1714500"/>
              <a:ext cx="2857500" cy="685800"/>
              <a:chOff x="609600" y="1714500"/>
              <a:chExt cx="2857500" cy="685800"/>
            </a:xfrm>
          </p:grpSpPr>
          <p:sp>
            <p:nvSpPr>
              <p:cNvPr id="7" name="Rectangle 7"/>
              <p:cNvSpPr/>
              <p:nvPr/>
            </p:nvSpPr>
            <p:spPr>
              <a:xfrm>
                <a:off x="609600" y="1714500"/>
                <a:ext cx="2857500" cy="685800"/>
              </a:xfrm>
              <a:prstGeom prst="roundRect">
                <a:avLst>
                  <a:gd name="adj" fmla="val 5556"/>
                </a:avLst>
              </a:prstGeom>
              <a:solidFill>
                <a:srgbClr val="FFFFFF"/>
              </a:solidFill>
              <a:ln w="14288">
                <a:solidFill>
                  <a:schemeClr val="accent1"/>
                </a:solidFill>
              </a:ln>
            </p:spPr>
          </p:sp>
          <p:grpSp>
            <p:nvGrpSpPr>
              <p:cNvPr id="10" name="Group 10"/>
              <p:cNvGrpSpPr/>
              <p:nvPr/>
            </p:nvGrpSpPr>
            <p:grpSpPr>
              <a:xfrm>
                <a:off x="823317" y="1924645"/>
                <a:ext cx="201215" cy="185737"/>
                <a:chOff x="823317" y="1924645"/>
                <a:chExt cx="201215" cy="185737"/>
              </a:xfrm>
            </p:grpSpPr>
            <p:sp>
              <p:nvSpPr>
                <p:cNvPr id="8" name="Freeform 8"/>
                <p:cNvSpPr/>
                <p:nvPr/>
              </p:nvSpPr>
              <p:spPr>
                <a:xfrm>
                  <a:off x="831056" y="1932384"/>
                  <a:ext cx="185737" cy="139302"/>
                </a:xfrm>
                <a:custGeom>
                  <a:avLst/>
                  <a:gdLst/>
                  <a:ahLst/>
                  <a:cxnLst/>
                  <a:rect l="l" t="t" r="r" b="b"/>
                  <a:pathLst>
                    <a:path w="185737" h="139302">
                      <a:moveTo>
                        <a:pt x="185737" y="15478"/>
                      </a:moveTo>
                      <a:lnTo>
                        <a:pt x="185737" y="123824"/>
                      </a:lnTo>
                      <a:cubicBezTo>
                        <a:pt x="185737" y="132373"/>
                        <a:pt x="178807" y="139302"/>
                        <a:pt x="170259" y="139302"/>
                      </a:cubicBezTo>
                      <a:lnTo>
                        <a:pt x="15478" y="139302"/>
                      </a:lnTo>
                      <a:cubicBezTo>
                        <a:pt x="6930" y="139302"/>
                        <a:pt x="0" y="132373"/>
                        <a:pt x="0" y="123824"/>
                      </a:cubicBezTo>
                      <a:lnTo>
                        <a:pt x="0" y="15478"/>
                      </a:lnTo>
                      <a:cubicBezTo>
                        <a:pt x="0" y="6930"/>
                        <a:pt x="6930" y="0"/>
                        <a:pt x="15478" y="0"/>
                      </a:cubicBezTo>
                      <a:lnTo>
                        <a:pt x="170259" y="0"/>
                      </a:lnTo>
                      <a:cubicBezTo>
                        <a:pt x="178807" y="0"/>
                        <a:pt x="185737" y="6930"/>
                        <a:pt x="185737" y="15478"/>
                      </a:cubicBezTo>
                      <a:close/>
                    </a:path>
                  </a:pathLst>
                </a:custGeom>
                <a:solidFill>
                  <a:schemeClr val="accent1">
                    <a:alpha val="20000"/>
                  </a:schemeClr>
                </a:solidFill>
                <a:ln>
                  <a:noFill/>
                </a:ln>
              </p:spPr>
            </p:sp>
            <p:sp>
              <p:nvSpPr>
                <p:cNvPr id="9" name="Freeform 9"/>
                <p:cNvSpPr/>
                <p:nvPr/>
              </p:nvSpPr>
              <p:spPr>
                <a:xfrm>
                  <a:off x="823317" y="1924645"/>
                  <a:ext cx="201215" cy="185737"/>
                </a:xfrm>
                <a:custGeom>
                  <a:avLst/>
                  <a:gdLst/>
                  <a:ahLst/>
                  <a:cxnLst/>
                  <a:rect l="l" t="t" r="r" b="b"/>
                  <a:pathLst>
                    <a:path w="201215" h="185737">
                      <a:moveTo>
                        <a:pt x="177998" y="0"/>
                      </a:moveTo>
                      <a:lnTo>
                        <a:pt x="23217" y="0"/>
                      </a:lnTo>
                      <a:cubicBezTo>
                        <a:pt x="10395" y="0"/>
                        <a:pt x="0" y="10395"/>
                        <a:pt x="0" y="23217"/>
                      </a:cubicBezTo>
                      <a:lnTo>
                        <a:pt x="0" y="131563"/>
                      </a:lnTo>
                      <a:cubicBezTo>
                        <a:pt x="0" y="144386"/>
                        <a:pt x="10395" y="154780"/>
                        <a:pt x="23217" y="154780"/>
                      </a:cubicBezTo>
                      <a:lnTo>
                        <a:pt x="177998" y="154780"/>
                      </a:lnTo>
                      <a:cubicBezTo>
                        <a:pt x="190820" y="154780"/>
                        <a:pt x="201215" y="144386"/>
                        <a:pt x="201215" y="131563"/>
                      </a:cubicBezTo>
                      <a:lnTo>
                        <a:pt x="201215" y="23217"/>
                      </a:lnTo>
                      <a:cubicBezTo>
                        <a:pt x="201215" y="10395"/>
                        <a:pt x="190820" y="0"/>
                        <a:pt x="177998" y="0"/>
                      </a:cubicBezTo>
                      <a:close/>
                      <a:moveTo>
                        <a:pt x="185737" y="131563"/>
                      </a:moveTo>
                      <a:cubicBezTo>
                        <a:pt x="185737" y="135838"/>
                        <a:pt x="182272" y="139302"/>
                        <a:pt x="177998" y="139302"/>
                      </a:cubicBezTo>
                      <a:lnTo>
                        <a:pt x="23217" y="139302"/>
                      </a:lnTo>
                      <a:cubicBezTo>
                        <a:pt x="18943" y="139302"/>
                        <a:pt x="15478" y="135838"/>
                        <a:pt x="15478" y="131563"/>
                      </a:cubicBezTo>
                      <a:lnTo>
                        <a:pt x="15478" y="23217"/>
                      </a:lnTo>
                      <a:cubicBezTo>
                        <a:pt x="15478" y="18943"/>
                        <a:pt x="18943" y="15478"/>
                        <a:pt x="23217" y="15478"/>
                      </a:cubicBezTo>
                      <a:lnTo>
                        <a:pt x="177998" y="15478"/>
                      </a:lnTo>
                      <a:cubicBezTo>
                        <a:pt x="182272" y="15478"/>
                        <a:pt x="185737" y="18943"/>
                        <a:pt x="185737" y="23217"/>
                      </a:cubicBezTo>
                      <a:close/>
                      <a:moveTo>
                        <a:pt x="139302" y="177998"/>
                      </a:moveTo>
                      <a:cubicBezTo>
                        <a:pt x="139302" y="182272"/>
                        <a:pt x="135838" y="185737"/>
                        <a:pt x="131563" y="185737"/>
                      </a:cubicBezTo>
                      <a:lnTo>
                        <a:pt x="69651" y="185737"/>
                      </a:lnTo>
                      <a:cubicBezTo>
                        <a:pt x="65377" y="185737"/>
                        <a:pt x="61912" y="182272"/>
                        <a:pt x="61912" y="177998"/>
                      </a:cubicBezTo>
                      <a:cubicBezTo>
                        <a:pt x="61912" y="173723"/>
                        <a:pt x="65377" y="170259"/>
                        <a:pt x="69651" y="170259"/>
                      </a:cubicBezTo>
                      <a:lnTo>
                        <a:pt x="131563" y="170259"/>
                      </a:lnTo>
                      <a:cubicBezTo>
                        <a:pt x="135838" y="170259"/>
                        <a:pt x="139302" y="173723"/>
                        <a:pt x="139302" y="177998"/>
                      </a:cubicBezTo>
                      <a:close/>
                    </a:path>
                  </a:pathLst>
                </a:custGeom>
                <a:solidFill>
                  <a:schemeClr val="accent1"/>
                </a:solidFill>
                <a:ln>
                  <a:noFill/>
                </a:ln>
              </p:spPr>
            </p:sp>
          </p:grpSp>
          <p:sp>
            <p:nvSpPr>
              <p:cNvPr id="11" name="TextBox 11"/>
              <p:cNvSpPr txBox="1"/>
              <p:nvPr/>
            </p:nvSpPr>
            <p:spPr>
              <a:xfrm>
                <a:off x="1175766" y="1886902"/>
                <a:ext cx="1054121"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One normalized</a:t>
                </a:r>
              </a:p>
            </p:txBody>
          </p:sp>
          <p:sp>
            <p:nvSpPr>
              <p:cNvPr id="12" name="TextBox 12"/>
              <p:cNvSpPr txBox="1"/>
              <p:nvPr/>
            </p:nvSpPr>
            <p:spPr>
              <a:xfrm>
                <a:off x="1174623" y="2091214"/>
                <a:ext cx="1453083" cy="249364"/>
              </a:xfrm>
              <a:prstGeom prst="rect">
                <a:avLst/>
              </a:prstGeom>
              <a:noFill/>
              <a:ln>
                <a:noFill/>
              </a:ln>
            </p:spPr>
            <p:txBody>
              <a:bodyPr wrap="none" lIns="0" tIns="0" rIns="0" bIns="0" anchor="t" anchorCtr="0">
                <a:spAutoFit/>
              </a:bodyPr>
              <a:lstStyle/>
              <a:p>
                <a:pPr algn="l"/>
                <a:r>
                  <a:rPr lang="en" sz="1280" b="1" dirty="0">
                    <a:solidFill>
                      <a:schemeClr val="accent1"/>
                    </a:solidFill>
                    <a:latin typeface="+mn-lt"/>
                    <a:ea typeface="+mn-ea"/>
                    <a:cs typeface="+mn-cs"/>
                  </a:rPr>
                  <a:t>MonitoringModel</a:t>
                </a:r>
              </a:p>
            </p:txBody>
          </p:sp>
        </p:grpSp>
        <p:sp>
          <p:nvSpPr>
            <p:cNvPr id="14" name="Line 14"/>
            <p:cNvSpPr/>
            <p:nvPr/>
          </p:nvSpPr>
          <p:spPr>
            <a:xfrm>
              <a:off x="3505200" y="2057400"/>
              <a:ext cx="285750" cy="1"/>
            </a:xfrm>
            <a:prstGeom prst="line">
              <a:avLst/>
            </a:prstGeom>
            <a:noFill/>
            <a:ln w="14288">
              <a:solidFill>
                <a:schemeClr val="accent2"/>
              </a:solidFill>
              <a:tailEnd type="triangle" w="lg" len="lg"/>
            </a:ln>
          </p:spPr>
        </p:sp>
        <p:grpSp>
          <p:nvGrpSpPr>
            <p:cNvPr id="25" name="Group 25"/>
            <p:cNvGrpSpPr/>
            <p:nvPr/>
          </p:nvGrpSpPr>
          <p:grpSpPr>
            <a:xfrm>
              <a:off x="3848100" y="1828800"/>
              <a:ext cx="7620000" cy="457200"/>
              <a:chOff x="3848100" y="1828800"/>
              <a:chExt cx="7620000" cy="457200"/>
            </a:xfrm>
          </p:grpSpPr>
          <p:sp>
            <p:nvSpPr>
              <p:cNvPr id="15" name="Rectangle 15"/>
              <p:cNvSpPr/>
              <p:nvPr/>
            </p:nvSpPr>
            <p:spPr>
              <a:xfrm>
                <a:off x="3848100" y="1828800"/>
                <a:ext cx="1409700" cy="457200"/>
              </a:xfrm>
              <a:prstGeom prst="roundRect">
                <a:avLst>
                  <a:gd name="adj" fmla="val 50000"/>
                </a:avLst>
              </a:prstGeom>
              <a:solidFill>
                <a:schemeClr val="lt2"/>
              </a:solidFill>
              <a:ln>
                <a:noFill/>
              </a:ln>
            </p:spPr>
          </p:sp>
          <p:sp>
            <p:nvSpPr>
              <p:cNvPr id="16" name="TextBox 16"/>
              <p:cNvSpPr txBox="1"/>
              <p:nvPr/>
            </p:nvSpPr>
            <p:spPr>
              <a:xfrm>
                <a:off x="4207575" y="1991678"/>
                <a:ext cx="690750" cy="205359"/>
              </a:xfrm>
              <a:prstGeom prst="rect">
                <a:avLst/>
              </a:prstGeom>
              <a:noFill/>
              <a:ln>
                <a:noFill/>
              </a:ln>
            </p:spPr>
            <p:txBody>
              <a:bodyPr wrap="none" lIns="0" tIns="0" rIns="0" bIns="0" anchor="t" anchorCtr="0">
                <a:spAutoFit/>
              </a:bodyPr>
              <a:lstStyle/>
              <a:p>
                <a:pPr algn="ctr"/>
                <a:r>
                  <a:rPr lang="en" sz="1050" b="1" dirty="0">
                    <a:solidFill>
                      <a:schemeClr val="accent1"/>
                    </a:solidFill>
                    <a:latin typeface="+mn-lt"/>
                    <a:ea typeface="+mn-ea"/>
                    <a:cs typeface="+mn-cs"/>
                  </a:rPr>
                  <a:t>Overview</a:t>
                </a:r>
              </a:p>
            </p:txBody>
          </p:sp>
          <p:sp>
            <p:nvSpPr>
              <p:cNvPr id="17" name="Rectangle 17"/>
              <p:cNvSpPr/>
              <p:nvPr/>
            </p:nvSpPr>
            <p:spPr>
              <a:xfrm>
                <a:off x="5400675" y="1828800"/>
                <a:ext cx="1409700" cy="457200"/>
              </a:xfrm>
              <a:prstGeom prst="roundRect">
                <a:avLst>
                  <a:gd name="adj" fmla="val 50000"/>
                </a:avLst>
              </a:prstGeom>
              <a:solidFill>
                <a:schemeClr val="lt2"/>
              </a:solidFill>
              <a:ln>
                <a:noFill/>
              </a:ln>
            </p:spPr>
          </p:sp>
          <p:sp>
            <p:nvSpPr>
              <p:cNvPr id="18" name="TextBox 18"/>
              <p:cNvSpPr txBox="1"/>
              <p:nvPr/>
            </p:nvSpPr>
            <p:spPr>
              <a:xfrm>
                <a:off x="5890445" y="1991678"/>
                <a:ext cx="430160" cy="205359"/>
              </a:xfrm>
              <a:prstGeom prst="rect">
                <a:avLst/>
              </a:prstGeom>
              <a:noFill/>
              <a:ln>
                <a:noFill/>
              </a:ln>
            </p:spPr>
            <p:txBody>
              <a:bodyPr wrap="none" lIns="0" tIns="0" rIns="0" bIns="0" anchor="t" anchorCtr="0">
                <a:spAutoFit/>
              </a:bodyPr>
              <a:lstStyle/>
              <a:p>
                <a:pPr algn="ctr"/>
                <a:r>
                  <a:rPr lang="en" sz="1050" b="1" dirty="0">
                    <a:solidFill>
                      <a:schemeClr val="accent1"/>
                    </a:solidFill>
                    <a:latin typeface="+mn-lt"/>
                    <a:ea typeface="+mn-ea"/>
                    <a:cs typeface="+mn-cs"/>
                  </a:rPr>
                  <a:t>Vitals</a:t>
                </a:r>
              </a:p>
            </p:txBody>
          </p:sp>
          <p:sp>
            <p:nvSpPr>
              <p:cNvPr id="19" name="Rectangle 19"/>
              <p:cNvSpPr/>
              <p:nvPr/>
            </p:nvSpPr>
            <p:spPr>
              <a:xfrm>
                <a:off x="6953250" y="1828800"/>
                <a:ext cx="1409700" cy="457200"/>
              </a:xfrm>
              <a:prstGeom prst="roundRect">
                <a:avLst>
                  <a:gd name="adj" fmla="val 50000"/>
                </a:avLst>
              </a:prstGeom>
              <a:solidFill>
                <a:schemeClr val="lt2"/>
              </a:solidFill>
              <a:ln>
                <a:noFill/>
              </a:ln>
            </p:spPr>
          </p:sp>
          <p:sp>
            <p:nvSpPr>
              <p:cNvPr id="20" name="TextBox 20"/>
              <p:cNvSpPr txBox="1"/>
              <p:nvPr/>
            </p:nvSpPr>
            <p:spPr>
              <a:xfrm>
                <a:off x="7301789" y="1991678"/>
                <a:ext cx="712622" cy="205359"/>
              </a:xfrm>
              <a:prstGeom prst="rect">
                <a:avLst/>
              </a:prstGeom>
              <a:noFill/>
              <a:ln>
                <a:noFill/>
              </a:ln>
            </p:spPr>
            <p:txBody>
              <a:bodyPr wrap="none" lIns="0" tIns="0" rIns="0" bIns="0" anchor="t" anchorCtr="0">
                <a:spAutoFit/>
              </a:bodyPr>
              <a:lstStyle/>
              <a:p>
                <a:pPr algn="ctr"/>
                <a:r>
                  <a:rPr lang="en" sz="1050" b="1" dirty="0">
                    <a:solidFill>
                      <a:schemeClr val="accent1"/>
                    </a:solidFill>
                    <a:latin typeface="+mn-lt"/>
                    <a:ea typeface="+mn-ea"/>
                    <a:cs typeface="+mn-cs"/>
                  </a:rPr>
                  <a:t>Detection</a:t>
                </a:r>
              </a:p>
            </p:txBody>
          </p:sp>
          <p:sp>
            <p:nvSpPr>
              <p:cNvPr id="21" name="Rectangle 21"/>
              <p:cNvSpPr/>
              <p:nvPr/>
            </p:nvSpPr>
            <p:spPr>
              <a:xfrm>
                <a:off x="8505825" y="1828800"/>
                <a:ext cx="1409700" cy="457200"/>
              </a:xfrm>
              <a:prstGeom prst="roundRect">
                <a:avLst>
                  <a:gd name="adj" fmla="val 50000"/>
                </a:avLst>
              </a:prstGeom>
              <a:solidFill>
                <a:schemeClr val="lt2"/>
              </a:solidFill>
              <a:ln>
                <a:noFill/>
              </a:ln>
            </p:spPr>
          </p:sp>
          <p:sp>
            <p:nvSpPr>
              <p:cNvPr id="22" name="TextBox 22"/>
              <p:cNvSpPr txBox="1"/>
              <p:nvPr/>
            </p:nvSpPr>
            <p:spPr>
              <a:xfrm>
                <a:off x="8958140" y="1991678"/>
                <a:ext cx="505070" cy="205359"/>
              </a:xfrm>
              <a:prstGeom prst="rect">
                <a:avLst/>
              </a:prstGeom>
              <a:noFill/>
              <a:ln>
                <a:noFill/>
              </a:ln>
            </p:spPr>
            <p:txBody>
              <a:bodyPr wrap="none" lIns="0" tIns="0" rIns="0" bIns="0" anchor="t" anchorCtr="0">
                <a:spAutoFit/>
              </a:bodyPr>
              <a:lstStyle/>
              <a:p>
                <a:pPr algn="ctr"/>
                <a:r>
                  <a:rPr lang="en" sz="1050" b="1" dirty="0">
                    <a:solidFill>
                      <a:schemeClr val="accent1"/>
                    </a:solidFill>
                    <a:latin typeface="+mn-lt"/>
                    <a:ea typeface="+mn-ea"/>
                    <a:cs typeface="+mn-cs"/>
                  </a:rPr>
                  <a:t>Events</a:t>
                </a:r>
              </a:p>
            </p:txBody>
          </p:sp>
          <p:sp>
            <p:nvSpPr>
              <p:cNvPr id="23" name="Rectangle 23"/>
              <p:cNvSpPr/>
              <p:nvPr/>
            </p:nvSpPr>
            <p:spPr>
              <a:xfrm>
                <a:off x="10058400" y="1828800"/>
                <a:ext cx="1409700" cy="457200"/>
              </a:xfrm>
              <a:prstGeom prst="roundRect">
                <a:avLst>
                  <a:gd name="adj" fmla="val 50000"/>
                </a:avLst>
              </a:prstGeom>
              <a:solidFill>
                <a:schemeClr val="lt2"/>
              </a:solidFill>
              <a:ln>
                <a:noFill/>
              </a:ln>
            </p:spPr>
          </p:sp>
          <p:sp>
            <p:nvSpPr>
              <p:cNvPr id="24" name="TextBox 24"/>
              <p:cNvSpPr txBox="1"/>
              <p:nvPr/>
            </p:nvSpPr>
            <p:spPr>
              <a:xfrm>
                <a:off x="10278496" y="1991678"/>
                <a:ext cx="969508" cy="205359"/>
              </a:xfrm>
              <a:prstGeom prst="rect">
                <a:avLst/>
              </a:prstGeom>
              <a:noFill/>
              <a:ln>
                <a:noFill/>
              </a:ln>
            </p:spPr>
            <p:txBody>
              <a:bodyPr wrap="none" lIns="0" tIns="0" rIns="0" bIns="0" anchor="t" anchorCtr="0">
                <a:spAutoFit/>
              </a:bodyPr>
              <a:lstStyle/>
              <a:p>
                <a:pPr algn="ctr"/>
                <a:r>
                  <a:rPr lang="en" sz="1050" b="1" dirty="0">
                    <a:solidFill>
                      <a:schemeClr val="accent1"/>
                    </a:solidFill>
                    <a:latin typeface="+mn-lt"/>
                    <a:ea typeface="+mn-ea"/>
                    <a:cs typeface="+mn-cs"/>
                  </a:rPr>
                  <a:t>Live Sessions</a:t>
                </a:r>
              </a:p>
            </p:txBody>
          </p:sp>
        </p:grpSp>
      </p:grpSp>
      <p:grpSp>
        <p:nvGrpSpPr>
          <p:cNvPr id="43" name="Group 43"/>
          <p:cNvGrpSpPr/>
          <p:nvPr/>
        </p:nvGrpSpPr>
        <p:grpSpPr>
          <a:xfrm>
            <a:off x="604838" y="3057049"/>
            <a:ext cx="10982515" cy="1474279"/>
            <a:chOff x="604838" y="3057049"/>
            <a:chExt cx="10982515" cy="1474279"/>
          </a:xfrm>
        </p:grpSpPr>
        <p:sp>
          <p:nvSpPr>
            <p:cNvPr id="27" name="TextBox 27"/>
            <p:cNvSpPr txBox="1"/>
            <p:nvPr/>
          </p:nvSpPr>
          <p:spPr>
            <a:xfrm>
              <a:off x="604838" y="3065145"/>
              <a:ext cx="1876994" cy="176212"/>
            </a:xfrm>
            <a:prstGeom prst="rect">
              <a:avLst/>
            </a:prstGeom>
            <a:noFill/>
            <a:ln>
              <a:noFill/>
            </a:ln>
          </p:spPr>
          <p:txBody>
            <a:bodyPr wrap="none" lIns="0" tIns="0" rIns="0" bIns="0" anchor="t" anchorCtr="0">
              <a:spAutoFit/>
            </a:bodyPr>
            <a:lstStyle/>
            <a:p>
              <a:pPr algn="l"/>
              <a:r>
                <a:rPr lang="en" sz="900" spc="112" dirty="0">
                  <a:solidFill>
                    <a:schemeClr val="accent5"/>
                  </a:solidFill>
                  <a:latin typeface="+mn-lt"/>
                  <a:ea typeface="+mn-ea"/>
                  <a:cs typeface="+mn-cs"/>
                </a:rPr>
                <a:t>WHAT THE CAREGIVER SEES</a:t>
              </a:r>
            </a:p>
          </p:txBody>
        </p:sp>
        <p:sp>
          <p:nvSpPr>
            <p:cNvPr id="28" name="TextBox 28"/>
            <p:cNvSpPr txBox="1"/>
            <p:nvPr/>
          </p:nvSpPr>
          <p:spPr>
            <a:xfrm>
              <a:off x="10092577" y="3057049"/>
              <a:ext cx="1494776" cy="190690"/>
            </a:xfrm>
            <a:prstGeom prst="rect">
              <a:avLst/>
            </a:prstGeom>
            <a:noFill/>
            <a:ln>
              <a:noFill/>
            </a:ln>
          </p:spPr>
          <p:txBody>
            <a:bodyPr wrap="none" lIns="0" tIns="0" rIns="0" bIns="0" anchor="t" anchorCtr="0">
              <a:spAutoFit/>
            </a:bodyPr>
            <a:lstStyle/>
            <a:p>
              <a:pPr algn="r"/>
              <a:r>
                <a:rPr lang="en" sz="980" i="1" dirty="0">
                  <a:solidFill>
                    <a:schemeClr val="accent3"/>
                  </a:solidFill>
                  <a:latin typeface="+mn-lt"/>
                  <a:ea typeface="+mn-ea"/>
                  <a:cs typeface="+mn-cs"/>
                </a:rPr>
                <a:t>real UI shown on Slide 5</a:t>
              </a:r>
            </a:p>
          </p:txBody>
        </p:sp>
        <p:grpSp>
          <p:nvGrpSpPr>
            <p:cNvPr id="35" name="Group 35"/>
            <p:cNvGrpSpPr/>
            <p:nvPr/>
          </p:nvGrpSpPr>
          <p:grpSpPr>
            <a:xfrm>
              <a:off x="609600" y="3367564"/>
              <a:ext cx="3257554" cy="1163764"/>
              <a:chOff x="609600" y="3367564"/>
              <a:chExt cx="3257554" cy="1163764"/>
            </a:xfrm>
          </p:grpSpPr>
          <p:sp>
            <p:nvSpPr>
              <p:cNvPr id="29" name="Rectangle 29"/>
              <p:cNvSpPr/>
              <p:nvPr/>
            </p:nvSpPr>
            <p:spPr>
              <a:xfrm>
                <a:off x="609600" y="3429000"/>
                <a:ext cx="38100" cy="38100"/>
              </a:xfrm>
              <a:prstGeom prst="rect">
                <a:avLst/>
              </a:prstGeom>
              <a:solidFill>
                <a:schemeClr val="accent2"/>
              </a:solidFill>
              <a:ln>
                <a:noFill/>
              </a:ln>
            </p:spPr>
          </p:sp>
          <p:sp>
            <p:nvSpPr>
              <p:cNvPr id="30" name="TextBox 30"/>
              <p:cNvSpPr txBox="1"/>
              <p:nvPr/>
            </p:nvSpPr>
            <p:spPr>
              <a:xfrm>
                <a:off x="755523" y="3367564"/>
                <a:ext cx="3111631" cy="249364"/>
              </a:xfrm>
              <a:prstGeom prst="rect">
                <a:avLst/>
              </a:prstGeom>
              <a:noFill/>
              <a:ln>
                <a:noFill/>
              </a:ln>
            </p:spPr>
            <p:txBody>
              <a:bodyPr wrap="none" lIns="0" tIns="0" rIns="0" bIns="0" anchor="t" anchorCtr="0">
                <a:spAutoFit/>
              </a:bodyPr>
              <a:lstStyle/>
              <a:p>
                <a:pPr algn="l"/>
                <a:r>
                  <a:rPr lang="en" sz="1280" dirty="0">
                    <a:solidFill>
                      <a:schemeClr val="dk1"/>
                    </a:solidFill>
                    <a:latin typeface="+mn-lt"/>
                    <a:ea typeface="+mn-ea"/>
                    <a:cs typeface="+mn-cs"/>
                  </a:rPr>
                  <a:t>Edge and wearable connection status</a:t>
                </a:r>
              </a:p>
            </p:txBody>
          </p:sp>
          <p:sp>
            <p:nvSpPr>
              <p:cNvPr id="31" name="Rectangle 31"/>
              <p:cNvSpPr/>
              <p:nvPr/>
            </p:nvSpPr>
            <p:spPr>
              <a:xfrm>
                <a:off x="609600" y="3886200"/>
                <a:ext cx="38100" cy="38100"/>
              </a:xfrm>
              <a:prstGeom prst="rect">
                <a:avLst/>
              </a:prstGeom>
              <a:solidFill>
                <a:schemeClr val="accent2"/>
              </a:solidFill>
              <a:ln>
                <a:noFill/>
              </a:ln>
            </p:spPr>
          </p:sp>
          <p:sp>
            <p:nvSpPr>
              <p:cNvPr id="32" name="TextBox 32"/>
              <p:cNvSpPr txBox="1"/>
              <p:nvPr/>
            </p:nvSpPr>
            <p:spPr>
              <a:xfrm>
                <a:off x="755523" y="3824764"/>
                <a:ext cx="2560113" cy="249364"/>
              </a:xfrm>
              <a:prstGeom prst="rect">
                <a:avLst/>
              </a:prstGeom>
              <a:noFill/>
              <a:ln>
                <a:noFill/>
              </a:ln>
            </p:spPr>
            <p:txBody>
              <a:bodyPr wrap="none" lIns="0" tIns="0" rIns="0" bIns="0" anchor="t" anchorCtr="0">
                <a:spAutoFit/>
              </a:bodyPr>
              <a:lstStyle/>
              <a:p>
                <a:pPr algn="l"/>
                <a:r>
                  <a:rPr lang="en" sz="1280" dirty="0">
                    <a:solidFill>
                      <a:schemeClr val="dk1"/>
                    </a:solidFill>
                    <a:latin typeface="+mn-lt"/>
                    <a:ea typeface="+mn-ea"/>
                    <a:cs typeface="+mn-cs"/>
                  </a:rPr>
                  <a:t>Heart rate and fall confidence</a:t>
                </a:r>
              </a:p>
            </p:txBody>
          </p:sp>
          <p:sp>
            <p:nvSpPr>
              <p:cNvPr id="33" name="Rectangle 33"/>
              <p:cNvSpPr/>
              <p:nvPr/>
            </p:nvSpPr>
            <p:spPr>
              <a:xfrm>
                <a:off x="609600" y="4343400"/>
                <a:ext cx="38100" cy="38100"/>
              </a:xfrm>
              <a:prstGeom prst="rect">
                <a:avLst/>
              </a:prstGeom>
              <a:solidFill>
                <a:schemeClr val="accent2"/>
              </a:solidFill>
              <a:ln>
                <a:noFill/>
              </a:ln>
            </p:spPr>
          </p:sp>
          <p:sp>
            <p:nvSpPr>
              <p:cNvPr id="34" name="TextBox 34"/>
              <p:cNvSpPr txBox="1"/>
              <p:nvPr/>
            </p:nvSpPr>
            <p:spPr>
              <a:xfrm>
                <a:off x="755523" y="4281964"/>
                <a:ext cx="2215359" cy="249364"/>
              </a:xfrm>
              <a:prstGeom prst="rect">
                <a:avLst/>
              </a:prstGeom>
              <a:noFill/>
              <a:ln>
                <a:noFill/>
              </a:ln>
            </p:spPr>
            <p:txBody>
              <a:bodyPr wrap="none" lIns="0" tIns="0" rIns="0" bIns="0" anchor="t" anchorCtr="0">
                <a:spAutoFit/>
              </a:bodyPr>
              <a:lstStyle/>
              <a:p>
                <a:pPr algn="l"/>
                <a:r>
                  <a:rPr lang="en" sz="1280" dirty="0">
                    <a:solidFill>
                      <a:schemeClr val="dk1"/>
                    </a:solidFill>
                    <a:latin typeface="+mn-lt"/>
                    <a:ea typeface="+mn-ea"/>
                    <a:cs typeface="+mn-cs"/>
                  </a:rPr>
                  <a:t>Vision and wearable inputs</a:t>
                </a:r>
              </a:p>
            </p:txBody>
          </p:sp>
        </p:grpSp>
        <p:grpSp>
          <p:nvGrpSpPr>
            <p:cNvPr id="42" name="Group 42"/>
            <p:cNvGrpSpPr/>
            <p:nvPr/>
          </p:nvGrpSpPr>
          <p:grpSpPr>
            <a:xfrm>
              <a:off x="6096000" y="3367564"/>
              <a:ext cx="2361282" cy="1163764"/>
              <a:chOff x="6096000" y="3367564"/>
              <a:chExt cx="2361282" cy="1163764"/>
            </a:xfrm>
          </p:grpSpPr>
          <p:sp>
            <p:nvSpPr>
              <p:cNvPr id="36" name="Rectangle 36"/>
              <p:cNvSpPr/>
              <p:nvPr/>
            </p:nvSpPr>
            <p:spPr>
              <a:xfrm>
                <a:off x="6096000" y="3429000"/>
                <a:ext cx="38100" cy="38100"/>
              </a:xfrm>
              <a:prstGeom prst="rect">
                <a:avLst/>
              </a:prstGeom>
              <a:solidFill>
                <a:schemeClr val="accent2"/>
              </a:solidFill>
              <a:ln>
                <a:noFill/>
              </a:ln>
            </p:spPr>
          </p:sp>
          <p:sp>
            <p:nvSpPr>
              <p:cNvPr id="37" name="TextBox 37"/>
              <p:cNvSpPr txBox="1"/>
              <p:nvPr/>
            </p:nvSpPr>
            <p:spPr>
              <a:xfrm>
                <a:off x="6241923" y="3367564"/>
                <a:ext cx="1982624" cy="249364"/>
              </a:xfrm>
              <a:prstGeom prst="rect">
                <a:avLst/>
              </a:prstGeom>
              <a:noFill/>
              <a:ln>
                <a:noFill/>
              </a:ln>
            </p:spPr>
            <p:txBody>
              <a:bodyPr wrap="none" lIns="0" tIns="0" rIns="0" bIns="0" anchor="t" anchorCtr="0">
                <a:spAutoFit/>
              </a:bodyPr>
              <a:lstStyle/>
              <a:p>
                <a:pPr algn="l"/>
                <a:r>
                  <a:rPr lang="en" sz="1280" dirty="0">
                    <a:solidFill>
                      <a:schemeClr val="dk1"/>
                    </a:solidFill>
                    <a:latin typeface="+mn-lt"/>
                    <a:ea typeface="+mn-ea"/>
                    <a:cs typeface="+mn-cs"/>
                  </a:rPr>
                  <a:t>Current fusion decision</a:t>
                </a:r>
              </a:p>
            </p:txBody>
          </p:sp>
          <p:sp>
            <p:nvSpPr>
              <p:cNvPr id="38" name="Rectangle 38"/>
              <p:cNvSpPr/>
              <p:nvPr/>
            </p:nvSpPr>
            <p:spPr>
              <a:xfrm>
                <a:off x="6096000" y="3886200"/>
                <a:ext cx="38100" cy="38100"/>
              </a:xfrm>
              <a:prstGeom prst="rect">
                <a:avLst/>
              </a:prstGeom>
              <a:solidFill>
                <a:schemeClr val="accent2"/>
              </a:solidFill>
              <a:ln>
                <a:noFill/>
              </a:ln>
            </p:spPr>
          </p:sp>
          <p:sp>
            <p:nvSpPr>
              <p:cNvPr id="39" name="TextBox 39"/>
              <p:cNvSpPr txBox="1"/>
              <p:nvPr/>
            </p:nvSpPr>
            <p:spPr>
              <a:xfrm>
                <a:off x="6241923" y="3824764"/>
                <a:ext cx="1888126" cy="249364"/>
              </a:xfrm>
              <a:prstGeom prst="rect">
                <a:avLst/>
              </a:prstGeom>
              <a:noFill/>
              <a:ln>
                <a:noFill/>
              </a:ln>
            </p:spPr>
            <p:txBody>
              <a:bodyPr wrap="none" lIns="0" tIns="0" rIns="0" bIns="0" anchor="t" anchorCtr="0">
                <a:spAutoFit/>
              </a:bodyPr>
              <a:lstStyle/>
              <a:p>
                <a:pPr algn="l"/>
                <a:r>
                  <a:rPr lang="en" sz="1280" dirty="0">
                    <a:solidFill>
                      <a:schemeClr val="dk1"/>
                    </a:solidFill>
                    <a:latin typeface="+mn-lt"/>
                    <a:ea typeface="+mn-ea"/>
                    <a:cs typeface="+mn-cs"/>
                  </a:rPr>
                  <a:t>Voice and alert status</a:t>
                </a:r>
              </a:p>
            </p:txBody>
          </p:sp>
          <p:sp>
            <p:nvSpPr>
              <p:cNvPr id="40" name="Rectangle 40"/>
              <p:cNvSpPr/>
              <p:nvPr/>
            </p:nvSpPr>
            <p:spPr>
              <a:xfrm>
                <a:off x="6096000" y="4343400"/>
                <a:ext cx="38100" cy="38100"/>
              </a:xfrm>
              <a:prstGeom prst="rect">
                <a:avLst/>
              </a:prstGeom>
              <a:solidFill>
                <a:schemeClr val="accent2"/>
              </a:solidFill>
              <a:ln>
                <a:noFill/>
              </a:ln>
            </p:spPr>
          </p:sp>
          <p:sp>
            <p:nvSpPr>
              <p:cNvPr id="41" name="TextBox 41"/>
              <p:cNvSpPr txBox="1"/>
              <p:nvPr/>
            </p:nvSpPr>
            <p:spPr>
              <a:xfrm>
                <a:off x="6241923" y="4281964"/>
                <a:ext cx="2215359" cy="249364"/>
              </a:xfrm>
              <a:prstGeom prst="rect">
                <a:avLst/>
              </a:prstGeom>
              <a:noFill/>
              <a:ln>
                <a:noFill/>
              </a:ln>
            </p:spPr>
            <p:txBody>
              <a:bodyPr wrap="none" lIns="0" tIns="0" rIns="0" bIns="0" anchor="t" anchorCtr="0">
                <a:spAutoFit/>
              </a:bodyPr>
              <a:lstStyle/>
              <a:p>
                <a:pPr algn="l"/>
                <a:r>
                  <a:rPr lang="en" sz="1280" dirty="0">
                    <a:solidFill>
                      <a:schemeClr val="dk1"/>
                    </a:solidFill>
                    <a:latin typeface="+mn-lt"/>
                    <a:ea typeface="+mn-ea"/>
                    <a:cs typeface="+mn-cs"/>
                  </a:rPr>
                  <a:t>Recent operational events</a:t>
                </a:r>
              </a:p>
            </p:txBody>
          </p:sp>
        </p:grpSp>
      </p:grpSp>
      <p:grpSp>
        <p:nvGrpSpPr>
          <p:cNvPr id="55" name="Group 55"/>
          <p:cNvGrpSpPr/>
          <p:nvPr/>
        </p:nvGrpSpPr>
        <p:grpSpPr>
          <a:xfrm>
            <a:off x="604838" y="4932045"/>
            <a:ext cx="9504050" cy="869061"/>
            <a:chOff x="604838" y="4932045"/>
            <a:chExt cx="9504050" cy="869061"/>
          </a:xfrm>
        </p:grpSpPr>
        <p:sp>
          <p:nvSpPr>
            <p:cNvPr id="44" name="TextBox 44"/>
            <p:cNvSpPr txBox="1"/>
            <p:nvPr/>
          </p:nvSpPr>
          <p:spPr>
            <a:xfrm>
              <a:off x="604838" y="4932045"/>
              <a:ext cx="1675582" cy="176212"/>
            </a:xfrm>
            <a:prstGeom prst="rect">
              <a:avLst/>
            </a:prstGeom>
            <a:noFill/>
            <a:ln>
              <a:noFill/>
            </a:ln>
          </p:spPr>
          <p:txBody>
            <a:bodyPr wrap="none" lIns="0" tIns="0" rIns="0" bIns="0" anchor="t" anchorCtr="0">
              <a:spAutoFit/>
            </a:bodyPr>
            <a:lstStyle/>
            <a:p>
              <a:pPr algn="l"/>
              <a:r>
                <a:rPr lang="en" sz="900" spc="112" dirty="0">
                  <a:solidFill>
                    <a:schemeClr val="accent5"/>
                  </a:solidFill>
                  <a:latin typeface="+mn-lt"/>
                  <a:ea typeface="+mn-ea"/>
                  <a:cs typeface="+mn-cs"/>
                </a:rPr>
                <a:t>TECHNICAL FOUNDATION</a:t>
              </a:r>
            </a:p>
          </p:txBody>
        </p:sp>
        <p:grpSp>
          <p:nvGrpSpPr>
            <p:cNvPr id="49" name="Group 49"/>
            <p:cNvGrpSpPr/>
            <p:nvPr/>
          </p:nvGrpSpPr>
          <p:grpSpPr>
            <a:xfrm>
              <a:off x="609600" y="5204460"/>
              <a:ext cx="4299343" cy="596646"/>
              <a:chOff x="609600" y="5204460"/>
              <a:chExt cx="4299343" cy="596646"/>
            </a:xfrm>
          </p:grpSpPr>
          <p:sp>
            <p:nvSpPr>
              <p:cNvPr id="45" name="Rectangle 45"/>
              <p:cNvSpPr/>
              <p:nvPr/>
            </p:nvSpPr>
            <p:spPr>
              <a:xfrm>
                <a:off x="609600" y="5257800"/>
                <a:ext cx="38100" cy="38100"/>
              </a:xfrm>
              <a:prstGeom prst="rect">
                <a:avLst/>
              </a:prstGeom>
              <a:solidFill>
                <a:schemeClr val="accent3"/>
              </a:solidFill>
              <a:ln>
                <a:noFill/>
              </a:ln>
            </p:spPr>
          </p:sp>
          <p:sp>
            <p:nvSpPr>
              <p:cNvPr id="46" name="TextBox 46"/>
              <p:cNvSpPr txBox="1"/>
              <p:nvPr/>
            </p:nvSpPr>
            <p:spPr>
              <a:xfrm>
                <a:off x="755904" y="5204460"/>
                <a:ext cx="231032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GET /monitoring on port 8790</a:t>
                </a:r>
              </a:p>
            </p:txBody>
          </p:sp>
          <p:sp>
            <p:nvSpPr>
              <p:cNvPr id="47" name="Rectangle 47"/>
              <p:cNvSpPr/>
              <p:nvPr/>
            </p:nvSpPr>
            <p:spPr>
              <a:xfrm>
                <a:off x="609600" y="5619750"/>
                <a:ext cx="38100" cy="38100"/>
              </a:xfrm>
              <a:prstGeom prst="rect">
                <a:avLst/>
              </a:prstGeom>
              <a:solidFill>
                <a:schemeClr val="accent3"/>
              </a:solidFill>
              <a:ln>
                <a:noFill/>
              </a:ln>
            </p:spPr>
          </p:sp>
          <p:sp>
            <p:nvSpPr>
              <p:cNvPr id="48" name="TextBox 48"/>
              <p:cNvSpPr txBox="1"/>
              <p:nvPr/>
            </p:nvSpPr>
            <p:spPr>
              <a:xfrm>
                <a:off x="755904" y="5566410"/>
                <a:ext cx="4153039"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Browser refresh approximately every three seconds</a:t>
                </a:r>
              </a:p>
            </p:txBody>
          </p:sp>
        </p:grpSp>
        <p:grpSp>
          <p:nvGrpSpPr>
            <p:cNvPr id="54" name="Group 54"/>
            <p:cNvGrpSpPr/>
            <p:nvPr/>
          </p:nvGrpSpPr>
          <p:grpSpPr>
            <a:xfrm>
              <a:off x="6096000" y="5204460"/>
              <a:ext cx="4012888" cy="596646"/>
              <a:chOff x="6096000" y="5204460"/>
              <a:chExt cx="4012888" cy="596646"/>
            </a:xfrm>
          </p:grpSpPr>
          <p:sp>
            <p:nvSpPr>
              <p:cNvPr id="50" name="Rectangle 50"/>
              <p:cNvSpPr/>
              <p:nvPr/>
            </p:nvSpPr>
            <p:spPr>
              <a:xfrm>
                <a:off x="6096000" y="5257800"/>
                <a:ext cx="38100" cy="38100"/>
              </a:xfrm>
              <a:prstGeom prst="rect">
                <a:avLst/>
              </a:prstGeom>
              <a:solidFill>
                <a:schemeClr val="accent3"/>
              </a:solidFill>
              <a:ln>
                <a:noFill/>
              </a:ln>
            </p:spPr>
          </p:sp>
          <p:sp>
            <p:nvSpPr>
              <p:cNvPr id="51" name="TextBox 51"/>
              <p:cNvSpPr txBox="1"/>
              <p:nvPr/>
            </p:nvSpPr>
            <p:spPr>
              <a:xfrm>
                <a:off x="6242304" y="5204460"/>
                <a:ext cx="3293625"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SQLite event history through EventStore</a:t>
                </a:r>
              </a:p>
            </p:txBody>
          </p:sp>
          <p:sp>
            <p:nvSpPr>
              <p:cNvPr id="52" name="Rectangle 52"/>
              <p:cNvSpPr/>
              <p:nvPr/>
            </p:nvSpPr>
            <p:spPr>
              <a:xfrm>
                <a:off x="6096000" y="5619750"/>
                <a:ext cx="38100" cy="38100"/>
              </a:xfrm>
              <a:prstGeom prst="rect">
                <a:avLst/>
              </a:prstGeom>
              <a:solidFill>
                <a:schemeClr val="accent3"/>
              </a:solidFill>
              <a:ln>
                <a:noFill/>
              </a:ln>
            </p:spPr>
          </p:sp>
          <p:sp>
            <p:nvSpPr>
              <p:cNvPr id="53" name="TextBox 53"/>
              <p:cNvSpPr txBox="1"/>
              <p:nvPr/>
            </p:nvSpPr>
            <p:spPr>
              <a:xfrm>
                <a:off x="6242304" y="5566410"/>
                <a:ext cx="3866584"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Monitoring and WebRTC signaling remain separate</a:t>
                </a:r>
              </a:p>
            </p:txBody>
          </p:sp>
        </p:grpSp>
      </p:grpSp>
      <p:grpSp>
        <p:nvGrpSpPr>
          <p:cNvPr id="58" name="Group 58"/>
          <p:cNvGrpSpPr/>
          <p:nvPr/>
        </p:nvGrpSpPr>
        <p:grpSpPr>
          <a:xfrm>
            <a:off x="2388482" y="5943600"/>
            <a:ext cx="7415036" cy="436245"/>
            <a:chOff x="2388482" y="5943600"/>
            <a:chExt cx="7415036" cy="436245"/>
          </a:xfrm>
        </p:grpSpPr>
        <p:sp>
          <p:nvSpPr>
            <p:cNvPr id="56" name="Line 56"/>
            <p:cNvSpPr/>
            <p:nvPr/>
          </p:nvSpPr>
          <p:spPr>
            <a:xfrm>
              <a:off x="3238500" y="5943600"/>
              <a:ext cx="5715000" cy="9525"/>
            </a:xfrm>
            <a:custGeom>
              <a:avLst/>
              <a:gdLst/>
              <a:ahLst/>
              <a:cxnLst/>
              <a:rect l="l" t="t" r="r" b="b"/>
              <a:pathLst>
                <a:path w="5715000" h="9525">
                  <a:moveTo>
                    <a:pt x="0" y="0"/>
                  </a:moveTo>
                  <a:lnTo>
                    <a:pt x="5715000" y="0"/>
                  </a:lnTo>
                </a:path>
              </a:pathLst>
            </a:custGeom>
            <a:noFill/>
            <a:ln w="9525">
              <a:solidFill>
                <a:schemeClr val="accent6"/>
              </a:solidFill>
            </a:ln>
          </p:spPr>
        </p:sp>
        <p:sp>
          <p:nvSpPr>
            <p:cNvPr id="57" name="TextBox 57"/>
            <p:cNvSpPr txBox="1"/>
            <p:nvPr/>
          </p:nvSpPr>
          <p:spPr>
            <a:xfrm>
              <a:off x="2388482" y="6086475"/>
              <a:ext cx="7415036" cy="293370"/>
            </a:xfrm>
            <a:prstGeom prst="rect">
              <a:avLst/>
            </a:prstGeom>
            <a:noFill/>
            <a:ln>
              <a:noFill/>
            </a:ln>
          </p:spPr>
          <p:txBody>
            <a:bodyPr wrap="none" lIns="0" tIns="0" rIns="0" bIns="0" anchor="t" anchorCtr="0">
              <a:spAutoFit/>
            </a:bodyPr>
            <a:lstStyle/>
            <a:p>
              <a:pPr algn="ctr"/>
              <a:r>
                <a:rPr lang="en" sz="1500" i="1" dirty="0">
                  <a:solidFill>
                    <a:schemeClr val="accent1"/>
                  </a:solidFill>
                  <a:latin typeface="+mj-lt"/>
                  <a:ea typeface="+mj-ea"/>
                  <a:cs typeface="+mj-cs"/>
                </a:rPr>
                <a:t>“The interface turns sensor outputs into a clear response workflow.”</a:t>
              </a:r>
            </a:p>
          </p:txBody>
        </p:sp>
      </p:grpSp>
      <p:sp>
        <p:nvSpPr>
          <p:cNvPr id="59" name="TextBox 59"/>
          <p:cNvSpPr txBox="1"/>
          <p:nvPr/>
        </p:nvSpPr>
        <p:spPr>
          <a:xfrm>
            <a:off x="11432327" y="6562249"/>
            <a:ext cx="155026" cy="190690"/>
          </a:xfrm>
          <a:prstGeom prst="rect">
            <a:avLst/>
          </a:prstGeom>
          <a:noFill/>
          <a:ln>
            <a:noFill/>
          </a:ln>
        </p:spPr>
        <p:txBody>
          <a:bodyPr wrap="none" lIns="0" tIns="0" rIns="0" bIns="0" anchor="t" anchorCtr="0">
            <a:spAutoFit/>
          </a:bodyPr>
          <a:lstStyle/>
          <a:p>
            <a:pPr algn="r"/>
            <a:r>
              <a:rPr lang="en" sz="980" dirty="0">
                <a:solidFill>
                  <a:schemeClr val="accent3"/>
                </a:solidFill>
                <a:latin typeface="+mn-lt"/>
                <a:ea typeface="+mn-ea"/>
                <a:cs typeface="+mn-cs"/>
              </a:rPr>
              <a:t>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22" presetClass="entr" presetSubtype="2"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right)">
                                      <p:cBhvr>
                                        <p:cTn id="7" dur="600"/>
                                        <p:tgtEl>
                                          <p:spTgt spid="26"/>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xmlns:p="http://schemas.openxmlformats.org/presentationml/2006/main" id="15" presetID="10" presetClass="entr" presetSubtype="0" fill="hold" grpId="0" nodeType="click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fade">
                                      <p:cBhvr>
                                        <p:cTn id="17" dur="500"/>
                                        <p:tgtEl>
                                          <p:spTgt spid="55"/>
                                        </p:tgtEl>
                                      </p:cBhvr>
                                    </p:animEffect>
                                  </p:childTnLst>
                                </p:cTn>
                              </p:par>
                            </p:childTnLst>
                          </p:cTn>
                        </p:par>
                      </p:childTnLst>
                    </p:cTn>
                  </p:par>
                  <p:par>
                    <p:cTn id="18" fill="hold">
                      <p:stCondLst>
                        <p:cond delay="indefinite"/>
                      </p:stCondLst>
                      <p:childTnLst>
                        <p:par>
                          <p:cTn id="19" fill="hold">
                            <p:stCondLst>
                              <p:cond delay="0"/>
                            </p:stCondLst>
                            <p:childTnLst>
                              <p:par>
                                <p:cTn xmlns:p="http://schemas.openxmlformats.org/presentationml/2006/main" id="20" presetID="10" presetClass="entr" presetSubtype="0" fill="hold" grpId="0" nodeType="click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fade">
                                      <p:cBhvr>
                                        <p:cTn id="22"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6" name="Group 6"/>
          <p:cNvGrpSpPr/>
          <p:nvPr/>
        </p:nvGrpSpPr>
        <p:grpSpPr>
          <a:xfrm>
            <a:off x="595884" y="590074"/>
            <a:ext cx="10986516" cy="827627"/>
            <a:chOff x="595884" y="590074"/>
            <a:chExt cx="10986516" cy="827627"/>
          </a:xfrm>
        </p:grpSpPr>
        <p:sp>
          <p:nvSpPr>
            <p:cNvPr id="2" name="Rectangle 2"/>
            <p:cNvSpPr/>
            <p:nvPr/>
          </p:nvSpPr>
          <p:spPr>
            <a:xfrm>
              <a:off x="609600" y="590550"/>
              <a:ext cx="266700" cy="28575"/>
            </a:xfrm>
            <a:prstGeom prst="rect">
              <a:avLst/>
            </a:prstGeom>
            <a:solidFill>
              <a:schemeClr val="accent2"/>
            </a:solidFill>
            <a:ln>
              <a:noFill/>
            </a:ln>
          </p:spPr>
        </p:sp>
        <p:sp>
          <p:nvSpPr>
            <p:cNvPr id="3" name="TextBox 3"/>
            <p:cNvSpPr txBox="1"/>
            <p:nvPr/>
          </p:nvSpPr>
          <p:spPr>
            <a:xfrm>
              <a:off x="985647" y="590074"/>
              <a:ext cx="899902" cy="190690"/>
            </a:xfrm>
            <a:prstGeom prst="rect">
              <a:avLst/>
            </a:prstGeom>
            <a:noFill/>
            <a:ln>
              <a:noFill/>
            </a:ln>
          </p:spPr>
          <p:txBody>
            <a:bodyPr wrap="none" lIns="0" tIns="0" rIns="0" bIns="0" anchor="t" anchorCtr="0">
              <a:spAutoFit/>
            </a:bodyPr>
            <a:lstStyle/>
            <a:p>
              <a:pPr algn="l"/>
              <a:r>
                <a:rPr lang="en" sz="980" spc="188" dirty="0">
                  <a:solidFill>
                    <a:srgbClr val="A8B8C8"/>
                  </a:solidFill>
                  <a:latin typeface="+mn-lt"/>
                  <a:ea typeface="+mn-ea"/>
                  <a:cs typeface="+mn-cs"/>
                </a:rPr>
                <a:t>LIVE DEMO</a:t>
              </a:r>
            </a:p>
          </p:txBody>
        </p:sp>
        <p:sp>
          <p:nvSpPr>
            <p:cNvPr id="4" name="TextBox 4"/>
            <p:cNvSpPr txBox="1"/>
            <p:nvPr/>
          </p:nvSpPr>
          <p:spPr>
            <a:xfrm>
              <a:off x="595884" y="889635"/>
              <a:ext cx="7588506" cy="528066"/>
            </a:xfrm>
            <a:prstGeom prst="rect">
              <a:avLst/>
            </a:prstGeom>
            <a:noFill/>
            <a:ln>
              <a:noFill/>
            </a:ln>
          </p:spPr>
          <p:txBody>
            <a:bodyPr wrap="none" lIns="0" tIns="0" rIns="0" bIns="0" anchor="t" anchorCtr="0">
              <a:spAutoFit/>
            </a:bodyPr>
            <a:lstStyle/>
            <a:p>
              <a:pPr algn="l"/>
              <a:r>
                <a:rPr lang="en" sz="2700" dirty="0">
                  <a:solidFill>
                    <a:srgbClr val="FAF9F6"/>
                  </a:solidFill>
                  <a:latin typeface="+mj-lt"/>
                  <a:ea typeface="+mj-ea"/>
                  <a:cs typeface="+mj-cs"/>
                </a:rPr>
                <a:t>Live Demo: Detection to Caregiver View</a:t>
              </a:r>
            </a:p>
          </p:txBody>
        </p:sp>
        <p:sp>
          <p:nvSpPr>
            <p:cNvPr id="5" name="Line 5"/>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rgbClr val="2E415A"/>
              </a:solidFill>
            </a:ln>
          </p:spPr>
        </p:sp>
      </p:grpSp>
      <p:grpSp>
        <p:nvGrpSpPr>
          <p:cNvPr id="13" name="Group 13"/>
          <p:cNvGrpSpPr/>
          <p:nvPr/>
        </p:nvGrpSpPr>
        <p:grpSpPr>
          <a:xfrm>
            <a:off x="604647" y="1600200"/>
            <a:ext cx="7624953" cy="4828890"/>
            <a:chOff x="604647" y="1600200"/>
            <a:chExt cx="7624953" cy="4828890"/>
          </a:xfrm>
        </p:grpSpPr>
        <p:sp>
          <p:nvSpPr>
            <p:cNvPr id="7" name="Rectangle 7"/>
            <p:cNvSpPr/>
            <p:nvPr/>
          </p:nvSpPr>
          <p:spPr>
            <a:xfrm>
              <a:off x="609600" y="1600200"/>
              <a:ext cx="7620000" cy="4286250"/>
            </a:xfrm>
            <a:prstGeom prst="rect">
              <a:avLst/>
            </a:prstGeom>
            <a:noFill/>
            <a:ln w="14288">
              <a:solidFill>
                <a:srgbClr val="A8B8C8"/>
              </a:solidFill>
              <a:custDash>
                <a:ds d="533333" sp="400000"/>
              </a:custDash>
            </a:ln>
          </p:spPr>
        </p:sp>
        <p:grpSp>
          <p:nvGrpSpPr>
            <p:cNvPr id="10" name="Group 10"/>
            <p:cNvGrpSpPr/>
            <p:nvPr/>
          </p:nvGrpSpPr>
          <p:grpSpPr>
            <a:xfrm>
              <a:off x="4264819" y="3393281"/>
              <a:ext cx="309562" cy="261938"/>
              <a:chOff x="4264819" y="3393281"/>
              <a:chExt cx="309562" cy="261938"/>
            </a:xfrm>
          </p:grpSpPr>
          <p:sp>
            <p:nvSpPr>
              <p:cNvPr id="8" name="Freeform 8"/>
              <p:cNvSpPr/>
              <p:nvPr/>
            </p:nvSpPr>
            <p:spPr>
              <a:xfrm>
                <a:off x="4276725" y="3405188"/>
                <a:ext cx="285750" cy="238125"/>
              </a:xfrm>
              <a:custGeom>
                <a:avLst/>
                <a:gdLst/>
                <a:ahLst/>
                <a:cxnLst/>
                <a:rect l="l" t="t" r="r" b="b"/>
                <a:pathLst>
                  <a:path w="285750" h="238125">
                    <a:moveTo>
                      <a:pt x="0" y="190500"/>
                    </a:moveTo>
                    <a:lnTo>
                      <a:pt x="285750" y="190500"/>
                    </a:lnTo>
                    <a:lnTo>
                      <a:pt x="285750" y="226219"/>
                    </a:lnTo>
                    <a:cubicBezTo>
                      <a:pt x="285750" y="232794"/>
                      <a:pt x="280419" y="238125"/>
                      <a:pt x="273844" y="238125"/>
                    </a:cubicBezTo>
                    <a:lnTo>
                      <a:pt x="11906" y="238125"/>
                    </a:lnTo>
                    <a:cubicBezTo>
                      <a:pt x="5331" y="238125"/>
                      <a:pt x="0" y="232794"/>
                      <a:pt x="0" y="226219"/>
                    </a:cubicBezTo>
                    <a:close/>
                    <a:moveTo>
                      <a:pt x="273844" y="0"/>
                    </a:moveTo>
                    <a:lnTo>
                      <a:pt x="11906" y="0"/>
                    </a:lnTo>
                    <a:cubicBezTo>
                      <a:pt x="5331" y="0"/>
                      <a:pt x="0" y="5331"/>
                      <a:pt x="0" y="11906"/>
                    </a:cubicBezTo>
                    <a:lnTo>
                      <a:pt x="0" y="47625"/>
                    </a:lnTo>
                    <a:lnTo>
                      <a:pt x="285750" y="47625"/>
                    </a:lnTo>
                    <a:lnTo>
                      <a:pt x="285750" y="11906"/>
                    </a:lnTo>
                    <a:cubicBezTo>
                      <a:pt x="285750" y="5331"/>
                      <a:pt x="280419" y="0"/>
                      <a:pt x="273844" y="0"/>
                    </a:cubicBezTo>
                    <a:close/>
                  </a:path>
                </a:pathLst>
              </a:custGeom>
              <a:solidFill>
                <a:srgbClr val="A8B8C8">
                  <a:alpha val="20000"/>
                </a:srgbClr>
              </a:solidFill>
              <a:ln>
                <a:noFill/>
              </a:ln>
            </p:spPr>
          </p:sp>
          <p:sp>
            <p:nvSpPr>
              <p:cNvPr id="9" name="Freeform 9"/>
              <p:cNvSpPr/>
              <p:nvPr/>
            </p:nvSpPr>
            <p:spPr>
              <a:xfrm>
                <a:off x="4264819" y="3393281"/>
                <a:ext cx="309562" cy="261938"/>
              </a:xfrm>
              <a:custGeom>
                <a:avLst/>
                <a:gdLst/>
                <a:ahLst/>
                <a:cxnLst/>
                <a:rect l="l" t="t" r="r" b="b"/>
                <a:pathLst>
                  <a:path w="309562" h="261938">
                    <a:moveTo>
                      <a:pt x="285750" y="0"/>
                    </a:moveTo>
                    <a:lnTo>
                      <a:pt x="23812" y="0"/>
                    </a:lnTo>
                    <a:cubicBezTo>
                      <a:pt x="10661" y="0"/>
                      <a:pt x="0" y="10661"/>
                      <a:pt x="0" y="23812"/>
                    </a:cubicBezTo>
                    <a:lnTo>
                      <a:pt x="0" y="238125"/>
                    </a:lnTo>
                    <a:cubicBezTo>
                      <a:pt x="0" y="251276"/>
                      <a:pt x="10661" y="261938"/>
                      <a:pt x="23812" y="261938"/>
                    </a:cubicBezTo>
                    <a:lnTo>
                      <a:pt x="285750" y="261938"/>
                    </a:lnTo>
                    <a:cubicBezTo>
                      <a:pt x="298901" y="261938"/>
                      <a:pt x="309562" y="251276"/>
                      <a:pt x="309562" y="238125"/>
                    </a:cubicBezTo>
                    <a:lnTo>
                      <a:pt x="309562" y="23812"/>
                    </a:lnTo>
                    <a:cubicBezTo>
                      <a:pt x="309562" y="10661"/>
                      <a:pt x="298901" y="0"/>
                      <a:pt x="285750" y="0"/>
                    </a:cubicBezTo>
                    <a:close/>
                    <a:moveTo>
                      <a:pt x="23812" y="71438"/>
                    </a:moveTo>
                    <a:lnTo>
                      <a:pt x="142875" y="71438"/>
                    </a:lnTo>
                    <a:lnTo>
                      <a:pt x="142875" y="190500"/>
                    </a:lnTo>
                    <a:lnTo>
                      <a:pt x="23812" y="190500"/>
                    </a:lnTo>
                    <a:close/>
                    <a:moveTo>
                      <a:pt x="166688" y="47625"/>
                    </a:moveTo>
                    <a:lnTo>
                      <a:pt x="166688" y="23812"/>
                    </a:lnTo>
                    <a:lnTo>
                      <a:pt x="214312" y="23812"/>
                    </a:lnTo>
                    <a:lnTo>
                      <a:pt x="214312" y="47625"/>
                    </a:lnTo>
                    <a:close/>
                    <a:moveTo>
                      <a:pt x="142875" y="47625"/>
                    </a:moveTo>
                    <a:lnTo>
                      <a:pt x="95250" y="47625"/>
                    </a:lnTo>
                    <a:lnTo>
                      <a:pt x="95250" y="23812"/>
                    </a:lnTo>
                    <a:lnTo>
                      <a:pt x="142875" y="23812"/>
                    </a:lnTo>
                    <a:close/>
                    <a:moveTo>
                      <a:pt x="142875" y="214312"/>
                    </a:moveTo>
                    <a:lnTo>
                      <a:pt x="142875" y="238125"/>
                    </a:lnTo>
                    <a:lnTo>
                      <a:pt x="95250" y="238125"/>
                    </a:lnTo>
                    <a:lnTo>
                      <a:pt x="95250" y="214312"/>
                    </a:lnTo>
                    <a:close/>
                    <a:moveTo>
                      <a:pt x="166688" y="214312"/>
                    </a:moveTo>
                    <a:lnTo>
                      <a:pt x="214312" y="214312"/>
                    </a:lnTo>
                    <a:lnTo>
                      <a:pt x="214312" y="238125"/>
                    </a:lnTo>
                    <a:lnTo>
                      <a:pt x="166688" y="238125"/>
                    </a:lnTo>
                    <a:close/>
                    <a:moveTo>
                      <a:pt x="166688" y="190500"/>
                    </a:moveTo>
                    <a:lnTo>
                      <a:pt x="166688" y="71438"/>
                    </a:lnTo>
                    <a:lnTo>
                      <a:pt x="285750" y="71438"/>
                    </a:lnTo>
                    <a:lnTo>
                      <a:pt x="285750" y="190500"/>
                    </a:lnTo>
                    <a:close/>
                    <a:moveTo>
                      <a:pt x="285750" y="47625"/>
                    </a:moveTo>
                    <a:lnTo>
                      <a:pt x="238125" y="47625"/>
                    </a:lnTo>
                    <a:lnTo>
                      <a:pt x="238125" y="23812"/>
                    </a:lnTo>
                    <a:lnTo>
                      <a:pt x="285750" y="23812"/>
                    </a:lnTo>
                    <a:close/>
                    <a:moveTo>
                      <a:pt x="71438" y="23812"/>
                    </a:moveTo>
                    <a:lnTo>
                      <a:pt x="71438" y="47625"/>
                    </a:lnTo>
                    <a:lnTo>
                      <a:pt x="23812" y="47625"/>
                    </a:lnTo>
                    <a:lnTo>
                      <a:pt x="23812" y="23812"/>
                    </a:lnTo>
                    <a:close/>
                    <a:moveTo>
                      <a:pt x="23812" y="214312"/>
                    </a:moveTo>
                    <a:lnTo>
                      <a:pt x="71438" y="214312"/>
                    </a:lnTo>
                    <a:lnTo>
                      <a:pt x="71438" y="238125"/>
                    </a:lnTo>
                    <a:lnTo>
                      <a:pt x="23812" y="238125"/>
                    </a:lnTo>
                    <a:close/>
                    <a:moveTo>
                      <a:pt x="285750" y="238125"/>
                    </a:moveTo>
                    <a:lnTo>
                      <a:pt x="238125" y="238125"/>
                    </a:lnTo>
                    <a:lnTo>
                      <a:pt x="238125" y="214312"/>
                    </a:lnTo>
                    <a:lnTo>
                      <a:pt x="285750" y="214312"/>
                    </a:lnTo>
                    <a:lnTo>
                      <a:pt x="285750" y="238125"/>
                    </a:lnTo>
                    <a:close/>
                  </a:path>
                </a:pathLst>
              </a:custGeom>
              <a:solidFill>
                <a:srgbClr val="A8B8C8"/>
              </a:solidFill>
              <a:ln>
                <a:noFill/>
              </a:ln>
            </p:spPr>
          </p:sp>
        </p:grpSp>
        <p:sp>
          <p:nvSpPr>
            <p:cNvPr id="11" name="TextBox 11"/>
            <p:cNvSpPr txBox="1"/>
            <p:nvPr/>
          </p:nvSpPr>
          <p:spPr>
            <a:xfrm>
              <a:off x="3073146" y="3952875"/>
              <a:ext cx="2692908" cy="293370"/>
            </a:xfrm>
            <a:prstGeom prst="rect">
              <a:avLst/>
            </a:prstGeom>
            <a:noFill/>
            <a:ln>
              <a:noFill/>
            </a:ln>
          </p:spPr>
          <p:txBody>
            <a:bodyPr wrap="none" lIns="0" tIns="0" rIns="0" bIns="0" anchor="t" anchorCtr="0">
              <a:spAutoFit/>
            </a:bodyPr>
            <a:lstStyle/>
            <a:p>
              <a:pPr algn="ctr"/>
              <a:r>
                <a:rPr lang="en" sz="1500" dirty="0">
                  <a:solidFill>
                    <a:srgbClr val="A8B8C8"/>
                  </a:solidFill>
                  <a:latin typeface="+mn-lt"/>
                  <a:ea typeface="+mn-ea"/>
                  <a:cs typeface="+mn-cs"/>
                </a:rPr>
                <a:t>[INSERT DEMO VIDEO HERE]</a:t>
              </a:r>
            </a:p>
          </p:txBody>
        </p:sp>
        <p:sp>
          <p:nvSpPr>
            <p:cNvPr id="12" name="TextBox 12"/>
            <p:cNvSpPr txBox="1"/>
            <p:nvPr/>
          </p:nvSpPr>
          <p:spPr>
            <a:xfrm>
              <a:off x="604647" y="6047899"/>
              <a:ext cx="4646041" cy="381191"/>
            </a:xfrm>
            <a:prstGeom prst="rect">
              <a:avLst/>
            </a:prstGeom>
            <a:noFill/>
            <a:ln>
              <a:noFill/>
            </a:ln>
          </p:spPr>
          <p:txBody>
            <a:bodyPr wrap="none" lIns="0" tIns="0" rIns="0" bIns="0" anchor="t" anchorCtr="0">
              <a:spAutoFit/>
            </a:bodyPr>
            <a:lstStyle/>
            <a:p>
              <a:pPr algn="l">
                <a:lnSpc>
                  <a:spcPts val="1500"/>
                </a:lnSpc>
              </a:pPr>
              <a:r>
                <a:rPr lang="en" sz="980" dirty="0">
                  <a:solidFill>
                    <a:srgbClr val="A8B8C8"/>
                  </a:solidFill>
                  <a:latin typeface="+mn-lt"/>
                  <a:ea typeface="+mn-ea"/>
                  <a:cs typeface="+mn-cs"/>
                </a:rPr>
                <a:t>Recommended file: KineticPulse_Demo.mp4</a:t>
              </a:r>
              <a:br/>
              <a:r>
                <a:rPr lang="en" sz="980" dirty="0">
                  <a:solidFill>
                    <a:srgbClr val="A8B8C8"/>
                  </a:solidFill>
                  <a:latin typeface="+mn-lt"/>
                  <a:ea typeface="+mn-ea"/>
                  <a:cs typeface="+mn-cs"/>
                </a:rPr>
                <a:t>Recommended duration: 60–75 seconds · Fit: 16:9, contain without cropping</a:t>
              </a:r>
            </a:p>
          </p:txBody>
        </p:sp>
      </p:grpSp>
      <p:grpSp>
        <p:nvGrpSpPr>
          <p:cNvPr id="37" name="Group 37"/>
          <p:cNvGrpSpPr/>
          <p:nvPr/>
        </p:nvGrpSpPr>
        <p:grpSpPr>
          <a:xfrm>
            <a:off x="8572500" y="1632299"/>
            <a:ext cx="3009900" cy="2428685"/>
            <a:chOff x="8572500" y="1632299"/>
            <a:chExt cx="3009900" cy="2428685"/>
          </a:xfrm>
        </p:grpSpPr>
        <p:grpSp>
          <p:nvGrpSpPr>
            <p:cNvPr id="16" name="Group 16"/>
            <p:cNvGrpSpPr/>
            <p:nvPr/>
          </p:nvGrpSpPr>
          <p:grpSpPr>
            <a:xfrm>
              <a:off x="8598050" y="1632299"/>
              <a:ext cx="157806" cy="144714"/>
              <a:chOff x="8598050" y="1632299"/>
              <a:chExt cx="157806" cy="144714"/>
            </a:xfrm>
          </p:grpSpPr>
          <p:sp>
            <p:nvSpPr>
              <p:cNvPr id="14" name="Freeform 14"/>
              <p:cNvSpPr/>
              <p:nvPr/>
            </p:nvSpPr>
            <p:spPr>
              <a:xfrm>
                <a:off x="8677275" y="1652588"/>
                <a:ext cx="72033" cy="104775"/>
              </a:xfrm>
              <a:custGeom>
                <a:avLst/>
                <a:gdLst/>
                <a:ahLst/>
                <a:cxnLst/>
                <a:rect l="l" t="t" r="r" b="b"/>
                <a:pathLst>
                  <a:path w="72033" h="104775">
                    <a:moveTo>
                      <a:pt x="72033" y="0"/>
                    </a:moveTo>
                    <a:lnTo>
                      <a:pt x="72033" y="104775"/>
                    </a:lnTo>
                    <a:lnTo>
                      <a:pt x="0" y="104775"/>
                    </a:lnTo>
                    <a:lnTo>
                      <a:pt x="0" y="0"/>
                    </a:lnTo>
                    <a:close/>
                  </a:path>
                </a:pathLst>
              </a:custGeom>
              <a:solidFill>
                <a:srgbClr val="A8B8C8">
                  <a:alpha val="20000"/>
                </a:srgbClr>
              </a:solidFill>
              <a:ln>
                <a:noFill/>
              </a:ln>
            </p:spPr>
          </p:sp>
          <p:sp>
            <p:nvSpPr>
              <p:cNvPr id="15" name="Freeform 15"/>
              <p:cNvSpPr/>
              <p:nvPr/>
            </p:nvSpPr>
            <p:spPr>
              <a:xfrm>
                <a:off x="8598050" y="1632299"/>
                <a:ext cx="157806" cy="144714"/>
              </a:xfrm>
              <a:custGeom>
                <a:avLst/>
                <a:gdLst/>
                <a:ahLst/>
                <a:cxnLst/>
                <a:rect l="l" t="t" r="r" b="b"/>
                <a:pathLst>
                  <a:path w="157806" h="144714">
                    <a:moveTo>
                      <a:pt x="157806" y="72676"/>
                    </a:moveTo>
                    <a:cubicBezTo>
                      <a:pt x="157806" y="76293"/>
                      <a:pt x="154874" y="79225"/>
                      <a:pt x="151257" y="79225"/>
                    </a:cubicBezTo>
                    <a:lnTo>
                      <a:pt x="79225" y="79225"/>
                    </a:lnTo>
                    <a:cubicBezTo>
                      <a:pt x="75608" y="79225"/>
                      <a:pt x="72676" y="76293"/>
                      <a:pt x="72676" y="72676"/>
                    </a:cubicBezTo>
                    <a:cubicBezTo>
                      <a:pt x="72676" y="69060"/>
                      <a:pt x="75608" y="66128"/>
                      <a:pt x="79225" y="66128"/>
                    </a:cubicBezTo>
                    <a:lnTo>
                      <a:pt x="151257" y="66128"/>
                    </a:lnTo>
                    <a:cubicBezTo>
                      <a:pt x="154874" y="66128"/>
                      <a:pt x="157806" y="69060"/>
                      <a:pt x="157806" y="72676"/>
                    </a:cubicBezTo>
                    <a:close/>
                    <a:moveTo>
                      <a:pt x="79225" y="26837"/>
                    </a:moveTo>
                    <a:lnTo>
                      <a:pt x="151257" y="26837"/>
                    </a:lnTo>
                    <a:cubicBezTo>
                      <a:pt x="154874" y="26837"/>
                      <a:pt x="157806" y="23905"/>
                      <a:pt x="157806" y="20289"/>
                    </a:cubicBezTo>
                    <a:cubicBezTo>
                      <a:pt x="157806" y="16672"/>
                      <a:pt x="154874" y="13740"/>
                      <a:pt x="151257" y="13740"/>
                    </a:cubicBezTo>
                    <a:lnTo>
                      <a:pt x="79225" y="13740"/>
                    </a:lnTo>
                    <a:cubicBezTo>
                      <a:pt x="75608" y="13740"/>
                      <a:pt x="72676" y="16672"/>
                      <a:pt x="72676" y="20289"/>
                    </a:cubicBezTo>
                    <a:cubicBezTo>
                      <a:pt x="72676" y="23905"/>
                      <a:pt x="75608" y="26837"/>
                      <a:pt x="79225" y="26837"/>
                    </a:cubicBezTo>
                    <a:close/>
                    <a:moveTo>
                      <a:pt x="151257" y="118515"/>
                    </a:moveTo>
                    <a:lnTo>
                      <a:pt x="79225" y="118515"/>
                    </a:lnTo>
                    <a:cubicBezTo>
                      <a:pt x="75608" y="118515"/>
                      <a:pt x="72676" y="121447"/>
                      <a:pt x="72676" y="125064"/>
                    </a:cubicBezTo>
                    <a:cubicBezTo>
                      <a:pt x="72676" y="128680"/>
                      <a:pt x="75608" y="131612"/>
                      <a:pt x="79225" y="131612"/>
                    </a:cubicBezTo>
                    <a:lnTo>
                      <a:pt x="151257" y="131612"/>
                    </a:lnTo>
                    <a:cubicBezTo>
                      <a:pt x="154874" y="131612"/>
                      <a:pt x="157806" y="128680"/>
                      <a:pt x="157806" y="125064"/>
                    </a:cubicBezTo>
                    <a:cubicBezTo>
                      <a:pt x="157806" y="121447"/>
                      <a:pt x="154874" y="118515"/>
                      <a:pt x="151257" y="118515"/>
                    </a:cubicBezTo>
                    <a:close/>
                    <a:moveTo>
                      <a:pt x="41849" y="2559"/>
                    </a:moveTo>
                    <a:lnTo>
                      <a:pt x="20289" y="24128"/>
                    </a:lnTo>
                    <a:lnTo>
                      <a:pt x="11825" y="15656"/>
                    </a:lnTo>
                    <a:cubicBezTo>
                      <a:pt x="9266" y="13097"/>
                      <a:pt x="5117" y="13097"/>
                      <a:pt x="2559" y="15656"/>
                    </a:cubicBezTo>
                    <a:cubicBezTo>
                      <a:pt x="0" y="18214"/>
                      <a:pt x="0" y="22363"/>
                      <a:pt x="2559" y="24922"/>
                    </a:cubicBezTo>
                    <a:lnTo>
                      <a:pt x="15656" y="38019"/>
                    </a:lnTo>
                    <a:cubicBezTo>
                      <a:pt x="16884" y="39248"/>
                      <a:pt x="18551" y="39939"/>
                      <a:pt x="20289" y="39939"/>
                    </a:cubicBezTo>
                    <a:cubicBezTo>
                      <a:pt x="22027" y="39939"/>
                      <a:pt x="23693" y="39248"/>
                      <a:pt x="24922" y="38019"/>
                    </a:cubicBezTo>
                    <a:lnTo>
                      <a:pt x="51115" y="11825"/>
                    </a:lnTo>
                    <a:cubicBezTo>
                      <a:pt x="53674" y="9266"/>
                      <a:pt x="53674" y="5117"/>
                      <a:pt x="51115" y="2559"/>
                    </a:cubicBezTo>
                    <a:cubicBezTo>
                      <a:pt x="48557" y="0"/>
                      <a:pt x="44408" y="0"/>
                      <a:pt x="41849" y="2559"/>
                    </a:cubicBezTo>
                    <a:close/>
                    <a:moveTo>
                      <a:pt x="41849" y="54946"/>
                    </a:moveTo>
                    <a:lnTo>
                      <a:pt x="20289" y="76515"/>
                    </a:lnTo>
                    <a:lnTo>
                      <a:pt x="11825" y="68043"/>
                    </a:lnTo>
                    <a:cubicBezTo>
                      <a:pt x="9266" y="65484"/>
                      <a:pt x="5117" y="65484"/>
                      <a:pt x="2559" y="68043"/>
                    </a:cubicBezTo>
                    <a:cubicBezTo>
                      <a:pt x="0" y="70602"/>
                      <a:pt x="0" y="74750"/>
                      <a:pt x="2559" y="77309"/>
                    </a:cubicBezTo>
                    <a:lnTo>
                      <a:pt x="15656" y="90406"/>
                    </a:lnTo>
                    <a:cubicBezTo>
                      <a:pt x="16884" y="91636"/>
                      <a:pt x="18551" y="92327"/>
                      <a:pt x="20289" y="92327"/>
                    </a:cubicBezTo>
                    <a:cubicBezTo>
                      <a:pt x="22027" y="92327"/>
                      <a:pt x="23693" y="91636"/>
                      <a:pt x="24922" y="90406"/>
                    </a:cubicBezTo>
                    <a:lnTo>
                      <a:pt x="51115" y="64212"/>
                    </a:lnTo>
                    <a:cubicBezTo>
                      <a:pt x="53674" y="61654"/>
                      <a:pt x="53674" y="57505"/>
                      <a:pt x="51115" y="54946"/>
                    </a:cubicBezTo>
                    <a:cubicBezTo>
                      <a:pt x="48557" y="52388"/>
                      <a:pt x="44408" y="52388"/>
                      <a:pt x="41849" y="54946"/>
                    </a:cubicBezTo>
                    <a:close/>
                    <a:moveTo>
                      <a:pt x="41849" y="107334"/>
                    </a:moveTo>
                    <a:lnTo>
                      <a:pt x="20289" y="128903"/>
                    </a:lnTo>
                    <a:lnTo>
                      <a:pt x="11825" y="120431"/>
                    </a:lnTo>
                    <a:cubicBezTo>
                      <a:pt x="9266" y="117872"/>
                      <a:pt x="5117" y="117872"/>
                      <a:pt x="2559" y="120431"/>
                    </a:cubicBezTo>
                    <a:cubicBezTo>
                      <a:pt x="0" y="122989"/>
                      <a:pt x="0" y="127138"/>
                      <a:pt x="2559" y="129697"/>
                    </a:cubicBezTo>
                    <a:lnTo>
                      <a:pt x="15656" y="142794"/>
                    </a:lnTo>
                    <a:cubicBezTo>
                      <a:pt x="16884" y="144023"/>
                      <a:pt x="18551" y="144714"/>
                      <a:pt x="20289" y="144714"/>
                    </a:cubicBezTo>
                    <a:cubicBezTo>
                      <a:pt x="22027" y="144714"/>
                      <a:pt x="23693" y="144023"/>
                      <a:pt x="24922" y="142794"/>
                    </a:cubicBezTo>
                    <a:lnTo>
                      <a:pt x="51115" y="116600"/>
                    </a:lnTo>
                    <a:cubicBezTo>
                      <a:pt x="53674" y="114041"/>
                      <a:pt x="53674" y="109892"/>
                      <a:pt x="51115" y="107334"/>
                    </a:cubicBezTo>
                    <a:cubicBezTo>
                      <a:pt x="48557" y="104775"/>
                      <a:pt x="44408" y="104775"/>
                      <a:pt x="41849" y="107334"/>
                    </a:cubicBezTo>
                    <a:close/>
                  </a:path>
                </a:pathLst>
              </a:custGeom>
              <a:solidFill>
                <a:srgbClr val="A8B8C8"/>
              </a:solidFill>
              <a:ln>
                <a:noFill/>
              </a:ln>
            </p:spPr>
          </p:sp>
        </p:grpSp>
        <p:sp>
          <p:nvSpPr>
            <p:cNvPr id="17" name="TextBox 17"/>
            <p:cNvSpPr txBox="1"/>
            <p:nvPr/>
          </p:nvSpPr>
          <p:spPr>
            <a:xfrm>
              <a:off x="8872347" y="1647349"/>
              <a:ext cx="1211692" cy="190690"/>
            </a:xfrm>
            <a:prstGeom prst="rect">
              <a:avLst/>
            </a:prstGeom>
            <a:noFill/>
            <a:ln>
              <a:noFill/>
            </a:ln>
          </p:spPr>
          <p:txBody>
            <a:bodyPr wrap="none" lIns="0" tIns="0" rIns="0" bIns="0" anchor="t" anchorCtr="0">
              <a:spAutoFit/>
            </a:bodyPr>
            <a:lstStyle/>
            <a:p>
              <a:pPr algn="l"/>
              <a:r>
                <a:rPr lang="en" sz="980" spc="112" dirty="0">
                  <a:solidFill>
                    <a:srgbClr val="A8B8C8"/>
                  </a:solidFill>
                  <a:latin typeface="+mn-lt"/>
                  <a:ea typeface="+mn-ea"/>
                  <a:cs typeface="+mn-cs"/>
                </a:rPr>
                <a:t>WHAT TO WATCH</a:t>
              </a:r>
            </a:p>
          </p:txBody>
        </p:sp>
        <p:grpSp>
          <p:nvGrpSpPr>
            <p:cNvPr id="20" name="Group 20"/>
            <p:cNvGrpSpPr/>
            <p:nvPr/>
          </p:nvGrpSpPr>
          <p:grpSpPr>
            <a:xfrm>
              <a:off x="8572500" y="2012156"/>
              <a:ext cx="2326626" cy="220028"/>
              <a:chOff x="8572500" y="2012156"/>
              <a:chExt cx="2326626" cy="220028"/>
            </a:xfrm>
          </p:grpSpPr>
          <p:sp>
            <p:nvSpPr>
              <p:cNvPr id="18" name="Rectangle 18"/>
              <p:cNvSpPr/>
              <p:nvPr/>
            </p:nvSpPr>
            <p:spPr>
              <a:xfrm>
                <a:off x="8572500" y="2057400"/>
                <a:ext cx="38100" cy="38100"/>
              </a:xfrm>
              <a:prstGeom prst="rect">
                <a:avLst/>
              </a:prstGeom>
              <a:solidFill>
                <a:schemeClr val="accent2"/>
              </a:solidFill>
              <a:ln>
                <a:noFill/>
              </a:ln>
            </p:spPr>
          </p:sp>
          <p:sp>
            <p:nvSpPr>
              <p:cNvPr id="19" name="TextBox 19"/>
              <p:cNvSpPr txBox="1"/>
              <p:nvPr/>
            </p:nvSpPr>
            <p:spPr>
              <a:xfrm>
                <a:off x="8719185" y="2012156"/>
                <a:ext cx="2179941" cy="220028"/>
              </a:xfrm>
              <a:prstGeom prst="rect">
                <a:avLst/>
              </a:prstGeom>
              <a:noFill/>
              <a:ln>
                <a:noFill/>
              </a:ln>
            </p:spPr>
            <p:txBody>
              <a:bodyPr wrap="none" lIns="0" tIns="0" rIns="0" bIns="0" anchor="t" anchorCtr="0">
                <a:spAutoFit/>
              </a:bodyPr>
              <a:lstStyle/>
              <a:p>
                <a:pPr algn="l"/>
                <a:r>
                  <a:rPr lang="en" sz="1120" dirty="0">
                    <a:solidFill>
                      <a:srgbClr val="FAF9F6"/>
                    </a:solidFill>
                    <a:latin typeface="+mn-lt"/>
                    <a:ea typeface="+mn-ea"/>
                    <a:cs typeface="+mn-cs"/>
                  </a:rPr>
                  <a:t>Wearable and edge connection</a:t>
                </a:r>
              </a:p>
            </p:txBody>
          </p:sp>
        </p:grpSp>
        <p:sp>
          <p:nvSpPr>
            <p:cNvPr id="21" name="Line 21"/>
            <p:cNvSpPr/>
            <p:nvPr/>
          </p:nvSpPr>
          <p:spPr>
            <a:xfrm>
              <a:off x="8572500" y="2305050"/>
              <a:ext cx="3009900" cy="9525"/>
            </a:xfrm>
            <a:custGeom>
              <a:avLst/>
              <a:gdLst/>
              <a:ahLst/>
              <a:cxnLst/>
              <a:rect l="l" t="t" r="r" b="b"/>
              <a:pathLst>
                <a:path w="3009900" h="9525">
                  <a:moveTo>
                    <a:pt x="0" y="0"/>
                  </a:moveTo>
                  <a:lnTo>
                    <a:pt x="3009900" y="0"/>
                  </a:lnTo>
                </a:path>
              </a:pathLst>
            </a:custGeom>
            <a:noFill/>
            <a:ln w="9525">
              <a:solidFill>
                <a:srgbClr val="2E415A"/>
              </a:solidFill>
            </a:ln>
          </p:spPr>
        </p:sp>
        <p:grpSp>
          <p:nvGrpSpPr>
            <p:cNvPr id="24" name="Group 24"/>
            <p:cNvGrpSpPr/>
            <p:nvPr/>
          </p:nvGrpSpPr>
          <p:grpSpPr>
            <a:xfrm>
              <a:off x="8572500" y="2469356"/>
              <a:ext cx="1791087" cy="220028"/>
              <a:chOff x="8572500" y="2469356"/>
              <a:chExt cx="1791087" cy="220028"/>
            </a:xfrm>
          </p:grpSpPr>
          <p:sp>
            <p:nvSpPr>
              <p:cNvPr id="22" name="Rectangle 22"/>
              <p:cNvSpPr/>
              <p:nvPr/>
            </p:nvSpPr>
            <p:spPr>
              <a:xfrm>
                <a:off x="8572500" y="2514600"/>
                <a:ext cx="38100" cy="38100"/>
              </a:xfrm>
              <a:prstGeom prst="rect">
                <a:avLst/>
              </a:prstGeom>
              <a:solidFill>
                <a:schemeClr val="accent2"/>
              </a:solidFill>
              <a:ln>
                <a:noFill/>
              </a:ln>
            </p:spPr>
          </p:sp>
          <p:sp>
            <p:nvSpPr>
              <p:cNvPr id="23" name="TextBox 23"/>
              <p:cNvSpPr txBox="1"/>
              <p:nvPr/>
            </p:nvSpPr>
            <p:spPr>
              <a:xfrm>
                <a:off x="8719185" y="2469356"/>
                <a:ext cx="1644402" cy="220028"/>
              </a:xfrm>
              <a:prstGeom prst="rect">
                <a:avLst/>
              </a:prstGeom>
              <a:noFill/>
              <a:ln>
                <a:noFill/>
              </a:ln>
            </p:spPr>
            <p:txBody>
              <a:bodyPr wrap="none" lIns="0" tIns="0" rIns="0" bIns="0" anchor="t" anchorCtr="0">
                <a:spAutoFit/>
              </a:bodyPr>
              <a:lstStyle/>
              <a:p>
                <a:pPr algn="l"/>
                <a:r>
                  <a:rPr lang="en" sz="1120" dirty="0">
                    <a:solidFill>
                      <a:srgbClr val="FAF9F6"/>
                    </a:solidFill>
                    <a:latin typeface="+mn-lt"/>
                    <a:ea typeface="+mn-ea"/>
                    <a:cs typeface="+mn-cs"/>
                  </a:rPr>
                  <a:t>Live monitoring values</a:t>
                </a:r>
              </a:p>
            </p:txBody>
          </p:sp>
        </p:grpSp>
        <p:sp>
          <p:nvSpPr>
            <p:cNvPr id="25" name="Line 25"/>
            <p:cNvSpPr/>
            <p:nvPr/>
          </p:nvSpPr>
          <p:spPr>
            <a:xfrm>
              <a:off x="8572500" y="2762250"/>
              <a:ext cx="3009900" cy="9525"/>
            </a:xfrm>
            <a:custGeom>
              <a:avLst/>
              <a:gdLst/>
              <a:ahLst/>
              <a:cxnLst/>
              <a:rect l="l" t="t" r="r" b="b"/>
              <a:pathLst>
                <a:path w="3009900" h="9525">
                  <a:moveTo>
                    <a:pt x="0" y="0"/>
                  </a:moveTo>
                  <a:lnTo>
                    <a:pt x="3009900" y="0"/>
                  </a:lnTo>
                </a:path>
              </a:pathLst>
            </a:custGeom>
            <a:noFill/>
            <a:ln w="9525">
              <a:solidFill>
                <a:srgbClr val="2E415A"/>
              </a:solidFill>
            </a:ln>
          </p:spPr>
        </p:sp>
        <p:grpSp>
          <p:nvGrpSpPr>
            <p:cNvPr id="28" name="Group 28"/>
            <p:cNvGrpSpPr/>
            <p:nvPr/>
          </p:nvGrpSpPr>
          <p:grpSpPr>
            <a:xfrm>
              <a:off x="8572500" y="2926556"/>
              <a:ext cx="1549602" cy="220028"/>
              <a:chOff x="8572500" y="2926556"/>
              <a:chExt cx="1549602" cy="220028"/>
            </a:xfrm>
          </p:grpSpPr>
          <p:sp>
            <p:nvSpPr>
              <p:cNvPr id="26" name="Rectangle 26"/>
              <p:cNvSpPr/>
              <p:nvPr/>
            </p:nvSpPr>
            <p:spPr>
              <a:xfrm>
                <a:off x="8572500" y="2971800"/>
                <a:ext cx="38100" cy="38100"/>
              </a:xfrm>
              <a:prstGeom prst="rect">
                <a:avLst/>
              </a:prstGeom>
              <a:solidFill>
                <a:schemeClr val="accent2"/>
              </a:solidFill>
              <a:ln>
                <a:noFill/>
              </a:ln>
            </p:spPr>
          </p:sp>
          <p:sp>
            <p:nvSpPr>
              <p:cNvPr id="27" name="TextBox 27"/>
              <p:cNvSpPr txBox="1"/>
              <p:nvPr/>
            </p:nvSpPr>
            <p:spPr>
              <a:xfrm>
                <a:off x="8719185" y="2926556"/>
                <a:ext cx="1402917" cy="220028"/>
              </a:xfrm>
              <a:prstGeom prst="rect">
                <a:avLst/>
              </a:prstGeom>
              <a:noFill/>
              <a:ln>
                <a:noFill/>
              </a:ln>
            </p:spPr>
            <p:txBody>
              <a:bodyPr wrap="none" lIns="0" tIns="0" rIns="0" bIns="0" anchor="t" anchorCtr="0">
                <a:spAutoFit/>
              </a:bodyPr>
              <a:lstStyle/>
              <a:p>
                <a:pPr algn="l"/>
                <a:r>
                  <a:rPr lang="en" sz="1120" dirty="0">
                    <a:solidFill>
                      <a:srgbClr val="FAF9F6"/>
                    </a:solidFill>
                    <a:latin typeface="+mn-lt"/>
                    <a:ea typeface="+mn-ea"/>
                    <a:cs typeface="+mn-cs"/>
                  </a:rPr>
                  <a:t>Fall interpretation</a:t>
                </a:r>
              </a:p>
            </p:txBody>
          </p:sp>
        </p:grpSp>
        <p:sp>
          <p:nvSpPr>
            <p:cNvPr id="29" name="Line 29"/>
            <p:cNvSpPr/>
            <p:nvPr/>
          </p:nvSpPr>
          <p:spPr>
            <a:xfrm>
              <a:off x="8572500" y="3219450"/>
              <a:ext cx="3009900" cy="9525"/>
            </a:xfrm>
            <a:custGeom>
              <a:avLst/>
              <a:gdLst/>
              <a:ahLst/>
              <a:cxnLst/>
              <a:rect l="l" t="t" r="r" b="b"/>
              <a:pathLst>
                <a:path w="3009900" h="9525">
                  <a:moveTo>
                    <a:pt x="0" y="0"/>
                  </a:moveTo>
                  <a:lnTo>
                    <a:pt x="3009900" y="0"/>
                  </a:lnTo>
                </a:path>
              </a:pathLst>
            </a:custGeom>
            <a:noFill/>
            <a:ln w="9525">
              <a:solidFill>
                <a:srgbClr val="2E415A"/>
              </a:solidFill>
            </a:ln>
          </p:spPr>
        </p:sp>
        <p:grpSp>
          <p:nvGrpSpPr>
            <p:cNvPr id="32" name="Group 32"/>
            <p:cNvGrpSpPr/>
            <p:nvPr/>
          </p:nvGrpSpPr>
          <p:grpSpPr>
            <a:xfrm>
              <a:off x="8572500" y="3383756"/>
              <a:ext cx="1594976" cy="220028"/>
              <a:chOff x="8572500" y="3383756"/>
              <a:chExt cx="1594976" cy="220028"/>
            </a:xfrm>
          </p:grpSpPr>
          <p:sp>
            <p:nvSpPr>
              <p:cNvPr id="30" name="Rectangle 30"/>
              <p:cNvSpPr/>
              <p:nvPr/>
            </p:nvSpPr>
            <p:spPr>
              <a:xfrm>
                <a:off x="8572500" y="3429000"/>
                <a:ext cx="38100" cy="38100"/>
              </a:xfrm>
              <a:prstGeom prst="rect">
                <a:avLst/>
              </a:prstGeom>
              <a:solidFill>
                <a:schemeClr val="accent2"/>
              </a:solidFill>
              <a:ln>
                <a:noFill/>
              </a:ln>
            </p:spPr>
          </p:sp>
          <p:sp>
            <p:nvSpPr>
              <p:cNvPr id="31" name="TextBox 31"/>
              <p:cNvSpPr txBox="1"/>
              <p:nvPr/>
            </p:nvSpPr>
            <p:spPr>
              <a:xfrm>
                <a:off x="8719185" y="3383756"/>
                <a:ext cx="1448291" cy="220028"/>
              </a:xfrm>
              <a:prstGeom prst="rect">
                <a:avLst/>
              </a:prstGeom>
              <a:noFill/>
              <a:ln>
                <a:noFill/>
              </a:ln>
            </p:spPr>
            <p:txBody>
              <a:bodyPr wrap="none" lIns="0" tIns="0" rIns="0" bIns="0" anchor="t" anchorCtr="0">
                <a:spAutoFit/>
              </a:bodyPr>
              <a:lstStyle/>
              <a:p>
                <a:pPr algn="l"/>
                <a:r>
                  <a:rPr lang="en" sz="1120" dirty="0">
                    <a:solidFill>
                      <a:srgbClr val="FAF9F6"/>
                    </a:solidFill>
                    <a:latin typeface="+mn-lt"/>
                    <a:ea typeface="+mn-ea"/>
                    <a:cs typeface="+mn-cs"/>
                  </a:rPr>
                  <a:t>Fusion tier decision</a:t>
                </a:r>
              </a:p>
            </p:txBody>
          </p:sp>
        </p:grpSp>
        <p:sp>
          <p:nvSpPr>
            <p:cNvPr id="33" name="Line 33"/>
            <p:cNvSpPr/>
            <p:nvPr/>
          </p:nvSpPr>
          <p:spPr>
            <a:xfrm>
              <a:off x="8572500" y="3676650"/>
              <a:ext cx="3009900" cy="9525"/>
            </a:xfrm>
            <a:custGeom>
              <a:avLst/>
              <a:gdLst/>
              <a:ahLst/>
              <a:cxnLst/>
              <a:rect l="l" t="t" r="r" b="b"/>
              <a:pathLst>
                <a:path w="3009900" h="9525">
                  <a:moveTo>
                    <a:pt x="0" y="0"/>
                  </a:moveTo>
                  <a:lnTo>
                    <a:pt x="3009900" y="0"/>
                  </a:lnTo>
                </a:path>
              </a:pathLst>
            </a:custGeom>
            <a:noFill/>
            <a:ln w="9525">
              <a:solidFill>
                <a:srgbClr val="2E415A"/>
              </a:solidFill>
            </a:ln>
          </p:spPr>
        </p:sp>
        <p:grpSp>
          <p:nvGrpSpPr>
            <p:cNvPr id="36" name="Group 36"/>
            <p:cNvGrpSpPr/>
            <p:nvPr/>
          </p:nvGrpSpPr>
          <p:grpSpPr>
            <a:xfrm>
              <a:off x="8572500" y="3840956"/>
              <a:ext cx="2220845" cy="220028"/>
              <a:chOff x="8572500" y="3840956"/>
              <a:chExt cx="2220845" cy="220028"/>
            </a:xfrm>
          </p:grpSpPr>
          <p:sp>
            <p:nvSpPr>
              <p:cNvPr id="34" name="Rectangle 34"/>
              <p:cNvSpPr/>
              <p:nvPr/>
            </p:nvSpPr>
            <p:spPr>
              <a:xfrm>
                <a:off x="8572500" y="3886200"/>
                <a:ext cx="38100" cy="38100"/>
              </a:xfrm>
              <a:prstGeom prst="rect">
                <a:avLst/>
              </a:prstGeom>
              <a:solidFill>
                <a:schemeClr val="accent2"/>
              </a:solidFill>
              <a:ln>
                <a:noFill/>
              </a:ln>
            </p:spPr>
          </p:sp>
          <p:sp>
            <p:nvSpPr>
              <p:cNvPr id="35" name="TextBox 35"/>
              <p:cNvSpPr txBox="1"/>
              <p:nvPr/>
            </p:nvSpPr>
            <p:spPr>
              <a:xfrm>
                <a:off x="8719185" y="3840956"/>
                <a:ext cx="2074160" cy="220028"/>
              </a:xfrm>
              <a:prstGeom prst="rect">
                <a:avLst/>
              </a:prstGeom>
              <a:noFill/>
              <a:ln>
                <a:noFill/>
              </a:ln>
            </p:spPr>
            <p:txBody>
              <a:bodyPr wrap="none" lIns="0" tIns="0" rIns="0" bIns="0" anchor="t" anchorCtr="0">
                <a:spAutoFit/>
              </a:bodyPr>
              <a:lstStyle/>
              <a:p>
                <a:pPr algn="l"/>
                <a:r>
                  <a:rPr lang="en" sz="1120" dirty="0">
                    <a:solidFill>
                      <a:srgbClr val="FAF9F6"/>
                    </a:solidFill>
                    <a:latin typeface="+mn-lt"/>
                    <a:ea typeface="+mn-ea"/>
                    <a:cs typeface="+mn-cs"/>
                  </a:rPr>
                  <a:t>Caregiver incident and video</a:t>
                </a:r>
              </a:p>
            </p:txBody>
          </p:sp>
        </p:grpSp>
      </p:grpSp>
      <p:sp>
        <p:nvSpPr>
          <p:cNvPr id="38" name="TextBox 38"/>
          <p:cNvSpPr txBox="1"/>
          <p:nvPr/>
        </p:nvSpPr>
        <p:spPr>
          <a:xfrm>
            <a:off x="11432327" y="6562249"/>
            <a:ext cx="155026" cy="190690"/>
          </a:xfrm>
          <a:prstGeom prst="rect">
            <a:avLst/>
          </a:prstGeom>
          <a:noFill/>
          <a:ln>
            <a:noFill/>
          </a:ln>
        </p:spPr>
        <p:txBody>
          <a:bodyPr wrap="none" lIns="0" tIns="0" rIns="0" bIns="0" anchor="t" anchorCtr="0">
            <a:spAutoFit/>
          </a:bodyPr>
          <a:lstStyle/>
          <a:p>
            <a:pPr algn="r"/>
            <a:r>
              <a:rPr lang="en" sz="980" dirty="0">
                <a:solidFill>
                  <a:srgbClr val="A8B8C8"/>
                </a:solidFill>
                <a:latin typeface="+mn-lt"/>
                <a:ea typeface="+mn-ea"/>
                <a:cs typeface="+mn-cs"/>
              </a:rPr>
              <a:t>11</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2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600" fill="hold"/>
                                        <p:tgtEl>
                                          <p:spTgt spid="13"/>
                                        </p:tgtEl>
                                        <p:attrNameLst>
                                          <p:attrName>ppt_w</p:attrName>
                                        </p:attrNameLst>
                                      </p:cBhvr>
                                      <p:tavLst>
                                        <p:tav tm="0">
                                          <p:val>
                                            <p:fltVal val="0"/>
                                          </p:val>
                                        </p:tav>
                                        <p:tav tm="100000">
                                          <p:val>
                                            <p:strVal val="#ppt_w"/>
                                          </p:val>
                                        </p:tav>
                                      </p:tavLst>
                                    </p:anim>
                                    <p:anim calcmode="lin" valueType="num">
                                      <p:cBhvr>
                                        <p:cTn id="8" dur="6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xmlns:p="http://schemas.openxmlformats.org/presentationml/2006/main" id="11" presetID="10"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595884" y="590074"/>
            <a:ext cx="10986516" cy="827627"/>
            <a:chOff x="595884" y="590074"/>
            <a:chExt cx="10986516" cy="827627"/>
          </a:xfrm>
        </p:grpSpPr>
        <p:sp>
          <p:nvSpPr>
            <p:cNvPr id="2" name="Rectangle 2"/>
            <p:cNvSpPr/>
            <p:nvPr/>
          </p:nvSpPr>
          <p:spPr>
            <a:xfrm>
              <a:off x="609600" y="590550"/>
              <a:ext cx="266700" cy="28575"/>
            </a:xfrm>
            <a:prstGeom prst="rect">
              <a:avLst/>
            </a:prstGeom>
            <a:solidFill>
              <a:schemeClr val="accent2"/>
            </a:solidFill>
            <a:ln>
              <a:noFill/>
            </a:ln>
          </p:spPr>
        </p:sp>
        <p:sp>
          <p:nvSpPr>
            <p:cNvPr id="3" name="TextBox 3"/>
            <p:cNvSpPr txBox="1"/>
            <p:nvPr/>
          </p:nvSpPr>
          <p:spPr>
            <a:xfrm>
              <a:off x="985647" y="590074"/>
              <a:ext cx="775584" cy="190690"/>
            </a:xfrm>
            <a:prstGeom prst="rect">
              <a:avLst/>
            </a:prstGeom>
            <a:noFill/>
            <a:ln>
              <a:noFill/>
            </a:ln>
          </p:spPr>
          <p:txBody>
            <a:bodyPr wrap="none" lIns="0" tIns="0" rIns="0" bIns="0" anchor="t" anchorCtr="0">
              <a:spAutoFit/>
            </a:bodyPr>
            <a:lstStyle/>
            <a:p>
              <a:pPr algn="l"/>
              <a:r>
                <a:rPr lang="en" sz="980" spc="188" dirty="0">
                  <a:solidFill>
                    <a:schemeClr val="accent2"/>
                  </a:solidFill>
                  <a:latin typeface="+mn-lt"/>
                  <a:ea typeface="+mn-ea"/>
                  <a:cs typeface="+mn-cs"/>
                </a:rPr>
                <a:t>EVIDENCE</a:t>
              </a:r>
            </a:p>
          </p:txBody>
        </p:sp>
        <p:sp>
          <p:nvSpPr>
            <p:cNvPr id="4" name="TextBox 4"/>
            <p:cNvSpPr txBox="1"/>
            <p:nvPr/>
          </p:nvSpPr>
          <p:spPr>
            <a:xfrm>
              <a:off x="595884" y="889635"/>
              <a:ext cx="6604528" cy="528066"/>
            </a:xfrm>
            <a:prstGeom prst="rect">
              <a:avLst/>
            </a:prstGeom>
            <a:noFill/>
            <a:ln>
              <a:noFill/>
            </a:ln>
          </p:spPr>
          <p:txBody>
            <a:bodyPr wrap="none" lIns="0" tIns="0" rIns="0" bIns="0" anchor="t" anchorCtr="0">
              <a:spAutoFit/>
            </a:bodyPr>
            <a:lstStyle/>
            <a:p>
              <a:pPr algn="l"/>
              <a:r>
                <a:rPr lang="en" sz="2700" dirty="0">
                  <a:solidFill>
                    <a:schemeClr val="accent1"/>
                  </a:solidFill>
                  <a:latin typeface="+mj-lt"/>
                  <a:ea typeface="+mj-ea"/>
                  <a:cs typeface="+mj-cs"/>
                </a:rPr>
                <a:t>Evidence Across the Whole Pipeline</a:t>
              </a:r>
            </a:p>
          </p:txBody>
        </p:sp>
        <p:sp>
          <p:nvSpPr>
            <p:cNvPr id="5" name="Line 5"/>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1" name="Group 21"/>
          <p:cNvGrpSpPr/>
          <p:nvPr/>
        </p:nvGrpSpPr>
        <p:grpSpPr>
          <a:xfrm>
            <a:off x="603123" y="1715095"/>
            <a:ext cx="2521077" cy="2587633"/>
            <a:chOff x="603123" y="1715095"/>
            <a:chExt cx="2521077" cy="2587633"/>
          </a:xfrm>
        </p:grpSpPr>
        <p:grpSp>
          <p:nvGrpSpPr>
            <p:cNvPr id="9" name="Group 9"/>
            <p:cNvGrpSpPr/>
            <p:nvPr/>
          </p:nvGrpSpPr>
          <p:grpSpPr>
            <a:xfrm>
              <a:off x="632817" y="1715095"/>
              <a:ext cx="201947" cy="170259"/>
              <a:chOff x="632817" y="1715095"/>
              <a:chExt cx="201947" cy="170259"/>
            </a:xfrm>
          </p:grpSpPr>
          <p:sp>
            <p:nvSpPr>
              <p:cNvPr id="7" name="Freeform 7"/>
              <p:cNvSpPr/>
              <p:nvPr/>
            </p:nvSpPr>
            <p:spPr>
              <a:xfrm>
                <a:off x="640556" y="1722834"/>
                <a:ext cx="185737" cy="154780"/>
              </a:xfrm>
              <a:custGeom>
                <a:avLst/>
                <a:gdLst/>
                <a:ahLst/>
                <a:cxnLst/>
                <a:rect l="l" t="t" r="r" b="b"/>
                <a:pathLst>
                  <a:path w="185737" h="154780">
                    <a:moveTo>
                      <a:pt x="185737" y="15478"/>
                    </a:moveTo>
                    <a:lnTo>
                      <a:pt x="185737" y="154780"/>
                    </a:lnTo>
                    <a:lnTo>
                      <a:pt x="0" y="154780"/>
                    </a:lnTo>
                    <a:lnTo>
                      <a:pt x="0" y="0"/>
                    </a:lnTo>
                    <a:lnTo>
                      <a:pt x="170259" y="0"/>
                    </a:lnTo>
                    <a:cubicBezTo>
                      <a:pt x="178807" y="0"/>
                      <a:pt x="185737" y="6930"/>
                      <a:pt x="185737" y="15478"/>
                    </a:cubicBezTo>
                    <a:close/>
                  </a:path>
                </a:pathLst>
              </a:custGeom>
              <a:solidFill>
                <a:schemeClr val="accent1">
                  <a:alpha val="20000"/>
                </a:schemeClr>
              </a:solidFill>
              <a:ln>
                <a:noFill/>
              </a:ln>
            </p:spPr>
          </p:sp>
          <p:sp>
            <p:nvSpPr>
              <p:cNvPr id="8" name="Freeform 8"/>
              <p:cNvSpPr/>
              <p:nvPr/>
            </p:nvSpPr>
            <p:spPr>
              <a:xfrm>
                <a:off x="632817" y="1715095"/>
                <a:ext cx="201947" cy="170259"/>
              </a:xfrm>
              <a:custGeom>
                <a:avLst/>
                <a:gdLst/>
                <a:ahLst/>
                <a:cxnLst/>
                <a:rect l="l" t="t" r="r" b="b"/>
                <a:pathLst>
                  <a:path w="201947" h="170259">
                    <a:moveTo>
                      <a:pt x="201215" y="162520"/>
                    </a:moveTo>
                    <a:cubicBezTo>
                      <a:pt x="201215" y="166794"/>
                      <a:pt x="197750" y="170259"/>
                      <a:pt x="193476" y="170259"/>
                    </a:cubicBezTo>
                    <a:lnTo>
                      <a:pt x="7739" y="170259"/>
                    </a:lnTo>
                    <a:cubicBezTo>
                      <a:pt x="3465" y="170259"/>
                      <a:pt x="0" y="166794"/>
                      <a:pt x="0" y="162520"/>
                    </a:cubicBezTo>
                    <a:lnTo>
                      <a:pt x="0" y="7739"/>
                    </a:lnTo>
                    <a:cubicBezTo>
                      <a:pt x="0" y="3465"/>
                      <a:pt x="3465" y="0"/>
                      <a:pt x="7739" y="0"/>
                    </a:cubicBezTo>
                    <a:cubicBezTo>
                      <a:pt x="12013" y="0"/>
                      <a:pt x="15478" y="3465"/>
                      <a:pt x="15478" y="7739"/>
                    </a:cubicBezTo>
                    <a:lnTo>
                      <a:pt x="15478" y="99030"/>
                    </a:lnTo>
                    <a:lnTo>
                      <a:pt x="64553" y="56108"/>
                    </a:lnTo>
                    <a:cubicBezTo>
                      <a:pt x="67305" y="53699"/>
                      <a:pt x="71369" y="53545"/>
                      <a:pt x="74295" y="55740"/>
                    </a:cubicBezTo>
                    <a:lnTo>
                      <a:pt x="131186" y="98411"/>
                    </a:lnTo>
                    <a:lnTo>
                      <a:pt x="188378" y="48369"/>
                    </a:lnTo>
                    <a:cubicBezTo>
                      <a:pt x="190421" y="46346"/>
                      <a:pt x="193417" y="45623"/>
                      <a:pt x="196158" y="46491"/>
                    </a:cubicBezTo>
                    <a:cubicBezTo>
                      <a:pt x="198899" y="47359"/>
                      <a:pt x="200933" y="49674"/>
                      <a:pt x="201440" y="52504"/>
                    </a:cubicBezTo>
                    <a:cubicBezTo>
                      <a:pt x="201947" y="55334"/>
                      <a:pt x="200843" y="58212"/>
                      <a:pt x="198574" y="59977"/>
                    </a:cubicBezTo>
                    <a:lnTo>
                      <a:pt x="136661" y="114151"/>
                    </a:lnTo>
                    <a:cubicBezTo>
                      <a:pt x="133909" y="116560"/>
                      <a:pt x="129846" y="116713"/>
                      <a:pt x="126920" y="114518"/>
                    </a:cubicBezTo>
                    <a:lnTo>
                      <a:pt x="70028" y="71867"/>
                    </a:lnTo>
                    <a:lnTo>
                      <a:pt x="15478" y="119597"/>
                    </a:lnTo>
                    <a:lnTo>
                      <a:pt x="15478" y="154780"/>
                    </a:lnTo>
                    <a:lnTo>
                      <a:pt x="193476" y="154780"/>
                    </a:lnTo>
                    <a:cubicBezTo>
                      <a:pt x="197750" y="154780"/>
                      <a:pt x="201215" y="158245"/>
                      <a:pt x="201215" y="162520"/>
                    </a:cubicBezTo>
                    <a:close/>
                  </a:path>
                </a:pathLst>
              </a:custGeom>
              <a:solidFill>
                <a:schemeClr val="accent1"/>
              </a:solidFill>
              <a:ln>
                <a:noFill/>
              </a:ln>
            </p:spPr>
          </p:sp>
        </p:grpSp>
        <p:sp>
          <p:nvSpPr>
            <p:cNvPr id="10" name="TextBox 10"/>
            <p:cNvSpPr txBox="1"/>
            <p:nvPr/>
          </p:nvSpPr>
          <p:spPr>
            <a:xfrm>
              <a:off x="603123" y="2129314"/>
              <a:ext cx="968209" cy="249364"/>
            </a:xfrm>
            <a:prstGeom prst="rect">
              <a:avLst/>
            </a:prstGeom>
            <a:noFill/>
            <a:ln>
              <a:noFill/>
            </a:ln>
          </p:spPr>
          <p:txBody>
            <a:bodyPr wrap="none" lIns="0" tIns="0" rIns="0" bIns="0" anchor="t" anchorCtr="0">
              <a:spAutoFit/>
            </a:bodyPr>
            <a:lstStyle/>
            <a:p>
              <a:pPr algn="l"/>
              <a:r>
                <a:rPr lang="en" sz="1280" b="1" dirty="0">
                  <a:solidFill>
                    <a:schemeClr val="accent1"/>
                  </a:solidFill>
                  <a:latin typeface="+mn-lt"/>
                  <a:ea typeface="+mn-ea"/>
                  <a:cs typeface="+mn-cs"/>
                </a:rPr>
                <a:t>Perception</a:t>
              </a:r>
            </a:p>
          </p:txBody>
        </p:sp>
        <p:sp>
          <p:nvSpPr>
            <p:cNvPr id="11" name="Line 11"/>
            <p:cNvSpPr/>
            <p:nvPr/>
          </p:nvSpPr>
          <p:spPr>
            <a:xfrm>
              <a:off x="609600" y="2419350"/>
              <a:ext cx="2514600" cy="9525"/>
            </a:xfrm>
            <a:custGeom>
              <a:avLst/>
              <a:gdLst/>
              <a:ahLst/>
              <a:cxnLst/>
              <a:rect l="l" t="t" r="r" b="b"/>
              <a:pathLst>
                <a:path w="2514600" h="9525">
                  <a:moveTo>
                    <a:pt x="0" y="0"/>
                  </a:moveTo>
                  <a:lnTo>
                    <a:pt x="2514600" y="0"/>
                  </a:lnTo>
                </a:path>
              </a:pathLst>
            </a:custGeom>
            <a:noFill/>
            <a:ln w="9525">
              <a:solidFill>
                <a:schemeClr val="accent6"/>
              </a:solidFill>
            </a:ln>
          </p:spPr>
        </p:sp>
        <p:grpSp>
          <p:nvGrpSpPr>
            <p:cNvPr id="20" name="Group 20"/>
            <p:cNvGrpSpPr/>
            <p:nvPr/>
          </p:nvGrpSpPr>
          <p:grpSpPr>
            <a:xfrm>
              <a:off x="609600" y="2567464"/>
              <a:ext cx="2183824" cy="1735264"/>
              <a:chOff x="609600" y="2567464"/>
              <a:chExt cx="2183824" cy="1735264"/>
            </a:xfrm>
          </p:grpSpPr>
          <p:sp>
            <p:nvSpPr>
              <p:cNvPr id="12" name="Rectangle 12"/>
              <p:cNvSpPr/>
              <p:nvPr/>
            </p:nvSpPr>
            <p:spPr>
              <a:xfrm>
                <a:off x="609600" y="2628900"/>
                <a:ext cx="38100" cy="38100"/>
              </a:xfrm>
              <a:prstGeom prst="rect">
                <a:avLst/>
              </a:prstGeom>
              <a:solidFill>
                <a:schemeClr val="accent2"/>
              </a:solidFill>
              <a:ln>
                <a:noFill/>
              </a:ln>
            </p:spPr>
          </p:sp>
          <p:sp>
            <p:nvSpPr>
              <p:cNvPr id="13" name="TextBox 13"/>
              <p:cNvSpPr txBox="1"/>
              <p:nvPr/>
            </p:nvSpPr>
            <p:spPr>
              <a:xfrm>
                <a:off x="755523" y="2567464"/>
                <a:ext cx="1541018" cy="458914"/>
              </a:xfrm>
              <a:prstGeom prst="rect">
                <a:avLst/>
              </a:prstGeom>
              <a:noFill/>
              <a:ln>
                <a:noFill/>
              </a:ln>
            </p:spPr>
            <p:txBody>
              <a:bodyPr wrap="none" lIns="0" tIns="0" rIns="0" bIns="0" anchor="t" anchorCtr="0">
                <a:spAutoFit/>
              </a:bodyPr>
              <a:lstStyle/>
              <a:p>
                <a:pPr algn="l">
                  <a:lnSpc>
                    <a:spcPts val="1650"/>
                  </a:lnSpc>
                </a:pPr>
                <a:r>
                  <a:rPr lang="en" sz="1280" dirty="0">
                    <a:solidFill>
                      <a:schemeClr val="dk1"/>
                    </a:solidFill>
                    <a:latin typeface="+mn-lt"/>
                    <a:ea typeface="+mn-ea"/>
                    <a:cs typeface="+mn-cs"/>
                  </a:rPr>
                  <a:t>Four-class posture</a:t>
                </a:r>
                <a:br/>
                <a:r>
                  <a:rPr lang="en" sz="1280" dirty="0">
                    <a:solidFill>
                      <a:schemeClr val="dk1"/>
                    </a:solidFill>
                    <a:latin typeface="+mn-lt"/>
                    <a:ea typeface="+mn-ea"/>
                    <a:cs typeface="+mn-cs"/>
                  </a:rPr>
                  <a:t>detector</a:t>
                </a:r>
              </a:p>
            </p:txBody>
          </p:sp>
          <p:sp>
            <p:nvSpPr>
              <p:cNvPr id="14" name="Rectangle 14"/>
              <p:cNvSpPr/>
              <p:nvPr/>
            </p:nvSpPr>
            <p:spPr>
              <a:xfrm>
                <a:off x="609600" y="3124200"/>
                <a:ext cx="38100" cy="38100"/>
              </a:xfrm>
              <a:prstGeom prst="rect">
                <a:avLst/>
              </a:prstGeom>
              <a:solidFill>
                <a:schemeClr val="accent2"/>
              </a:solidFill>
              <a:ln>
                <a:noFill/>
              </a:ln>
            </p:spPr>
          </p:sp>
          <p:sp>
            <p:nvSpPr>
              <p:cNvPr id="15" name="TextBox 15"/>
              <p:cNvSpPr txBox="1"/>
              <p:nvPr/>
            </p:nvSpPr>
            <p:spPr>
              <a:xfrm>
                <a:off x="755523" y="3062764"/>
                <a:ext cx="1988058" cy="458914"/>
              </a:xfrm>
              <a:prstGeom prst="rect">
                <a:avLst/>
              </a:prstGeom>
              <a:noFill/>
              <a:ln>
                <a:noFill/>
              </a:ln>
            </p:spPr>
            <p:txBody>
              <a:bodyPr wrap="none" lIns="0" tIns="0" rIns="0" bIns="0" anchor="t" anchorCtr="0">
                <a:spAutoFit/>
              </a:bodyPr>
              <a:lstStyle/>
              <a:p>
                <a:pPr algn="l">
                  <a:lnSpc>
                    <a:spcPts val="1650"/>
                  </a:lnSpc>
                </a:pPr>
                <a:r>
                  <a:rPr lang="en" sz="1280" dirty="0">
                    <a:solidFill>
                      <a:schemeClr val="dk1"/>
                    </a:solidFill>
                    <a:latin typeface="+mn-lt"/>
                    <a:ea typeface="+mn-ea"/>
                    <a:cs typeface="+mn-cs"/>
                  </a:rPr>
                  <a:t>Pose and temporal action</a:t>
                </a:r>
                <a:br/>
                <a:r>
                  <a:rPr lang="en" sz="1280" dirty="0">
                    <a:solidFill>
                      <a:schemeClr val="dk1"/>
                    </a:solidFill>
                    <a:latin typeface="+mn-lt"/>
                    <a:ea typeface="+mn-ea"/>
                    <a:cs typeface="+mn-cs"/>
                  </a:rPr>
                  <a:t>processing</a:t>
                </a:r>
              </a:p>
            </p:txBody>
          </p:sp>
          <p:sp>
            <p:nvSpPr>
              <p:cNvPr id="16" name="Rectangle 16"/>
              <p:cNvSpPr/>
              <p:nvPr/>
            </p:nvSpPr>
            <p:spPr>
              <a:xfrm>
                <a:off x="609600" y="3619500"/>
                <a:ext cx="38100" cy="38100"/>
              </a:xfrm>
              <a:prstGeom prst="rect">
                <a:avLst/>
              </a:prstGeom>
              <a:solidFill>
                <a:schemeClr val="accent2"/>
              </a:solidFill>
              <a:ln>
                <a:noFill/>
              </a:ln>
            </p:spPr>
          </p:sp>
          <p:sp>
            <p:nvSpPr>
              <p:cNvPr id="17" name="TextBox 17"/>
              <p:cNvSpPr txBox="1"/>
              <p:nvPr/>
            </p:nvSpPr>
            <p:spPr>
              <a:xfrm>
                <a:off x="755523" y="3558064"/>
                <a:ext cx="2037901" cy="249364"/>
              </a:xfrm>
              <a:prstGeom prst="rect">
                <a:avLst/>
              </a:prstGeom>
              <a:noFill/>
              <a:ln>
                <a:noFill/>
              </a:ln>
            </p:spPr>
            <p:txBody>
              <a:bodyPr wrap="none" lIns="0" tIns="0" rIns="0" bIns="0" anchor="t" anchorCtr="0">
                <a:spAutoFit/>
              </a:bodyPr>
              <a:lstStyle/>
              <a:p>
                <a:pPr algn="l"/>
                <a:r>
                  <a:rPr lang="en" sz="1280" dirty="0">
                    <a:solidFill>
                      <a:schemeClr val="dk1"/>
                    </a:solidFill>
                    <a:latin typeface="+mn-lt"/>
                    <a:ea typeface="+mn-ea"/>
                    <a:cs typeface="+mn-cs"/>
                  </a:rPr>
                  <a:t>Validation mAP50: 0.885</a:t>
                </a:r>
              </a:p>
            </p:txBody>
          </p:sp>
          <p:sp>
            <p:nvSpPr>
              <p:cNvPr id="18" name="Rectangle 18"/>
              <p:cNvSpPr/>
              <p:nvPr/>
            </p:nvSpPr>
            <p:spPr>
              <a:xfrm>
                <a:off x="609600" y="3905250"/>
                <a:ext cx="38100" cy="38100"/>
              </a:xfrm>
              <a:prstGeom prst="rect">
                <a:avLst/>
              </a:prstGeom>
              <a:solidFill>
                <a:schemeClr val="accent2"/>
              </a:solidFill>
              <a:ln>
                <a:noFill/>
              </a:ln>
            </p:spPr>
          </p:sp>
          <p:sp>
            <p:nvSpPr>
              <p:cNvPr id="19" name="TextBox 19"/>
              <p:cNvSpPr txBox="1"/>
              <p:nvPr/>
            </p:nvSpPr>
            <p:spPr>
              <a:xfrm>
                <a:off x="755523" y="3843814"/>
                <a:ext cx="1671066" cy="458914"/>
              </a:xfrm>
              <a:prstGeom prst="rect">
                <a:avLst/>
              </a:prstGeom>
              <a:noFill/>
              <a:ln>
                <a:noFill/>
              </a:ln>
            </p:spPr>
            <p:txBody>
              <a:bodyPr wrap="none" lIns="0" tIns="0" rIns="0" bIns="0" anchor="t" anchorCtr="0">
                <a:spAutoFit/>
              </a:bodyPr>
              <a:lstStyle/>
              <a:p>
                <a:pPr algn="l">
                  <a:lnSpc>
                    <a:spcPts val="1650"/>
                  </a:lnSpc>
                </a:pPr>
                <a:r>
                  <a:rPr lang="en" sz="1280" dirty="0">
                    <a:solidFill>
                      <a:schemeClr val="dk1"/>
                    </a:solidFill>
                    <a:latin typeface="+mn-lt"/>
                    <a:ea typeface="+mn-ea"/>
                    <a:cs typeface="+mn-cs"/>
                  </a:rPr>
                  <a:t>Validation mAP50–95:</a:t>
                </a:r>
                <a:br/>
                <a:r>
                  <a:rPr lang="en" sz="1280" dirty="0">
                    <a:solidFill>
                      <a:schemeClr val="dk1"/>
                    </a:solidFill>
                    <a:latin typeface="+mn-lt"/>
                    <a:ea typeface="+mn-ea"/>
                    <a:cs typeface="+mn-cs"/>
                  </a:rPr>
                  <a:t>0.556</a:t>
                </a:r>
              </a:p>
            </p:txBody>
          </p:sp>
        </p:grpSp>
      </p:grpSp>
      <p:grpSp>
        <p:nvGrpSpPr>
          <p:cNvPr id="34" name="Group 34"/>
          <p:cNvGrpSpPr/>
          <p:nvPr/>
        </p:nvGrpSpPr>
        <p:grpSpPr>
          <a:xfrm>
            <a:off x="3346323" y="1703330"/>
            <a:ext cx="2521077" cy="2104098"/>
            <a:chOff x="3346323" y="1703330"/>
            <a:chExt cx="2521077" cy="2104098"/>
          </a:xfrm>
        </p:grpSpPr>
        <p:grpSp>
          <p:nvGrpSpPr>
            <p:cNvPr id="24" name="Group 24"/>
            <p:cNvGrpSpPr/>
            <p:nvPr/>
          </p:nvGrpSpPr>
          <p:grpSpPr>
            <a:xfrm>
              <a:off x="3360154" y="1703330"/>
              <a:ext cx="232931" cy="189786"/>
              <a:chOff x="3360154" y="1703330"/>
              <a:chExt cx="232931" cy="189786"/>
            </a:xfrm>
          </p:grpSpPr>
          <p:sp>
            <p:nvSpPr>
              <p:cNvPr id="22" name="Freeform 22"/>
              <p:cNvSpPr/>
              <p:nvPr/>
            </p:nvSpPr>
            <p:spPr>
              <a:xfrm>
                <a:off x="3368088" y="1703330"/>
                <a:ext cx="217072" cy="182027"/>
              </a:xfrm>
              <a:custGeom>
                <a:avLst/>
                <a:gdLst/>
                <a:ahLst/>
                <a:cxnLst/>
                <a:rect l="l" t="t" r="r" b="b"/>
                <a:pathLst>
                  <a:path w="217072" h="182027">
                    <a:moveTo>
                      <a:pt x="215141" y="57899"/>
                    </a:moveTo>
                    <a:lnTo>
                      <a:pt x="114534" y="179237"/>
                    </a:lnTo>
                    <a:cubicBezTo>
                      <a:pt x="113063" y="181005"/>
                      <a:pt x="110883" y="182027"/>
                      <a:pt x="108584" y="182027"/>
                    </a:cubicBezTo>
                    <a:cubicBezTo>
                      <a:pt x="106285" y="182027"/>
                      <a:pt x="104105" y="181005"/>
                      <a:pt x="102635" y="179237"/>
                    </a:cubicBezTo>
                    <a:lnTo>
                      <a:pt x="1931" y="57899"/>
                    </a:lnTo>
                    <a:cubicBezTo>
                      <a:pt x="611" y="56313"/>
                      <a:pt x="0" y="54255"/>
                      <a:pt x="240" y="52205"/>
                    </a:cubicBezTo>
                    <a:cubicBezTo>
                      <a:pt x="479" y="50156"/>
                      <a:pt x="1548" y="48294"/>
                      <a:pt x="3198" y="47055"/>
                    </a:cubicBezTo>
                    <a:cubicBezTo>
                      <a:pt x="65541" y="0"/>
                      <a:pt x="151531" y="0"/>
                      <a:pt x="213874" y="47055"/>
                    </a:cubicBezTo>
                    <a:cubicBezTo>
                      <a:pt x="215524" y="48294"/>
                      <a:pt x="216593" y="50156"/>
                      <a:pt x="216832" y="52205"/>
                    </a:cubicBezTo>
                    <a:cubicBezTo>
                      <a:pt x="217072" y="54255"/>
                      <a:pt x="216461" y="56313"/>
                      <a:pt x="215141" y="57899"/>
                    </a:cubicBezTo>
                    <a:close/>
                  </a:path>
                </a:pathLst>
              </a:custGeom>
              <a:solidFill>
                <a:schemeClr val="accent1">
                  <a:alpha val="20000"/>
                </a:schemeClr>
              </a:solidFill>
              <a:ln>
                <a:noFill/>
              </a:ln>
            </p:spPr>
          </p:sp>
          <p:sp>
            <p:nvSpPr>
              <p:cNvPr id="23" name="Freeform 23"/>
              <p:cNvSpPr/>
              <p:nvPr/>
            </p:nvSpPr>
            <p:spPr>
              <a:xfrm>
                <a:off x="3360154" y="1707207"/>
                <a:ext cx="232931" cy="185909"/>
              </a:xfrm>
              <a:custGeom>
                <a:avLst/>
                <a:gdLst/>
                <a:ahLst/>
                <a:cxnLst/>
                <a:rect l="l" t="t" r="r" b="b"/>
                <a:pathLst>
                  <a:path w="232931" h="185909">
                    <a:moveTo>
                      <a:pt x="232450" y="47464"/>
                    </a:moveTo>
                    <a:cubicBezTo>
                      <a:pt x="231961" y="43313"/>
                      <a:pt x="229806" y="39539"/>
                      <a:pt x="226481" y="37007"/>
                    </a:cubicBezTo>
                    <a:cubicBezTo>
                      <a:pt x="194863" y="12955"/>
                      <a:pt x="156197" y="0"/>
                      <a:pt x="116471" y="149"/>
                    </a:cubicBezTo>
                    <a:cubicBezTo>
                      <a:pt x="76745" y="0"/>
                      <a:pt x="38078" y="12955"/>
                      <a:pt x="6460" y="37007"/>
                    </a:cubicBezTo>
                    <a:cubicBezTo>
                      <a:pt x="3135" y="39539"/>
                      <a:pt x="981" y="43313"/>
                      <a:pt x="492" y="47464"/>
                    </a:cubicBezTo>
                    <a:cubicBezTo>
                      <a:pt x="0" y="51606"/>
                      <a:pt x="1239" y="55767"/>
                      <a:pt x="3916" y="58966"/>
                    </a:cubicBezTo>
                    <a:lnTo>
                      <a:pt x="104524" y="180304"/>
                    </a:lnTo>
                    <a:cubicBezTo>
                      <a:pt x="107469" y="183861"/>
                      <a:pt x="111853" y="185909"/>
                      <a:pt x="116471" y="185886"/>
                    </a:cubicBezTo>
                    <a:lnTo>
                      <a:pt x="116471" y="185886"/>
                    </a:lnTo>
                    <a:cubicBezTo>
                      <a:pt x="121075" y="185898"/>
                      <a:pt x="125443" y="183850"/>
                      <a:pt x="128379" y="180304"/>
                    </a:cubicBezTo>
                    <a:lnTo>
                      <a:pt x="228986" y="58966"/>
                    </a:lnTo>
                    <a:cubicBezTo>
                      <a:pt x="231678" y="55774"/>
                      <a:pt x="232931" y="51611"/>
                      <a:pt x="232450" y="47464"/>
                    </a:cubicBezTo>
                    <a:close/>
                    <a:moveTo>
                      <a:pt x="116471" y="170408"/>
                    </a:moveTo>
                    <a:lnTo>
                      <a:pt x="15950" y="49234"/>
                    </a:lnTo>
                    <a:cubicBezTo>
                      <a:pt x="44856" y="27295"/>
                      <a:pt x="80182" y="15484"/>
                      <a:pt x="116471" y="15627"/>
                    </a:cubicBezTo>
                    <a:cubicBezTo>
                      <a:pt x="152759" y="15484"/>
                      <a:pt x="188085" y="27295"/>
                      <a:pt x="216991" y="49234"/>
                    </a:cubicBezTo>
                    <a:close/>
                  </a:path>
                </a:pathLst>
              </a:custGeom>
              <a:solidFill>
                <a:schemeClr val="accent1"/>
              </a:solidFill>
              <a:ln>
                <a:noFill/>
              </a:ln>
            </p:spPr>
          </p:sp>
        </p:grpSp>
        <p:sp>
          <p:nvSpPr>
            <p:cNvPr id="25" name="TextBox 25"/>
            <p:cNvSpPr txBox="1"/>
            <p:nvPr/>
          </p:nvSpPr>
          <p:spPr>
            <a:xfrm>
              <a:off x="3346323" y="2129314"/>
              <a:ext cx="2135532" cy="249364"/>
            </a:xfrm>
            <a:prstGeom prst="rect">
              <a:avLst/>
            </a:prstGeom>
            <a:noFill/>
            <a:ln>
              <a:noFill/>
            </a:ln>
          </p:spPr>
          <p:txBody>
            <a:bodyPr wrap="none" lIns="0" tIns="0" rIns="0" bIns="0" anchor="t" anchorCtr="0">
              <a:spAutoFit/>
            </a:bodyPr>
            <a:lstStyle/>
            <a:p>
              <a:pPr algn="l"/>
              <a:r>
                <a:rPr lang="en" sz="1280" b="1" dirty="0">
                  <a:solidFill>
                    <a:schemeClr val="accent1"/>
                  </a:solidFill>
                  <a:latin typeface="+mn-lt"/>
                  <a:ea typeface="+mn-ea"/>
                  <a:cs typeface="+mn-cs"/>
                </a:rPr>
                <a:t>Wearable communication</a:t>
              </a:r>
            </a:p>
          </p:txBody>
        </p:sp>
        <p:sp>
          <p:nvSpPr>
            <p:cNvPr id="26" name="Line 26"/>
            <p:cNvSpPr/>
            <p:nvPr/>
          </p:nvSpPr>
          <p:spPr>
            <a:xfrm>
              <a:off x="3352800" y="2419350"/>
              <a:ext cx="2514600" cy="9525"/>
            </a:xfrm>
            <a:custGeom>
              <a:avLst/>
              <a:gdLst/>
              <a:ahLst/>
              <a:cxnLst/>
              <a:rect l="l" t="t" r="r" b="b"/>
              <a:pathLst>
                <a:path w="2514600" h="9525">
                  <a:moveTo>
                    <a:pt x="0" y="0"/>
                  </a:moveTo>
                  <a:lnTo>
                    <a:pt x="2514600" y="0"/>
                  </a:lnTo>
                </a:path>
              </a:pathLst>
            </a:custGeom>
            <a:noFill/>
            <a:ln w="9525">
              <a:solidFill>
                <a:schemeClr val="accent6"/>
              </a:solidFill>
            </a:ln>
          </p:spPr>
        </p:sp>
        <p:grpSp>
          <p:nvGrpSpPr>
            <p:cNvPr id="33" name="Group 33"/>
            <p:cNvGrpSpPr/>
            <p:nvPr/>
          </p:nvGrpSpPr>
          <p:grpSpPr>
            <a:xfrm>
              <a:off x="3352800" y="2567464"/>
              <a:ext cx="2137831" cy="1239964"/>
              <a:chOff x="3352800" y="2567464"/>
              <a:chExt cx="2137831" cy="1239964"/>
            </a:xfrm>
          </p:grpSpPr>
          <p:sp>
            <p:nvSpPr>
              <p:cNvPr id="27" name="Rectangle 27"/>
              <p:cNvSpPr/>
              <p:nvPr/>
            </p:nvSpPr>
            <p:spPr>
              <a:xfrm>
                <a:off x="3352800" y="2628900"/>
                <a:ext cx="38100" cy="38100"/>
              </a:xfrm>
              <a:prstGeom prst="rect">
                <a:avLst/>
              </a:prstGeom>
              <a:solidFill>
                <a:schemeClr val="accent2"/>
              </a:solidFill>
              <a:ln>
                <a:noFill/>
              </a:ln>
            </p:spPr>
          </p:sp>
          <p:sp>
            <p:nvSpPr>
              <p:cNvPr id="28" name="TextBox 28"/>
              <p:cNvSpPr txBox="1"/>
              <p:nvPr/>
            </p:nvSpPr>
            <p:spPr>
              <a:xfrm>
                <a:off x="3498723" y="2567464"/>
                <a:ext cx="1991908" cy="249364"/>
              </a:xfrm>
              <a:prstGeom prst="rect">
                <a:avLst/>
              </a:prstGeom>
              <a:noFill/>
              <a:ln>
                <a:noFill/>
              </a:ln>
            </p:spPr>
            <p:txBody>
              <a:bodyPr wrap="none" lIns="0" tIns="0" rIns="0" bIns="0" anchor="t" anchorCtr="0">
                <a:spAutoFit/>
              </a:bodyPr>
              <a:lstStyle/>
              <a:p>
                <a:pPr algn="l"/>
                <a:r>
                  <a:rPr lang="en" sz="1280" dirty="0">
                    <a:solidFill>
                      <a:schemeClr val="dk1"/>
                    </a:solidFill>
                    <a:latin typeface="+mn-lt"/>
                    <a:ea typeface="+mn-ea"/>
                    <a:cs typeface="+mn-cs"/>
                  </a:rPr>
                  <a:t>Typed NDJSON contract</a:t>
                </a:r>
              </a:p>
            </p:txBody>
          </p:sp>
          <p:sp>
            <p:nvSpPr>
              <p:cNvPr id="29" name="Rectangle 29"/>
              <p:cNvSpPr/>
              <p:nvPr/>
            </p:nvSpPr>
            <p:spPr>
              <a:xfrm>
                <a:off x="3352800" y="2914650"/>
                <a:ext cx="38100" cy="38100"/>
              </a:xfrm>
              <a:prstGeom prst="rect">
                <a:avLst/>
              </a:prstGeom>
              <a:solidFill>
                <a:schemeClr val="accent2"/>
              </a:solidFill>
              <a:ln>
                <a:noFill/>
              </a:ln>
            </p:spPr>
          </p:sp>
          <p:sp>
            <p:nvSpPr>
              <p:cNvPr id="30" name="TextBox 30"/>
              <p:cNvSpPr txBox="1"/>
              <p:nvPr/>
            </p:nvSpPr>
            <p:spPr>
              <a:xfrm>
                <a:off x="3498723" y="2853214"/>
                <a:ext cx="1727962" cy="458914"/>
              </a:xfrm>
              <a:prstGeom prst="rect">
                <a:avLst/>
              </a:prstGeom>
              <a:noFill/>
              <a:ln>
                <a:noFill/>
              </a:ln>
            </p:spPr>
            <p:txBody>
              <a:bodyPr wrap="none" lIns="0" tIns="0" rIns="0" bIns="0" anchor="t" anchorCtr="0">
                <a:spAutoFit/>
              </a:bodyPr>
              <a:lstStyle/>
              <a:p>
                <a:pPr algn="l">
                  <a:lnSpc>
                    <a:spcPts val="1650"/>
                  </a:lnSpc>
                </a:pPr>
                <a:r>
                  <a:rPr lang="en" sz="1280" dirty="0">
                    <a:solidFill>
                      <a:schemeClr val="dk1"/>
                    </a:solidFill>
                    <a:latin typeface="+mn-lt"/>
                    <a:ea typeface="+mn-ea"/>
                    <a:cs typeface="+mn-cs"/>
                  </a:rPr>
                  <a:t>TCP framing and</a:t>
                </a:r>
                <a:br/>
                <a:r>
                  <a:rPr lang="en" sz="1280" dirty="0">
                    <a:solidFill>
                      <a:schemeClr val="dk1"/>
                    </a:solidFill>
                    <a:latin typeface="+mn-lt"/>
                    <a:ea typeface="+mn-ea"/>
                    <a:cs typeface="+mn-cs"/>
                  </a:rPr>
                  <a:t>reconnection handling</a:t>
                </a:r>
              </a:p>
            </p:txBody>
          </p:sp>
          <p:sp>
            <p:nvSpPr>
              <p:cNvPr id="31" name="Rectangle 31"/>
              <p:cNvSpPr/>
              <p:nvPr/>
            </p:nvSpPr>
            <p:spPr>
              <a:xfrm>
                <a:off x="3352800" y="3409950"/>
                <a:ext cx="38100" cy="38100"/>
              </a:xfrm>
              <a:prstGeom prst="rect">
                <a:avLst/>
              </a:prstGeom>
              <a:solidFill>
                <a:schemeClr val="accent2"/>
              </a:solidFill>
              <a:ln>
                <a:noFill/>
              </a:ln>
            </p:spPr>
          </p:sp>
          <p:sp>
            <p:nvSpPr>
              <p:cNvPr id="32" name="TextBox 32"/>
              <p:cNvSpPr txBox="1"/>
              <p:nvPr/>
            </p:nvSpPr>
            <p:spPr>
              <a:xfrm>
                <a:off x="3498723" y="3348514"/>
                <a:ext cx="1947418" cy="458914"/>
              </a:xfrm>
              <a:prstGeom prst="rect">
                <a:avLst/>
              </a:prstGeom>
              <a:noFill/>
              <a:ln>
                <a:noFill/>
              </a:ln>
            </p:spPr>
            <p:txBody>
              <a:bodyPr wrap="none" lIns="0" tIns="0" rIns="0" bIns="0" anchor="t" anchorCtr="0">
                <a:spAutoFit/>
              </a:bodyPr>
              <a:lstStyle/>
              <a:p>
                <a:pPr algn="l">
                  <a:lnSpc>
                    <a:spcPts val="1650"/>
                  </a:lnSpc>
                </a:pPr>
                <a:r>
                  <a:rPr lang="en" sz="1280" dirty="0">
                    <a:solidFill>
                      <a:schemeClr val="dk1"/>
                    </a:solidFill>
                    <a:latin typeface="+mn-lt"/>
                    <a:ea typeface="+mn-ea"/>
                    <a:cs typeface="+mn-cs"/>
                  </a:rPr>
                  <a:t>Motion, heart-rate,</a:t>
                </a:r>
                <a:br/>
                <a:r>
                  <a:rPr lang="en" sz="1280" dirty="0">
                    <a:solidFill>
                      <a:schemeClr val="dk1"/>
                    </a:solidFill>
                    <a:latin typeface="+mn-lt"/>
                    <a:ea typeface="+mn-ea"/>
                    <a:cs typeface="+mn-cs"/>
                  </a:rPr>
                  <a:t>PPG, and contact events</a:t>
                </a:r>
              </a:p>
            </p:txBody>
          </p:sp>
        </p:grpSp>
      </p:grpSp>
      <p:grpSp>
        <p:nvGrpSpPr>
          <p:cNvPr id="47" name="Group 47"/>
          <p:cNvGrpSpPr/>
          <p:nvPr/>
        </p:nvGrpSpPr>
        <p:grpSpPr>
          <a:xfrm>
            <a:off x="6089523" y="1707356"/>
            <a:ext cx="2521077" cy="2100072"/>
            <a:chOff x="6089523" y="1707356"/>
            <a:chExt cx="2521077" cy="2100072"/>
          </a:xfrm>
        </p:grpSpPr>
        <p:grpSp>
          <p:nvGrpSpPr>
            <p:cNvPr id="37" name="Group 37"/>
            <p:cNvGrpSpPr/>
            <p:nvPr/>
          </p:nvGrpSpPr>
          <p:grpSpPr>
            <a:xfrm>
              <a:off x="6111472" y="1707356"/>
              <a:ext cx="216705" cy="185737"/>
              <a:chOff x="6111472" y="1707356"/>
              <a:chExt cx="216705" cy="185737"/>
            </a:xfrm>
          </p:grpSpPr>
          <p:sp>
            <p:nvSpPr>
              <p:cNvPr id="35" name="Freeform 35"/>
              <p:cNvSpPr/>
              <p:nvPr/>
            </p:nvSpPr>
            <p:spPr>
              <a:xfrm>
                <a:off x="6119217" y="1730573"/>
                <a:ext cx="201215" cy="131563"/>
              </a:xfrm>
              <a:custGeom>
                <a:avLst/>
                <a:gdLst/>
                <a:ahLst/>
                <a:cxnLst/>
                <a:rect l="l" t="t" r="r" b="b"/>
                <a:pathLst>
                  <a:path w="201215" h="131563">
                    <a:moveTo>
                      <a:pt x="30956" y="30956"/>
                    </a:moveTo>
                    <a:lnTo>
                      <a:pt x="61912" y="108346"/>
                    </a:lnTo>
                    <a:cubicBezTo>
                      <a:pt x="61912" y="125440"/>
                      <a:pt x="42565" y="131563"/>
                      <a:pt x="30956" y="131563"/>
                    </a:cubicBezTo>
                    <a:cubicBezTo>
                      <a:pt x="19348" y="131563"/>
                      <a:pt x="0" y="125440"/>
                      <a:pt x="0" y="108346"/>
                    </a:cubicBezTo>
                    <a:close/>
                    <a:moveTo>
                      <a:pt x="170259" y="0"/>
                    </a:moveTo>
                    <a:lnTo>
                      <a:pt x="139302" y="77390"/>
                    </a:lnTo>
                    <a:cubicBezTo>
                      <a:pt x="139302" y="94484"/>
                      <a:pt x="158650" y="100607"/>
                      <a:pt x="170259" y="100607"/>
                    </a:cubicBezTo>
                    <a:cubicBezTo>
                      <a:pt x="181867" y="100607"/>
                      <a:pt x="201215" y="94484"/>
                      <a:pt x="201215" y="77390"/>
                    </a:cubicBezTo>
                    <a:close/>
                  </a:path>
                </a:pathLst>
              </a:custGeom>
              <a:solidFill>
                <a:schemeClr val="accent1">
                  <a:alpha val="20000"/>
                </a:schemeClr>
              </a:solidFill>
              <a:ln>
                <a:noFill/>
              </a:ln>
            </p:spPr>
          </p:sp>
          <p:sp>
            <p:nvSpPr>
              <p:cNvPr id="36" name="Freeform 36"/>
              <p:cNvSpPr/>
              <p:nvPr/>
            </p:nvSpPr>
            <p:spPr>
              <a:xfrm>
                <a:off x="6111472" y="1707356"/>
                <a:ext cx="216705" cy="185737"/>
              </a:xfrm>
              <a:custGeom>
                <a:avLst/>
                <a:gdLst/>
                <a:ahLst/>
                <a:cxnLst/>
                <a:rect l="l" t="t" r="r" b="b"/>
                <a:pathLst>
                  <a:path w="216705" h="185737">
                    <a:moveTo>
                      <a:pt x="216147" y="97705"/>
                    </a:moveTo>
                    <a:lnTo>
                      <a:pt x="185191" y="20315"/>
                    </a:lnTo>
                    <a:lnTo>
                      <a:pt x="185191" y="20315"/>
                    </a:lnTo>
                    <a:cubicBezTo>
                      <a:pt x="183784" y="16794"/>
                      <a:pt x="180032" y="14812"/>
                      <a:pt x="176330" y="15633"/>
                    </a:cubicBezTo>
                    <a:lnTo>
                      <a:pt x="116092" y="29021"/>
                    </a:lnTo>
                    <a:lnTo>
                      <a:pt x="116092" y="7739"/>
                    </a:lnTo>
                    <a:cubicBezTo>
                      <a:pt x="116092" y="3465"/>
                      <a:pt x="112627" y="0"/>
                      <a:pt x="108353" y="0"/>
                    </a:cubicBezTo>
                    <a:cubicBezTo>
                      <a:pt x="104078" y="0"/>
                      <a:pt x="100614" y="3465"/>
                      <a:pt x="100614" y="7739"/>
                    </a:cubicBezTo>
                    <a:lnTo>
                      <a:pt x="100614" y="32485"/>
                    </a:lnTo>
                    <a:lnTo>
                      <a:pt x="37018" y="46618"/>
                    </a:lnTo>
                    <a:cubicBezTo>
                      <a:pt x="34529" y="47168"/>
                      <a:pt x="32470" y="48908"/>
                      <a:pt x="31514" y="51271"/>
                    </a:cubicBezTo>
                    <a:lnTo>
                      <a:pt x="31514" y="51271"/>
                    </a:lnTo>
                    <a:lnTo>
                      <a:pt x="31514" y="51329"/>
                    </a:lnTo>
                    <a:lnTo>
                      <a:pt x="558" y="128661"/>
                    </a:lnTo>
                    <a:cubicBezTo>
                      <a:pt x="187" y="129584"/>
                      <a:pt x="0" y="130569"/>
                      <a:pt x="6" y="131563"/>
                    </a:cubicBezTo>
                    <a:cubicBezTo>
                      <a:pt x="6" y="154113"/>
                      <a:pt x="23746" y="162520"/>
                      <a:pt x="38701" y="162520"/>
                    </a:cubicBezTo>
                    <a:cubicBezTo>
                      <a:pt x="53657" y="162520"/>
                      <a:pt x="77396" y="154113"/>
                      <a:pt x="77396" y="131563"/>
                    </a:cubicBezTo>
                    <a:cubicBezTo>
                      <a:pt x="77403" y="130569"/>
                      <a:pt x="77215" y="129584"/>
                      <a:pt x="76845" y="128661"/>
                    </a:cubicBezTo>
                    <a:lnTo>
                      <a:pt x="49265" y="59755"/>
                    </a:lnTo>
                    <a:lnTo>
                      <a:pt x="100614" y="48369"/>
                    </a:lnTo>
                    <a:lnTo>
                      <a:pt x="100614" y="170259"/>
                    </a:lnTo>
                    <a:lnTo>
                      <a:pt x="85135" y="170259"/>
                    </a:lnTo>
                    <a:cubicBezTo>
                      <a:pt x="80861" y="170259"/>
                      <a:pt x="77396" y="173723"/>
                      <a:pt x="77396" y="177998"/>
                    </a:cubicBezTo>
                    <a:cubicBezTo>
                      <a:pt x="77396" y="182272"/>
                      <a:pt x="80861" y="185737"/>
                      <a:pt x="85135" y="185737"/>
                    </a:cubicBezTo>
                    <a:lnTo>
                      <a:pt x="131570" y="185737"/>
                    </a:lnTo>
                    <a:cubicBezTo>
                      <a:pt x="135844" y="185737"/>
                      <a:pt x="139309" y="182272"/>
                      <a:pt x="139309" y="177998"/>
                    </a:cubicBezTo>
                    <a:cubicBezTo>
                      <a:pt x="139309" y="173723"/>
                      <a:pt x="135844" y="170259"/>
                      <a:pt x="131570" y="170259"/>
                    </a:cubicBezTo>
                    <a:lnTo>
                      <a:pt x="116092" y="170259"/>
                    </a:lnTo>
                    <a:lnTo>
                      <a:pt x="116092" y="44906"/>
                    </a:lnTo>
                    <a:lnTo>
                      <a:pt x="165428" y="33955"/>
                    </a:lnTo>
                    <a:lnTo>
                      <a:pt x="139860" y="97705"/>
                    </a:lnTo>
                    <a:cubicBezTo>
                      <a:pt x="139490" y="98628"/>
                      <a:pt x="139302" y="99613"/>
                      <a:pt x="139309" y="100607"/>
                    </a:cubicBezTo>
                    <a:cubicBezTo>
                      <a:pt x="139309" y="123157"/>
                      <a:pt x="163048" y="131563"/>
                      <a:pt x="178004" y="131563"/>
                    </a:cubicBezTo>
                    <a:cubicBezTo>
                      <a:pt x="192959" y="131563"/>
                      <a:pt x="216699" y="123157"/>
                      <a:pt x="216699" y="100607"/>
                    </a:cubicBezTo>
                    <a:cubicBezTo>
                      <a:pt x="216705" y="99613"/>
                      <a:pt x="216518" y="98628"/>
                      <a:pt x="216147" y="97705"/>
                    </a:cubicBezTo>
                    <a:close/>
                    <a:moveTo>
                      <a:pt x="38701" y="147041"/>
                    </a:moveTo>
                    <a:cubicBezTo>
                      <a:pt x="31417" y="147041"/>
                      <a:pt x="16684" y="143549"/>
                      <a:pt x="15552" y="132879"/>
                    </a:cubicBezTo>
                    <a:lnTo>
                      <a:pt x="38701" y="75010"/>
                    </a:lnTo>
                    <a:lnTo>
                      <a:pt x="61851" y="132879"/>
                    </a:lnTo>
                    <a:cubicBezTo>
                      <a:pt x="60719" y="143549"/>
                      <a:pt x="45986" y="147041"/>
                      <a:pt x="38701" y="147041"/>
                    </a:cubicBezTo>
                    <a:close/>
                    <a:moveTo>
                      <a:pt x="178004" y="116085"/>
                    </a:moveTo>
                    <a:cubicBezTo>
                      <a:pt x="170719" y="116085"/>
                      <a:pt x="155986" y="112593"/>
                      <a:pt x="154854" y="101923"/>
                    </a:cubicBezTo>
                    <a:lnTo>
                      <a:pt x="178004" y="44054"/>
                    </a:lnTo>
                    <a:lnTo>
                      <a:pt x="201153" y="101923"/>
                    </a:lnTo>
                    <a:cubicBezTo>
                      <a:pt x="200021" y="112593"/>
                      <a:pt x="185288" y="116085"/>
                      <a:pt x="178004" y="116085"/>
                    </a:cubicBezTo>
                    <a:close/>
                  </a:path>
                </a:pathLst>
              </a:custGeom>
              <a:solidFill>
                <a:schemeClr val="accent1"/>
              </a:solidFill>
              <a:ln>
                <a:noFill/>
              </a:ln>
            </p:spPr>
          </p:sp>
        </p:grpSp>
        <p:sp>
          <p:nvSpPr>
            <p:cNvPr id="38" name="TextBox 38"/>
            <p:cNvSpPr txBox="1"/>
            <p:nvPr/>
          </p:nvSpPr>
          <p:spPr>
            <a:xfrm>
              <a:off x="6089523" y="2129314"/>
              <a:ext cx="1185029" cy="249364"/>
            </a:xfrm>
            <a:prstGeom prst="rect">
              <a:avLst/>
            </a:prstGeom>
            <a:noFill/>
            <a:ln>
              <a:noFill/>
            </a:ln>
          </p:spPr>
          <p:txBody>
            <a:bodyPr wrap="none" lIns="0" tIns="0" rIns="0" bIns="0" anchor="t" anchorCtr="0">
              <a:spAutoFit/>
            </a:bodyPr>
            <a:lstStyle/>
            <a:p>
              <a:pPr algn="l"/>
              <a:r>
                <a:rPr lang="en" sz="1280" b="1" dirty="0">
                  <a:solidFill>
                    <a:schemeClr val="accent1"/>
                  </a:solidFill>
                  <a:latin typeface="+mn-lt"/>
                  <a:ea typeface="+mn-ea"/>
                  <a:cs typeface="+mn-cs"/>
                </a:rPr>
                <a:t>Decision logic</a:t>
              </a:r>
            </a:p>
          </p:txBody>
        </p:sp>
        <p:sp>
          <p:nvSpPr>
            <p:cNvPr id="39" name="Line 39"/>
            <p:cNvSpPr/>
            <p:nvPr/>
          </p:nvSpPr>
          <p:spPr>
            <a:xfrm>
              <a:off x="6096000" y="2419350"/>
              <a:ext cx="2514600" cy="9525"/>
            </a:xfrm>
            <a:custGeom>
              <a:avLst/>
              <a:gdLst/>
              <a:ahLst/>
              <a:cxnLst/>
              <a:rect l="l" t="t" r="r" b="b"/>
              <a:pathLst>
                <a:path w="2514600" h="9525">
                  <a:moveTo>
                    <a:pt x="0" y="0"/>
                  </a:moveTo>
                  <a:lnTo>
                    <a:pt x="2514600" y="0"/>
                  </a:lnTo>
                </a:path>
              </a:pathLst>
            </a:custGeom>
            <a:noFill/>
            <a:ln w="9525">
              <a:solidFill>
                <a:schemeClr val="accent6"/>
              </a:solidFill>
            </a:ln>
          </p:spPr>
        </p:sp>
        <p:grpSp>
          <p:nvGrpSpPr>
            <p:cNvPr id="46" name="Group 46"/>
            <p:cNvGrpSpPr/>
            <p:nvPr/>
          </p:nvGrpSpPr>
          <p:grpSpPr>
            <a:xfrm>
              <a:off x="6096000" y="2567464"/>
              <a:ext cx="2024880" cy="1239964"/>
              <a:chOff x="6096000" y="2567464"/>
              <a:chExt cx="2024880" cy="1239964"/>
            </a:xfrm>
          </p:grpSpPr>
          <p:sp>
            <p:nvSpPr>
              <p:cNvPr id="40" name="Rectangle 40"/>
              <p:cNvSpPr/>
              <p:nvPr/>
            </p:nvSpPr>
            <p:spPr>
              <a:xfrm>
                <a:off x="6096000" y="2628900"/>
                <a:ext cx="38100" cy="38100"/>
              </a:xfrm>
              <a:prstGeom prst="rect">
                <a:avLst/>
              </a:prstGeom>
              <a:solidFill>
                <a:schemeClr val="accent2"/>
              </a:solidFill>
              <a:ln>
                <a:noFill/>
              </a:ln>
            </p:spPr>
          </p:sp>
          <p:sp>
            <p:nvSpPr>
              <p:cNvPr id="41" name="TextBox 41"/>
              <p:cNvSpPr txBox="1"/>
              <p:nvPr/>
            </p:nvSpPr>
            <p:spPr>
              <a:xfrm>
                <a:off x="6241923" y="2567464"/>
                <a:ext cx="1638554" cy="458914"/>
              </a:xfrm>
              <a:prstGeom prst="rect">
                <a:avLst/>
              </a:prstGeom>
              <a:noFill/>
              <a:ln>
                <a:noFill/>
              </a:ln>
            </p:spPr>
            <p:txBody>
              <a:bodyPr wrap="none" lIns="0" tIns="0" rIns="0" bIns="0" anchor="t" anchorCtr="0">
                <a:spAutoFit/>
              </a:bodyPr>
              <a:lstStyle/>
              <a:p>
                <a:pPr algn="l">
                  <a:lnSpc>
                    <a:spcPts val="1650"/>
                  </a:lnSpc>
                </a:pPr>
                <a:r>
                  <a:rPr lang="en" sz="1280" dirty="0">
                    <a:solidFill>
                      <a:schemeClr val="dk1"/>
                    </a:solidFill>
                    <a:latin typeface="+mn-lt"/>
                    <a:ea typeface="+mn-ea"/>
                    <a:cs typeface="+mn-cs"/>
                  </a:rPr>
                  <a:t>Fusion scenarios and</a:t>
                </a:r>
                <a:br/>
                <a:r>
                  <a:rPr lang="en" sz="1280" dirty="0">
                    <a:solidFill>
                      <a:schemeClr val="dk1"/>
                    </a:solidFill>
                    <a:latin typeface="+mn-lt"/>
                    <a:ea typeface="+mn-ea"/>
                    <a:cs typeface="+mn-cs"/>
                  </a:rPr>
                  <a:t>escalation tiers</a:t>
                </a:r>
              </a:p>
            </p:txBody>
          </p:sp>
          <p:sp>
            <p:nvSpPr>
              <p:cNvPr id="42" name="Rectangle 42"/>
              <p:cNvSpPr/>
              <p:nvPr/>
            </p:nvSpPr>
            <p:spPr>
              <a:xfrm>
                <a:off x="6096000" y="3124200"/>
                <a:ext cx="38100" cy="38100"/>
              </a:xfrm>
              <a:prstGeom prst="rect">
                <a:avLst/>
              </a:prstGeom>
              <a:solidFill>
                <a:schemeClr val="accent2"/>
              </a:solidFill>
              <a:ln>
                <a:noFill/>
              </a:ln>
            </p:spPr>
          </p:sp>
          <p:sp>
            <p:nvSpPr>
              <p:cNvPr id="43" name="TextBox 43"/>
              <p:cNvSpPr txBox="1"/>
              <p:nvPr/>
            </p:nvSpPr>
            <p:spPr>
              <a:xfrm>
                <a:off x="6241923" y="3062764"/>
                <a:ext cx="1878957" cy="249364"/>
              </a:xfrm>
              <a:prstGeom prst="rect">
                <a:avLst/>
              </a:prstGeom>
              <a:noFill/>
              <a:ln>
                <a:noFill/>
              </a:ln>
            </p:spPr>
            <p:txBody>
              <a:bodyPr wrap="none" lIns="0" tIns="0" rIns="0" bIns="0" anchor="t" anchorCtr="0">
                <a:spAutoFit/>
              </a:bodyPr>
              <a:lstStyle/>
              <a:p>
                <a:pPr algn="l"/>
                <a:r>
                  <a:rPr lang="en" sz="1280" dirty="0">
                    <a:solidFill>
                      <a:schemeClr val="dk1"/>
                    </a:solidFill>
                    <a:latin typeface="+mn-lt"/>
                    <a:ea typeface="+mn-ea"/>
                    <a:cs typeface="+mn-cs"/>
                  </a:rPr>
                  <a:t>Temporal stabilization</a:t>
                </a:r>
              </a:p>
            </p:txBody>
          </p:sp>
          <p:sp>
            <p:nvSpPr>
              <p:cNvPr id="44" name="Rectangle 44"/>
              <p:cNvSpPr/>
              <p:nvPr/>
            </p:nvSpPr>
            <p:spPr>
              <a:xfrm>
                <a:off x="6096000" y="3409950"/>
                <a:ext cx="38100" cy="38100"/>
              </a:xfrm>
              <a:prstGeom prst="rect">
                <a:avLst/>
              </a:prstGeom>
              <a:solidFill>
                <a:schemeClr val="accent2"/>
              </a:solidFill>
              <a:ln>
                <a:noFill/>
              </a:ln>
            </p:spPr>
          </p:sp>
          <p:sp>
            <p:nvSpPr>
              <p:cNvPr id="45" name="TextBox 45"/>
              <p:cNvSpPr txBox="1"/>
              <p:nvPr/>
            </p:nvSpPr>
            <p:spPr>
              <a:xfrm>
                <a:off x="6241923" y="3348514"/>
                <a:ext cx="1597914" cy="458914"/>
              </a:xfrm>
              <a:prstGeom prst="rect">
                <a:avLst/>
              </a:prstGeom>
              <a:noFill/>
              <a:ln>
                <a:noFill/>
              </a:ln>
            </p:spPr>
            <p:txBody>
              <a:bodyPr wrap="none" lIns="0" tIns="0" rIns="0" bIns="0" anchor="t" anchorCtr="0">
                <a:spAutoFit/>
              </a:bodyPr>
              <a:lstStyle/>
              <a:p>
                <a:pPr algn="l">
                  <a:lnSpc>
                    <a:spcPts val="1650"/>
                  </a:lnSpc>
                </a:pPr>
                <a:r>
                  <a:rPr lang="en" sz="1280" dirty="0">
                    <a:solidFill>
                      <a:schemeClr val="dk1"/>
                    </a:solidFill>
                    <a:latin typeface="+mn-lt"/>
                    <a:ea typeface="+mn-ea"/>
                    <a:cs typeface="+mn-cs"/>
                  </a:rPr>
                  <a:t>Sensor-availability-</a:t>
                </a:r>
                <a:br/>
                <a:r>
                  <a:rPr lang="en" sz="1280" dirty="0">
                    <a:solidFill>
                      <a:schemeClr val="dk1"/>
                    </a:solidFill>
                    <a:latin typeface="+mn-lt"/>
                    <a:ea typeface="+mn-ea"/>
                    <a:cs typeface="+mn-cs"/>
                  </a:rPr>
                  <a:t>aware decisions</a:t>
                </a:r>
              </a:p>
            </p:txBody>
          </p:sp>
        </p:grpSp>
      </p:grpSp>
      <p:grpSp>
        <p:nvGrpSpPr>
          <p:cNvPr id="60" name="Group 60"/>
          <p:cNvGrpSpPr/>
          <p:nvPr/>
        </p:nvGrpSpPr>
        <p:grpSpPr>
          <a:xfrm>
            <a:off x="8832723" y="1715095"/>
            <a:ext cx="2749677" cy="2301883"/>
            <a:chOff x="8832723" y="1715095"/>
            <a:chExt cx="2749677" cy="2301883"/>
          </a:xfrm>
        </p:grpSpPr>
        <p:grpSp>
          <p:nvGrpSpPr>
            <p:cNvPr id="50" name="Group 50"/>
            <p:cNvGrpSpPr/>
            <p:nvPr/>
          </p:nvGrpSpPr>
          <p:grpSpPr>
            <a:xfrm>
              <a:off x="8862417" y="1715095"/>
              <a:ext cx="201215" cy="185737"/>
              <a:chOff x="8862417" y="1715095"/>
              <a:chExt cx="201215" cy="185737"/>
            </a:xfrm>
          </p:grpSpPr>
          <p:sp>
            <p:nvSpPr>
              <p:cNvPr id="48" name="Freeform 48"/>
              <p:cNvSpPr/>
              <p:nvPr/>
            </p:nvSpPr>
            <p:spPr>
              <a:xfrm>
                <a:off x="8870156" y="1722834"/>
                <a:ext cx="185737" cy="139302"/>
              </a:xfrm>
              <a:custGeom>
                <a:avLst/>
                <a:gdLst/>
                <a:ahLst/>
                <a:cxnLst/>
                <a:rect l="l" t="t" r="r" b="b"/>
                <a:pathLst>
                  <a:path w="185737" h="139302">
                    <a:moveTo>
                      <a:pt x="185737" y="15478"/>
                    </a:moveTo>
                    <a:lnTo>
                      <a:pt x="185737" y="123824"/>
                    </a:lnTo>
                    <a:cubicBezTo>
                      <a:pt x="185737" y="132373"/>
                      <a:pt x="178807" y="139302"/>
                      <a:pt x="170259" y="139302"/>
                    </a:cubicBezTo>
                    <a:lnTo>
                      <a:pt x="15478" y="139302"/>
                    </a:lnTo>
                    <a:cubicBezTo>
                      <a:pt x="6930" y="139302"/>
                      <a:pt x="0" y="132373"/>
                      <a:pt x="0" y="123824"/>
                    </a:cubicBezTo>
                    <a:lnTo>
                      <a:pt x="0" y="15478"/>
                    </a:lnTo>
                    <a:cubicBezTo>
                      <a:pt x="0" y="6930"/>
                      <a:pt x="6930" y="0"/>
                      <a:pt x="15478" y="0"/>
                    </a:cubicBezTo>
                    <a:lnTo>
                      <a:pt x="170259" y="0"/>
                    </a:lnTo>
                    <a:cubicBezTo>
                      <a:pt x="178807" y="0"/>
                      <a:pt x="185737" y="6930"/>
                      <a:pt x="185737" y="15478"/>
                    </a:cubicBezTo>
                    <a:close/>
                  </a:path>
                </a:pathLst>
              </a:custGeom>
              <a:solidFill>
                <a:schemeClr val="accent1">
                  <a:alpha val="20000"/>
                </a:schemeClr>
              </a:solidFill>
              <a:ln>
                <a:noFill/>
              </a:ln>
            </p:spPr>
          </p:sp>
          <p:sp>
            <p:nvSpPr>
              <p:cNvPr id="49" name="Freeform 49"/>
              <p:cNvSpPr/>
              <p:nvPr/>
            </p:nvSpPr>
            <p:spPr>
              <a:xfrm>
                <a:off x="8862417" y="1715095"/>
                <a:ext cx="201215" cy="185737"/>
              </a:xfrm>
              <a:custGeom>
                <a:avLst/>
                <a:gdLst/>
                <a:ahLst/>
                <a:cxnLst/>
                <a:rect l="l" t="t" r="r" b="b"/>
                <a:pathLst>
                  <a:path w="201215" h="185737">
                    <a:moveTo>
                      <a:pt x="177998" y="0"/>
                    </a:moveTo>
                    <a:lnTo>
                      <a:pt x="23217" y="0"/>
                    </a:lnTo>
                    <a:cubicBezTo>
                      <a:pt x="10395" y="0"/>
                      <a:pt x="0" y="10395"/>
                      <a:pt x="0" y="23217"/>
                    </a:cubicBezTo>
                    <a:lnTo>
                      <a:pt x="0" y="131563"/>
                    </a:lnTo>
                    <a:cubicBezTo>
                      <a:pt x="0" y="144386"/>
                      <a:pt x="10395" y="154780"/>
                      <a:pt x="23217" y="154780"/>
                    </a:cubicBezTo>
                    <a:lnTo>
                      <a:pt x="177998" y="154780"/>
                    </a:lnTo>
                    <a:cubicBezTo>
                      <a:pt x="190820" y="154780"/>
                      <a:pt x="201215" y="144386"/>
                      <a:pt x="201215" y="131563"/>
                    </a:cubicBezTo>
                    <a:lnTo>
                      <a:pt x="201215" y="23217"/>
                    </a:lnTo>
                    <a:cubicBezTo>
                      <a:pt x="201215" y="10395"/>
                      <a:pt x="190820" y="0"/>
                      <a:pt x="177998" y="0"/>
                    </a:cubicBezTo>
                    <a:close/>
                    <a:moveTo>
                      <a:pt x="185737" y="131563"/>
                    </a:moveTo>
                    <a:cubicBezTo>
                      <a:pt x="185737" y="135838"/>
                      <a:pt x="182272" y="139302"/>
                      <a:pt x="177998" y="139302"/>
                    </a:cubicBezTo>
                    <a:lnTo>
                      <a:pt x="23217" y="139302"/>
                    </a:lnTo>
                    <a:cubicBezTo>
                      <a:pt x="18943" y="139302"/>
                      <a:pt x="15478" y="135838"/>
                      <a:pt x="15478" y="131563"/>
                    </a:cubicBezTo>
                    <a:lnTo>
                      <a:pt x="15478" y="23217"/>
                    </a:lnTo>
                    <a:cubicBezTo>
                      <a:pt x="15478" y="18943"/>
                      <a:pt x="18943" y="15478"/>
                      <a:pt x="23217" y="15478"/>
                    </a:cubicBezTo>
                    <a:lnTo>
                      <a:pt x="177998" y="15478"/>
                    </a:lnTo>
                    <a:cubicBezTo>
                      <a:pt x="182272" y="15478"/>
                      <a:pt x="185737" y="18943"/>
                      <a:pt x="185737" y="23217"/>
                    </a:cubicBezTo>
                    <a:close/>
                    <a:moveTo>
                      <a:pt x="139302" y="177998"/>
                    </a:moveTo>
                    <a:cubicBezTo>
                      <a:pt x="139302" y="182272"/>
                      <a:pt x="135838" y="185737"/>
                      <a:pt x="131563" y="185737"/>
                    </a:cubicBezTo>
                    <a:lnTo>
                      <a:pt x="69651" y="185737"/>
                    </a:lnTo>
                    <a:cubicBezTo>
                      <a:pt x="65377" y="185737"/>
                      <a:pt x="61912" y="182272"/>
                      <a:pt x="61912" y="177998"/>
                    </a:cubicBezTo>
                    <a:cubicBezTo>
                      <a:pt x="61912" y="173723"/>
                      <a:pt x="65377" y="170259"/>
                      <a:pt x="69651" y="170259"/>
                    </a:cubicBezTo>
                    <a:lnTo>
                      <a:pt x="131563" y="170259"/>
                    </a:lnTo>
                    <a:cubicBezTo>
                      <a:pt x="135838" y="170259"/>
                      <a:pt x="139302" y="173723"/>
                      <a:pt x="139302" y="177998"/>
                    </a:cubicBezTo>
                    <a:close/>
                  </a:path>
                </a:pathLst>
              </a:custGeom>
              <a:solidFill>
                <a:schemeClr val="accent1"/>
              </a:solidFill>
              <a:ln>
                <a:noFill/>
              </a:ln>
            </p:spPr>
          </p:sp>
        </p:grpSp>
        <p:sp>
          <p:nvSpPr>
            <p:cNvPr id="51" name="TextBox 51"/>
            <p:cNvSpPr txBox="1"/>
            <p:nvPr/>
          </p:nvSpPr>
          <p:spPr>
            <a:xfrm>
              <a:off x="8832723" y="2129314"/>
              <a:ext cx="1321317" cy="249364"/>
            </a:xfrm>
            <a:prstGeom prst="rect">
              <a:avLst/>
            </a:prstGeom>
            <a:noFill/>
            <a:ln>
              <a:noFill/>
            </a:ln>
          </p:spPr>
          <p:txBody>
            <a:bodyPr wrap="none" lIns="0" tIns="0" rIns="0" bIns="0" anchor="t" anchorCtr="0">
              <a:spAutoFit/>
            </a:bodyPr>
            <a:lstStyle/>
            <a:p>
              <a:pPr algn="l"/>
              <a:r>
                <a:rPr lang="en" sz="1280" b="1" dirty="0">
                  <a:solidFill>
                    <a:schemeClr val="accent1"/>
                  </a:solidFill>
                  <a:latin typeface="+mn-lt"/>
                  <a:ea typeface="+mn-ea"/>
                  <a:cs typeface="+mn-cs"/>
                </a:rPr>
                <a:t>Caregiver path</a:t>
              </a:r>
            </a:p>
          </p:txBody>
        </p:sp>
        <p:sp>
          <p:nvSpPr>
            <p:cNvPr id="52" name="Line 52"/>
            <p:cNvSpPr/>
            <p:nvPr/>
          </p:nvSpPr>
          <p:spPr>
            <a:xfrm>
              <a:off x="8839200" y="2419350"/>
              <a:ext cx="2743200" cy="9525"/>
            </a:xfrm>
            <a:custGeom>
              <a:avLst/>
              <a:gdLst/>
              <a:ahLst/>
              <a:cxnLst/>
              <a:rect l="l" t="t" r="r" b="b"/>
              <a:pathLst>
                <a:path w="2743200" h="9525">
                  <a:moveTo>
                    <a:pt x="0" y="0"/>
                  </a:moveTo>
                  <a:lnTo>
                    <a:pt x="2743200" y="0"/>
                  </a:lnTo>
                </a:path>
              </a:pathLst>
            </a:custGeom>
            <a:noFill/>
            <a:ln w="9525">
              <a:solidFill>
                <a:schemeClr val="accent6"/>
              </a:solidFill>
            </a:ln>
          </p:spPr>
        </p:sp>
        <p:grpSp>
          <p:nvGrpSpPr>
            <p:cNvPr id="59" name="Group 59"/>
            <p:cNvGrpSpPr/>
            <p:nvPr/>
          </p:nvGrpSpPr>
          <p:grpSpPr>
            <a:xfrm>
              <a:off x="8839200" y="2567464"/>
              <a:ext cx="1776349" cy="1449514"/>
              <a:chOff x="8839200" y="2567464"/>
              <a:chExt cx="1776349" cy="1449514"/>
            </a:xfrm>
          </p:grpSpPr>
          <p:sp>
            <p:nvSpPr>
              <p:cNvPr id="53" name="Rectangle 53"/>
              <p:cNvSpPr/>
              <p:nvPr/>
            </p:nvSpPr>
            <p:spPr>
              <a:xfrm>
                <a:off x="8839200" y="2628900"/>
                <a:ext cx="38100" cy="38100"/>
              </a:xfrm>
              <a:prstGeom prst="rect">
                <a:avLst/>
              </a:prstGeom>
              <a:solidFill>
                <a:schemeClr val="accent2"/>
              </a:solidFill>
              <a:ln>
                <a:noFill/>
              </a:ln>
            </p:spPr>
          </p:sp>
          <p:sp>
            <p:nvSpPr>
              <p:cNvPr id="54" name="TextBox 54"/>
              <p:cNvSpPr txBox="1"/>
              <p:nvPr/>
            </p:nvSpPr>
            <p:spPr>
              <a:xfrm>
                <a:off x="8985123" y="2567464"/>
                <a:ext cx="1630426" cy="458914"/>
              </a:xfrm>
              <a:prstGeom prst="rect">
                <a:avLst/>
              </a:prstGeom>
              <a:noFill/>
              <a:ln>
                <a:noFill/>
              </a:ln>
            </p:spPr>
            <p:txBody>
              <a:bodyPr wrap="none" lIns="0" tIns="0" rIns="0" bIns="0" anchor="t" anchorCtr="0">
                <a:spAutoFit/>
              </a:bodyPr>
              <a:lstStyle/>
              <a:p>
                <a:pPr algn="l">
                  <a:lnSpc>
                    <a:spcPts val="1650"/>
                  </a:lnSpc>
                </a:pPr>
                <a:r>
                  <a:rPr lang="en" sz="1280" dirty="0">
                    <a:solidFill>
                      <a:schemeClr val="dk1"/>
                    </a:solidFill>
                    <a:latin typeface="+mn-lt"/>
                    <a:ea typeface="+mn-ea"/>
                    <a:cs typeface="+mn-cs"/>
                  </a:rPr>
                  <a:t>Monitoring publisher</a:t>
                </a:r>
                <a:br/>
                <a:r>
                  <a:rPr lang="en" sz="1280" dirty="0">
                    <a:solidFill>
                      <a:schemeClr val="dk1"/>
                    </a:solidFill>
                    <a:latin typeface="+mn-lt"/>
                    <a:ea typeface="+mn-ea"/>
                    <a:cs typeface="+mn-cs"/>
                  </a:rPr>
                  <a:t>and dashboard</a:t>
                </a:r>
              </a:p>
            </p:txBody>
          </p:sp>
          <p:sp>
            <p:nvSpPr>
              <p:cNvPr id="55" name="Rectangle 55"/>
              <p:cNvSpPr/>
              <p:nvPr/>
            </p:nvSpPr>
            <p:spPr>
              <a:xfrm>
                <a:off x="8839200" y="3124200"/>
                <a:ext cx="38100" cy="38100"/>
              </a:xfrm>
              <a:prstGeom prst="rect">
                <a:avLst/>
              </a:prstGeom>
              <a:solidFill>
                <a:schemeClr val="accent2"/>
              </a:solidFill>
              <a:ln>
                <a:noFill/>
              </a:ln>
            </p:spPr>
          </p:sp>
          <p:sp>
            <p:nvSpPr>
              <p:cNvPr id="56" name="TextBox 56"/>
              <p:cNvSpPr txBox="1"/>
              <p:nvPr/>
            </p:nvSpPr>
            <p:spPr>
              <a:xfrm>
                <a:off x="8985123" y="3062764"/>
                <a:ext cx="1370330" cy="458914"/>
              </a:xfrm>
              <a:prstGeom prst="rect">
                <a:avLst/>
              </a:prstGeom>
              <a:noFill/>
              <a:ln>
                <a:noFill/>
              </a:ln>
            </p:spPr>
            <p:txBody>
              <a:bodyPr wrap="none" lIns="0" tIns="0" rIns="0" bIns="0" anchor="t" anchorCtr="0">
                <a:spAutoFit/>
              </a:bodyPr>
              <a:lstStyle/>
              <a:p>
                <a:pPr algn="l">
                  <a:lnSpc>
                    <a:spcPts val="1650"/>
                  </a:lnSpc>
                </a:pPr>
                <a:r>
                  <a:rPr lang="en" sz="1280" dirty="0">
                    <a:solidFill>
                      <a:schemeClr val="dk1"/>
                    </a:solidFill>
                    <a:latin typeface="+mn-lt"/>
                    <a:ea typeface="+mn-ea"/>
                    <a:cs typeface="+mn-cs"/>
                  </a:rPr>
                  <a:t>Incident sessions</a:t>
                </a:r>
                <a:br/>
                <a:r>
                  <a:rPr lang="en" sz="1280" dirty="0">
                    <a:solidFill>
                      <a:schemeClr val="dk1"/>
                    </a:solidFill>
                    <a:latin typeface="+mn-lt"/>
                    <a:ea typeface="+mn-ea"/>
                    <a:cs typeface="+mn-cs"/>
                  </a:rPr>
                  <a:t>and signaling</a:t>
                </a:r>
              </a:p>
            </p:txBody>
          </p:sp>
          <p:sp>
            <p:nvSpPr>
              <p:cNvPr id="57" name="Rectangle 57"/>
              <p:cNvSpPr/>
              <p:nvPr/>
            </p:nvSpPr>
            <p:spPr>
              <a:xfrm>
                <a:off x="8839200" y="3619500"/>
                <a:ext cx="38100" cy="38100"/>
              </a:xfrm>
              <a:prstGeom prst="rect">
                <a:avLst/>
              </a:prstGeom>
              <a:solidFill>
                <a:schemeClr val="accent2"/>
              </a:solidFill>
              <a:ln>
                <a:noFill/>
              </a:ln>
            </p:spPr>
          </p:sp>
          <p:sp>
            <p:nvSpPr>
              <p:cNvPr id="58" name="TextBox 58"/>
              <p:cNvSpPr txBox="1"/>
              <p:nvPr/>
            </p:nvSpPr>
            <p:spPr>
              <a:xfrm>
                <a:off x="8985123" y="3558064"/>
                <a:ext cx="1606042" cy="458914"/>
              </a:xfrm>
              <a:prstGeom prst="rect">
                <a:avLst/>
              </a:prstGeom>
              <a:noFill/>
              <a:ln>
                <a:noFill/>
              </a:ln>
            </p:spPr>
            <p:txBody>
              <a:bodyPr wrap="none" lIns="0" tIns="0" rIns="0" bIns="0" anchor="t" anchorCtr="0">
                <a:spAutoFit/>
              </a:bodyPr>
              <a:lstStyle/>
              <a:p>
                <a:pPr algn="l">
                  <a:lnSpc>
                    <a:spcPts val="1650"/>
                  </a:lnSpc>
                </a:pPr>
                <a:r>
                  <a:rPr lang="en" sz="1280" dirty="0">
                    <a:solidFill>
                      <a:schemeClr val="dk1"/>
                    </a:solidFill>
                    <a:latin typeface="+mn-lt"/>
                    <a:ea typeface="+mn-ea"/>
                    <a:cs typeface="+mn-cs"/>
                  </a:rPr>
                  <a:t>WebRTC and webhook</a:t>
                </a:r>
                <a:br/>
                <a:r>
                  <a:rPr lang="en" sz="1280" dirty="0">
                    <a:solidFill>
                      <a:schemeClr val="dk1"/>
                    </a:solidFill>
                    <a:latin typeface="+mn-lt"/>
                    <a:ea typeface="+mn-ea"/>
                    <a:cs typeface="+mn-cs"/>
                  </a:rPr>
                  <a:t>control flow</a:t>
                </a:r>
              </a:p>
            </p:txBody>
          </p:sp>
        </p:grpSp>
      </p:grpSp>
      <p:grpSp>
        <p:nvGrpSpPr>
          <p:cNvPr id="63" name="Group 63"/>
          <p:cNvGrpSpPr/>
          <p:nvPr/>
        </p:nvGrpSpPr>
        <p:grpSpPr>
          <a:xfrm>
            <a:off x="980593" y="5943600"/>
            <a:ext cx="10230815" cy="436245"/>
            <a:chOff x="980593" y="5943600"/>
            <a:chExt cx="10230815" cy="436245"/>
          </a:xfrm>
        </p:grpSpPr>
        <p:sp>
          <p:nvSpPr>
            <p:cNvPr id="61" name="Line 61"/>
            <p:cNvSpPr/>
            <p:nvPr/>
          </p:nvSpPr>
          <p:spPr>
            <a:xfrm>
              <a:off x="1905000" y="5943600"/>
              <a:ext cx="8382000" cy="9525"/>
            </a:xfrm>
            <a:custGeom>
              <a:avLst/>
              <a:gdLst/>
              <a:ahLst/>
              <a:cxnLst/>
              <a:rect l="l" t="t" r="r" b="b"/>
              <a:pathLst>
                <a:path w="8382000" h="9525">
                  <a:moveTo>
                    <a:pt x="0" y="0"/>
                  </a:moveTo>
                  <a:lnTo>
                    <a:pt x="8382000" y="0"/>
                  </a:lnTo>
                </a:path>
              </a:pathLst>
            </a:custGeom>
            <a:noFill/>
            <a:ln w="9525">
              <a:solidFill>
                <a:schemeClr val="accent6"/>
              </a:solidFill>
            </a:ln>
          </p:spPr>
        </p:sp>
        <p:sp>
          <p:nvSpPr>
            <p:cNvPr id="62" name="TextBox 62"/>
            <p:cNvSpPr txBox="1"/>
            <p:nvPr/>
          </p:nvSpPr>
          <p:spPr>
            <a:xfrm>
              <a:off x="980593" y="6086475"/>
              <a:ext cx="10230815" cy="293370"/>
            </a:xfrm>
            <a:prstGeom prst="rect">
              <a:avLst/>
            </a:prstGeom>
            <a:noFill/>
            <a:ln>
              <a:noFill/>
            </a:ln>
          </p:spPr>
          <p:txBody>
            <a:bodyPr wrap="none" lIns="0" tIns="0" rIns="0" bIns="0" anchor="t" anchorCtr="0">
              <a:spAutoFit/>
            </a:bodyPr>
            <a:lstStyle/>
            <a:p>
              <a:pPr algn="ctr"/>
              <a:r>
                <a:rPr lang="en" sz="1500" i="1" dirty="0">
                  <a:solidFill>
                    <a:schemeClr val="accent1"/>
                  </a:solidFill>
                  <a:latin typeface="+mj-lt"/>
                  <a:ea typeface="+mj-ea"/>
                  <a:cs typeface="+mj-cs"/>
                </a:rPr>
                <a:t>“The result is an integrated path from sensing to response—not a collection of isolated modules.”</a:t>
              </a:r>
            </a:p>
          </p:txBody>
        </p:sp>
      </p:grpSp>
      <p:sp>
        <p:nvSpPr>
          <p:cNvPr id="64" name="TextBox 64"/>
          <p:cNvSpPr txBox="1"/>
          <p:nvPr/>
        </p:nvSpPr>
        <p:spPr>
          <a:xfrm>
            <a:off x="11432327" y="6562249"/>
            <a:ext cx="155026" cy="190690"/>
          </a:xfrm>
          <a:prstGeom prst="rect">
            <a:avLst/>
          </a:prstGeom>
          <a:noFill/>
          <a:ln>
            <a:noFill/>
          </a:ln>
        </p:spPr>
        <p:txBody>
          <a:bodyPr wrap="none" lIns="0" tIns="0" rIns="0" bIns="0" anchor="t" anchorCtr="0">
            <a:spAutoFit/>
          </a:bodyPr>
          <a:lstStyle/>
          <a:p>
            <a:pPr algn="r"/>
            <a:r>
              <a:rPr lang="en" sz="980" dirty="0">
                <a:solidFill>
                  <a:schemeClr val="accent3"/>
                </a:solidFill>
                <a:latin typeface="+mn-lt"/>
                <a:ea typeface="+mn-ea"/>
                <a:cs typeface="+mn-cs"/>
              </a:rPr>
              <a:t>12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xmlns:p="http://schemas.openxmlformats.org/presentationml/2006/main" id="15" presetID="10"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500"/>
                                        <p:tgtEl>
                                          <p:spTgt spid="47"/>
                                        </p:tgtEl>
                                      </p:cBhvr>
                                    </p:animEffect>
                                  </p:childTnLst>
                                </p:cTn>
                              </p:par>
                            </p:childTnLst>
                          </p:cTn>
                        </p:par>
                      </p:childTnLst>
                    </p:cTn>
                  </p:par>
                  <p:par>
                    <p:cTn id="18" fill="hold">
                      <p:stCondLst>
                        <p:cond delay="indefinite"/>
                      </p:stCondLst>
                      <p:childTnLst>
                        <p:par>
                          <p:cTn id="19" fill="hold">
                            <p:stCondLst>
                              <p:cond delay="0"/>
                            </p:stCondLst>
                            <p:childTnLst>
                              <p:par>
                                <p:cTn xmlns:p="http://schemas.openxmlformats.org/presentationml/2006/main" id="20" presetID="10" presetClass="entr" presetSubtype="0" fill="hold" grpId="0" nodeType="click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fade">
                                      <p:cBhvr>
                                        <p:cTn id="22" dur="500"/>
                                        <p:tgtEl>
                                          <p:spTgt spid="60"/>
                                        </p:tgtEl>
                                      </p:cBhvr>
                                    </p:animEffect>
                                  </p:childTnLst>
                                </p:cTn>
                              </p:par>
                            </p:childTnLst>
                          </p:cTn>
                        </p:par>
                      </p:childTnLst>
                    </p:cTn>
                  </p:par>
                  <p:par>
                    <p:cTn id="23" fill="hold">
                      <p:stCondLst>
                        <p:cond delay="indefinite"/>
                      </p:stCondLst>
                      <p:childTnLst>
                        <p:par>
                          <p:cTn id="24" fill="hold">
                            <p:stCondLst>
                              <p:cond delay="0"/>
                            </p:stCondLst>
                            <p:childTnLst>
                              <p:par>
                                <p:cTn xmlns:p="http://schemas.openxmlformats.org/presentationml/2006/main" id="25" presetID="10" presetClass="entr" presetSubtype="0" fill="hold" grpId="0" nodeType="click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fade">
                                      <p:cBhvr>
                                        <p:cTn id="2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Group 3"/>
          <p:cNvGrpSpPr/>
          <p:nvPr/>
        </p:nvGrpSpPr>
        <p:grpSpPr>
          <a:xfrm>
            <a:off x="2142268" y="2837498"/>
            <a:ext cx="7907465" cy="762381"/>
            <a:chOff x="2142268" y="2837498"/>
            <a:chExt cx="7907465" cy="762381"/>
          </a:xfrm>
        </p:grpSpPr>
        <p:sp>
          <p:nvSpPr>
            <p:cNvPr id="2" name="TextBox 2"/>
            <p:cNvSpPr txBox="1"/>
            <p:nvPr/>
          </p:nvSpPr>
          <p:spPr>
            <a:xfrm>
              <a:off x="2142268" y="2837498"/>
              <a:ext cx="7907465" cy="762381"/>
            </a:xfrm>
            <a:prstGeom prst="rect">
              <a:avLst/>
            </a:prstGeom>
            <a:noFill/>
            <a:ln>
              <a:noFill/>
            </a:ln>
          </p:spPr>
          <p:txBody>
            <a:bodyPr wrap="none" lIns="0" tIns="0" rIns="0" bIns="0" anchor="t" anchorCtr="0">
              <a:spAutoFit/>
            </a:bodyPr>
            <a:lstStyle/>
            <a:p>
              <a:pPr algn="ctr">
                <a:lnSpc>
                  <a:spcPts val="3000"/>
                </a:lnSpc>
              </a:pPr>
              <a:r>
                <a:rPr lang="en" sz="1950" dirty="0">
                  <a:solidFill>
                    <a:srgbClr val="FAF9F6"/>
                  </a:solidFill>
                  <a:latin typeface="+mj-lt"/>
                  <a:ea typeface="+mj-ea"/>
                  <a:cs typeface="+mj-cs"/>
                </a:rPr>
                <a:t>We built one connected workflow that turns camera and wearable</a:t>
              </a:r>
              <a:br/>
              <a:r>
                <a:rPr lang="en" sz="1950" dirty="0">
                  <a:solidFill>
                    <a:srgbClr val="FAF9F6"/>
                  </a:solidFill>
                  <a:latin typeface="+mj-lt"/>
                  <a:ea typeface="+mj-ea"/>
                  <a:cs typeface="+mj-cs"/>
                </a:rPr>
                <a:t>signals into an understandable caregiver response.</a:t>
              </a:r>
            </a:p>
          </p:txBody>
        </p:sp>
      </p:grpSp>
      <p:grpSp>
        <p:nvGrpSpPr>
          <p:cNvPr id="6" name="Group 6"/>
          <p:cNvGrpSpPr/>
          <p:nvPr/>
        </p:nvGrpSpPr>
        <p:grpSpPr>
          <a:xfrm>
            <a:off x="4667250" y="4667250"/>
            <a:ext cx="2857500" cy="573215"/>
            <a:chOff x="4667250" y="4667250"/>
            <a:chExt cx="2857500" cy="573215"/>
          </a:xfrm>
        </p:grpSpPr>
        <p:sp>
          <p:nvSpPr>
            <p:cNvPr id="4" name="Line 4"/>
            <p:cNvSpPr/>
            <p:nvPr/>
          </p:nvSpPr>
          <p:spPr>
            <a:xfrm>
              <a:off x="4667250" y="4667250"/>
              <a:ext cx="2857500" cy="9525"/>
            </a:xfrm>
            <a:custGeom>
              <a:avLst/>
              <a:gdLst/>
              <a:ahLst/>
              <a:cxnLst/>
              <a:rect l="l" t="t" r="r" b="b"/>
              <a:pathLst>
                <a:path w="2857500" h="9525">
                  <a:moveTo>
                    <a:pt x="0" y="0"/>
                  </a:moveTo>
                  <a:lnTo>
                    <a:pt x="2857500" y="0"/>
                  </a:lnTo>
                </a:path>
              </a:pathLst>
            </a:custGeom>
            <a:noFill/>
            <a:ln w="9525">
              <a:solidFill>
                <a:srgbClr val="2E415A"/>
              </a:solidFill>
            </a:ln>
          </p:spPr>
        </p:sp>
        <p:sp>
          <p:nvSpPr>
            <p:cNvPr id="5" name="TextBox 5"/>
            <p:cNvSpPr txBox="1"/>
            <p:nvPr/>
          </p:nvSpPr>
          <p:spPr>
            <a:xfrm>
              <a:off x="4824266" y="4917758"/>
              <a:ext cx="2543469" cy="322707"/>
            </a:xfrm>
            <a:prstGeom prst="rect">
              <a:avLst/>
            </a:prstGeom>
            <a:noFill/>
            <a:ln>
              <a:noFill/>
            </a:ln>
          </p:spPr>
          <p:txBody>
            <a:bodyPr wrap="none" lIns="0" tIns="0" rIns="0" bIns="0" anchor="t" anchorCtr="0">
              <a:spAutoFit/>
            </a:bodyPr>
            <a:lstStyle/>
            <a:p>
              <a:pPr algn="ctr"/>
              <a:r>
                <a:rPr lang="en" sz="1650" dirty="0">
                  <a:solidFill>
                    <a:srgbClr val="A8B8C8"/>
                  </a:solidFill>
                  <a:latin typeface="+mn-lt"/>
                  <a:ea typeface="+mn-ea"/>
                  <a:cs typeface="+mn-cs"/>
                </a:rPr>
                <a:t>Thank you — Questions?</a:t>
              </a:r>
            </a:p>
          </p:txBody>
        </p:sp>
      </p:grpSp>
      <p:sp>
        <p:nvSpPr>
          <p:cNvPr id="7" name="TextBox 7"/>
          <p:cNvSpPr txBox="1"/>
          <p:nvPr/>
        </p:nvSpPr>
        <p:spPr>
          <a:xfrm>
            <a:off x="11432327" y="6562249"/>
            <a:ext cx="155026" cy="190690"/>
          </a:xfrm>
          <a:prstGeom prst="rect">
            <a:avLst/>
          </a:prstGeom>
          <a:noFill/>
          <a:ln>
            <a:noFill/>
          </a:ln>
        </p:spPr>
        <p:txBody>
          <a:bodyPr wrap="none" lIns="0" tIns="0" rIns="0" bIns="0" anchor="t" anchorCtr="0">
            <a:spAutoFit/>
          </a:bodyPr>
          <a:lstStyle/>
          <a:p>
            <a:pPr algn="r"/>
            <a:r>
              <a:rPr lang="en" sz="980" dirty="0">
                <a:solidFill>
                  <a:srgbClr val="A8B8C8"/>
                </a:solidFill>
                <a:latin typeface="+mn-lt"/>
                <a:ea typeface="+mn-ea"/>
                <a:cs typeface="+mn-cs"/>
              </a:rPr>
              <a:t>13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p:tgtEl>
                                          <p:spTgt spid="3"/>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kineticpulse">
  <a:themeElements>
    <a:clrScheme name="kineticpulse">
      <a:dk1>
        <a:srgbClr val="212B36"/>
      </a:dk1>
      <a:lt1>
        <a:srgbClr val="FAF9F6"/>
      </a:lt1>
      <a:dk2>
        <a:srgbClr val="212B36"/>
      </a:dk2>
      <a:lt2>
        <a:srgbClr val="F0EDE6"/>
      </a:lt2>
      <a:accent1>
        <a:srgbClr val="12263A"/>
      </a:accent1>
      <a:accent2>
        <a:srgbClr val="0065BD"/>
      </a:accent2>
      <a:accent3>
        <a:srgbClr val="8A9BA8"/>
      </a:accent3>
      <a:accent4>
        <a:srgbClr val="12263A"/>
      </a:accent4>
      <a:accent5>
        <a:srgbClr val="5C6B7A"/>
      </a:accent5>
      <a:accent6>
        <a:srgbClr val="D8D2C6"/>
      </a:accent6>
      <a:hlink>
        <a:srgbClr val="0065BD"/>
      </a:hlink>
      <a:folHlink>
        <a:srgbClr val="8A9BA8"/>
      </a:folHlink>
    </a:clrScheme>
    <a:fontScheme name="kineticpulse">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ineticpuls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kineticpulse">
  <a:themeElements>
    <a:clrScheme name="kineticpulse">
      <a:dk1>
        <a:srgbClr val="212B36"/>
      </a:dk1>
      <a:lt1>
        <a:srgbClr val="FAF9F6"/>
      </a:lt1>
      <a:dk2>
        <a:srgbClr val="212B36"/>
      </a:dk2>
      <a:lt2>
        <a:srgbClr val="F0EDE6"/>
      </a:lt2>
      <a:accent1>
        <a:srgbClr val="12263A"/>
      </a:accent1>
      <a:accent2>
        <a:srgbClr val="0065BD"/>
      </a:accent2>
      <a:accent3>
        <a:srgbClr val="8A9BA8"/>
      </a:accent3>
      <a:accent4>
        <a:srgbClr val="12263A"/>
      </a:accent4>
      <a:accent5>
        <a:srgbClr val="5C6B7A"/>
      </a:accent5>
      <a:accent6>
        <a:srgbClr val="D8D2C6"/>
      </a:accent6>
      <a:hlink>
        <a:srgbClr val="0065BD"/>
      </a:hlink>
      <a:folHlink>
        <a:srgbClr val="8A9BA8"/>
      </a:folHlink>
    </a:clrScheme>
    <a:fontScheme name="kineticpulse">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ineticpuls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dc:language>
  <cp:lastModifiedBy/>
  <cp:revision>1</cp:revision>
  <dcterms:created xsi:type="dcterms:W3CDTF">2026-09-02T07:59:33Z</dcterms:created>
  <dcterms:modified xsi:type="dcterms:W3CDTF">2026-09-02T07:59:33Z</dcterms:modified>
  <cp:category/>
  <cp:contentStatus/>
</cp:coreProperties>
</file>